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8" r:id="rId41"/>
    <p:sldId id="295" r:id="rId42"/>
    <p:sldId id="299" r:id="rId43"/>
    <p:sldId id="342" r:id="rId44"/>
    <p:sldId id="300" r:id="rId45"/>
    <p:sldId id="301" r:id="rId46"/>
    <p:sldId id="302" r:id="rId47"/>
    <p:sldId id="303" r:id="rId48"/>
    <p:sldId id="304" r:id="rId49"/>
    <p:sldId id="305" r:id="rId50"/>
    <p:sldId id="306" r:id="rId51"/>
    <p:sldId id="307" r:id="rId52"/>
    <p:sldId id="343" r:id="rId53"/>
    <p:sldId id="344" r:id="rId54"/>
    <p:sldId id="345" r:id="rId55"/>
    <p:sldId id="346" r:id="rId56"/>
    <p:sldId id="347" r:id="rId57"/>
    <p:sldId id="348" r:id="rId58"/>
    <p:sldId id="349" r:id="rId59"/>
    <p:sldId id="350" r:id="rId60"/>
    <p:sldId id="351" r:id="rId61"/>
    <p:sldId id="352" r:id="rId62"/>
    <p:sldId id="353" r:id="rId63"/>
    <p:sldId id="354" r:id="rId64"/>
    <p:sldId id="308" r:id="rId65"/>
    <p:sldId id="309" r:id="rId66"/>
    <p:sldId id="310" r:id="rId67"/>
    <p:sldId id="311" r:id="rId68"/>
    <p:sldId id="355" r:id="rId69"/>
    <p:sldId id="356" r:id="rId70"/>
    <p:sldId id="357" r:id="rId71"/>
    <p:sldId id="358" r:id="rId72"/>
    <p:sldId id="359" r:id="rId73"/>
    <p:sldId id="360" r:id="rId74"/>
    <p:sldId id="361" r:id="rId75"/>
    <p:sldId id="373" r:id="rId76"/>
    <p:sldId id="362" r:id="rId77"/>
    <p:sldId id="367" r:id="rId78"/>
    <p:sldId id="368" r:id="rId79"/>
    <p:sldId id="363" r:id="rId80"/>
    <p:sldId id="369" r:id="rId81"/>
    <p:sldId id="370" r:id="rId82"/>
    <p:sldId id="364" r:id="rId83"/>
    <p:sldId id="371" r:id="rId84"/>
    <p:sldId id="372" r:id="rId85"/>
    <p:sldId id="374" r:id="rId86"/>
    <p:sldId id="375" r:id="rId87"/>
    <p:sldId id="376" r:id="rId88"/>
    <p:sldId id="377" r:id="rId89"/>
    <p:sldId id="378" r:id="rId90"/>
    <p:sldId id="312" r:id="rId91"/>
    <p:sldId id="313" r:id="rId92"/>
    <p:sldId id="314" r:id="rId93"/>
    <p:sldId id="320" r:id="rId94"/>
    <p:sldId id="323" r:id="rId95"/>
    <p:sldId id="322" r:id="rId96"/>
    <p:sldId id="296" r:id="rId97"/>
    <p:sldId id="325" r:id="rId98"/>
    <p:sldId id="297" r:id="rId99"/>
    <p:sldId id="326" r:id="rId100"/>
    <p:sldId id="327" r:id="rId101"/>
    <p:sldId id="328" r:id="rId102"/>
    <p:sldId id="329" r:id="rId103"/>
    <p:sldId id="330" r:id="rId104"/>
    <p:sldId id="331" r:id="rId105"/>
    <p:sldId id="332" r:id="rId106"/>
    <p:sldId id="333" r:id="rId107"/>
    <p:sldId id="379" r:id="rId10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6962" autoAdjust="0"/>
    <p:restoredTop sz="94660"/>
  </p:normalViewPr>
  <p:slideViewPr>
    <p:cSldViewPr>
      <p:cViewPr varScale="1">
        <p:scale>
          <a:sx n="69" d="100"/>
          <a:sy n="69" d="100"/>
        </p:scale>
        <p:origin x="750"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notesMaster" Target="notesMasters/notesMaster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5051299-A002-40B0-BCDF-6B19B68146DC}" type="datetimeFigureOut">
              <a:rPr lang="en-US" smtClean="0"/>
              <a:pPr/>
              <a:t>3/12/2026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5BB6B2E-2C3D-4DD5-BA9E-A294E4460F3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5BB6B2E-2C3D-4DD5-BA9E-A294E4460F32}" type="slidenum">
              <a:rPr lang="en-US" smtClean="0"/>
              <a:pPr/>
              <a:t>56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3/12/2026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3/12/2026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3/12/2026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3/12/2026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nptel.ac.in/courses/106105183/" TargetMode="External"/><Relationship Id="rId2" Type="http://schemas.openxmlformats.org/officeDocument/2006/relationships/hyperlink" Target="https://nptel.ac.in/downloads/106105080/"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Data Communication</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lstStyle/>
          <a:p>
            <a:pPr marL="457200" indent="-457200" algn="l">
              <a:buFont typeface="Arial" panose="020B0604020202020204" pitchFamily="34" charset="0"/>
              <a:buChar char="•"/>
            </a:pPr>
            <a:endParaRPr lang="en-US" dirty="0">
              <a:latin typeface="Book Antiqua" panose="0204060205030503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3319946218"/>
              </p:ext>
            </p:extLst>
          </p:nvPr>
        </p:nvGraphicFramePr>
        <p:xfrm>
          <a:off x="228600" y="914400"/>
          <a:ext cx="8763000" cy="5303227"/>
        </p:xfrm>
        <a:graphic>
          <a:graphicData uri="http://schemas.openxmlformats.org/drawingml/2006/table">
            <a:tbl>
              <a:tblPr firstRow="1" firstCol="1" bandRow="1">
                <a:tableStyleId>{E8B1032C-EA38-4F05-BA0D-38AFFFC7BED3}</a:tableStyleId>
              </a:tblPr>
              <a:tblGrid>
                <a:gridCol w="441960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tblGrid>
              <a:tr h="914400">
                <a:tc gridSpan="2">
                  <a:txBody>
                    <a:bodyPr/>
                    <a:lstStyle/>
                    <a:p>
                      <a:pPr marL="0" marR="0">
                        <a:lnSpc>
                          <a:spcPct val="115000"/>
                        </a:lnSpc>
                        <a:spcBef>
                          <a:spcPts val="0"/>
                        </a:spcBef>
                        <a:spcAft>
                          <a:spcPts val="0"/>
                        </a:spcAft>
                      </a:pPr>
                      <a:r>
                        <a:rPr lang="en-US" sz="3200" dirty="0">
                          <a:effectLst/>
                        </a:rPr>
                        <a:t>Department : Computer Science and Engineering</a:t>
                      </a:r>
                      <a:endParaRPr lang="en-US" sz="3200" dirty="0">
                        <a:effectLst/>
                        <a:latin typeface="Book Antiqua" panose="02040602050305030304" pitchFamily="18" charset="0"/>
                        <a:ea typeface="Times New Roman"/>
                        <a:cs typeface="Times New Roman"/>
                      </a:endParaRPr>
                    </a:p>
                  </a:txBody>
                  <a:tcPr marL="68580" marR="68580" marT="0" marB="0"/>
                </a:tc>
                <a:tc hMerge="1">
                  <a:txBody>
                    <a:bodyPr/>
                    <a:lstStyle/>
                    <a:p>
                      <a:endParaRPr lang="en-US"/>
                    </a:p>
                  </a:txBody>
                  <a:tcPr/>
                </a:tc>
                <a:extLst>
                  <a:ext uri="{0D108BD9-81ED-4DB2-BD59-A6C34878D82A}">
                    <a16:rowId xmlns:a16="http://schemas.microsoft.com/office/drawing/2014/main" val="10000"/>
                  </a:ext>
                </a:extLst>
              </a:tr>
              <a:tr h="1189743">
                <a:tc>
                  <a:txBody>
                    <a:bodyPr/>
                    <a:lstStyle/>
                    <a:p>
                      <a:pPr marL="0" marR="0">
                        <a:lnSpc>
                          <a:spcPct val="115000"/>
                        </a:lnSpc>
                        <a:spcBef>
                          <a:spcPts val="0"/>
                        </a:spcBef>
                        <a:spcAft>
                          <a:spcPts val="0"/>
                        </a:spcAft>
                      </a:pPr>
                      <a:r>
                        <a:rPr lang="en-US" sz="3200" dirty="0">
                          <a:effectLst/>
                        </a:rPr>
                        <a:t>Course title : Data Communication</a:t>
                      </a:r>
                      <a:endParaRPr lang="en-US" sz="3200" dirty="0">
                        <a:effectLst/>
                        <a:latin typeface="Book Antiqua" panose="02040602050305030304" pitchFamily="18" charset="0"/>
                        <a:ea typeface="Times New Roman"/>
                        <a:cs typeface="Times New Roman"/>
                      </a:endParaRPr>
                    </a:p>
                  </a:txBody>
                  <a:tcPr marL="68580" marR="68580" marT="0" marB="0"/>
                </a:tc>
                <a:tc>
                  <a:txBody>
                    <a:bodyPr/>
                    <a:lstStyle/>
                    <a:p>
                      <a:pPr marL="0" marR="0">
                        <a:lnSpc>
                          <a:spcPct val="115000"/>
                        </a:lnSpc>
                        <a:spcBef>
                          <a:spcPts val="0"/>
                        </a:spcBef>
                        <a:spcAft>
                          <a:spcPts val="0"/>
                        </a:spcAft>
                      </a:pPr>
                      <a:r>
                        <a:rPr lang="en-US" sz="3200" dirty="0">
                          <a:effectLst/>
                        </a:rPr>
                        <a:t>Course Code : </a:t>
                      </a:r>
                      <a:r>
                        <a:rPr lang="en-US" sz="3200" dirty="0" smtClean="0">
                          <a:effectLst/>
                        </a:rPr>
                        <a:t>24CS430</a:t>
                      </a:r>
                      <a:endParaRPr lang="en-US" sz="3200" dirty="0">
                        <a:effectLst/>
                        <a:latin typeface="Book Antiqua" panose="02040602050305030304" pitchFamily="18" charset="0"/>
                        <a:ea typeface="Times New Roman"/>
                        <a:cs typeface="Times New Roman"/>
                      </a:endParaRPr>
                    </a:p>
                  </a:txBody>
                  <a:tcPr marL="68580" marR="68580" marT="0" marB="0"/>
                </a:tc>
                <a:extLst>
                  <a:ext uri="{0D108BD9-81ED-4DB2-BD59-A6C34878D82A}">
                    <a16:rowId xmlns:a16="http://schemas.microsoft.com/office/drawing/2014/main" val="10001"/>
                  </a:ext>
                </a:extLst>
              </a:tr>
              <a:tr h="1189743">
                <a:tc>
                  <a:txBody>
                    <a:bodyPr/>
                    <a:lstStyle/>
                    <a:p>
                      <a:pPr marL="0" marR="0">
                        <a:lnSpc>
                          <a:spcPct val="115000"/>
                        </a:lnSpc>
                        <a:spcBef>
                          <a:spcPts val="0"/>
                        </a:spcBef>
                        <a:spcAft>
                          <a:spcPts val="0"/>
                        </a:spcAft>
                      </a:pPr>
                      <a:r>
                        <a:rPr lang="en-US" sz="3200" dirty="0">
                          <a:effectLst/>
                        </a:rPr>
                        <a:t>Credits( L:T:P) : </a:t>
                      </a:r>
                      <a:r>
                        <a:rPr lang="en-US" sz="3200" dirty="0" smtClean="0">
                          <a:effectLst/>
                        </a:rPr>
                        <a:t>4:0:0</a:t>
                      </a:r>
                      <a:endParaRPr lang="en-US" sz="3200" dirty="0">
                        <a:effectLst/>
                        <a:latin typeface="Book Antiqua" panose="02040602050305030304" pitchFamily="18" charset="0"/>
                        <a:ea typeface="Times New Roman"/>
                        <a:cs typeface="Times New Roman"/>
                      </a:endParaRPr>
                    </a:p>
                  </a:txBody>
                  <a:tcPr marL="68580" marR="68580" marT="0" marB="0"/>
                </a:tc>
                <a:tc>
                  <a:txBody>
                    <a:bodyPr/>
                    <a:lstStyle/>
                    <a:p>
                      <a:pPr marL="0" marR="0">
                        <a:lnSpc>
                          <a:spcPct val="115000"/>
                        </a:lnSpc>
                        <a:spcBef>
                          <a:spcPts val="0"/>
                        </a:spcBef>
                        <a:spcAft>
                          <a:spcPts val="0"/>
                        </a:spcAft>
                      </a:pPr>
                      <a:r>
                        <a:rPr lang="en-US" sz="3200" dirty="0">
                          <a:effectLst/>
                        </a:rPr>
                        <a:t>Core/Elective : Core</a:t>
                      </a:r>
                      <a:endParaRPr lang="en-US" sz="3200" dirty="0">
                        <a:effectLst/>
                        <a:latin typeface="Book Antiqua" panose="02040602050305030304" pitchFamily="18" charset="0"/>
                        <a:ea typeface="Times New Roman"/>
                        <a:cs typeface="Times New Roman"/>
                      </a:endParaRPr>
                    </a:p>
                  </a:txBody>
                  <a:tcPr marL="68580" marR="68580" marT="0" marB="0"/>
                </a:tc>
                <a:extLst>
                  <a:ext uri="{0D108BD9-81ED-4DB2-BD59-A6C34878D82A}">
                    <a16:rowId xmlns:a16="http://schemas.microsoft.com/office/drawing/2014/main" val="10002"/>
                  </a:ext>
                </a:extLst>
              </a:tr>
              <a:tr h="1189743">
                <a:tc>
                  <a:txBody>
                    <a:bodyPr/>
                    <a:lstStyle/>
                    <a:p>
                      <a:pPr marL="0" marR="0">
                        <a:lnSpc>
                          <a:spcPct val="115000"/>
                        </a:lnSpc>
                        <a:spcBef>
                          <a:spcPts val="0"/>
                        </a:spcBef>
                        <a:spcAft>
                          <a:spcPts val="0"/>
                        </a:spcAft>
                      </a:pPr>
                      <a:r>
                        <a:rPr lang="en-US" sz="3200" dirty="0">
                          <a:effectLst/>
                        </a:rPr>
                        <a:t>Type of Course : Lecture</a:t>
                      </a:r>
                      <a:endParaRPr lang="en-US" sz="3200" dirty="0">
                        <a:effectLst/>
                        <a:latin typeface="Book Antiqua" panose="02040602050305030304" pitchFamily="18" charset="0"/>
                        <a:ea typeface="Times New Roman"/>
                        <a:cs typeface="Times New Roman"/>
                      </a:endParaRPr>
                    </a:p>
                  </a:txBody>
                  <a:tcPr marL="68580" marR="68580" marT="0" marB="0"/>
                </a:tc>
                <a:tc>
                  <a:txBody>
                    <a:bodyPr/>
                    <a:lstStyle/>
                    <a:p>
                      <a:pPr marL="0" marR="0">
                        <a:lnSpc>
                          <a:spcPct val="115000"/>
                        </a:lnSpc>
                        <a:spcBef>
                          <a:spcPts val="0"/>
                        </a:spcBef>
                        <a:spcAft>
                          <a:spcPts val="0"/>
                        </a:spcAft>
                      </a:pPr>
                      <a:r>
                        <a:rPr lang="en-US" sz="3200" dirty="0">
                          <a:effectLst/>
                        </a:rPr>
                        <a:t>Total Contact Hours : </a:t>
                      </a:r>
                      <a:r>
                        <a:rPr lang="en-US" sz="3200" dirty="0" smtClean="0">
                          <a:effectLst/>
                        </a:rPr>
                        <a:t>60</a:t>
                      </a:r>
                      <a:endParaRPr lang="en-US" sz="3200" dirty="0">
                        <a:effectLst/>
                        <a:latin typeface="Book Antiqua" panose="02040602050305030304" pitchFamily="18" charset="0"/>
                        <a:ea typeface="Times New Roman"/>
                        <a:cs typeface="Times New Roman"/>
                      </a:endParaRPr>
                    </a:p>
                  </a:txBody>
                  <a:tcPr marL="68580" marR="68580" marT="0" marB="0"/>
                </a:tc>
                <a:extLst>
                  <a:ext uri="{0D108BD9-81ED-4DB2-BD59-A6C34878D82A}">
                    <a16:rowId xmlns:a16="http://schemas.microsoft.com/office/drawing/2014/main" val="10003"/>
                  </a:ext>
                </a:extLst>
              </a:tr>
              <a:tr h="819598">
                <a:tc>
                  <a:txBody>
                    <a:bodyPr/>
                    <a:lstStyle/>
                    <a:p>
                      <a:pPr marL="0" marR="0">
                        <a:lnSpc>
                          <a:spcPct val="115000"/>
                        </a:lnSpc>
                        <a:spcBef>
                          <a:spcPts val="0"/>
                        </a:spcBef>
                        <a:spcAft>
                          <a:spcPts val="0"/>
                        </a:spcAft>
                      </a:pPr>
                      <a:endParaRPr lang="en-US" sz="3200" dirty="0">
                        <a:effectLst/>
                        <a:latin typeface="Book Antiqua" panose="02040602050305030304" pitchFamily="18" charset="0"/>
                        <a:ea typeface="Times New Roman"/>
                        <a:cs typeface="Times New Roman"/>
                      </a:endParaRPr>
                    </a:p>
                  </a:txBody>
                  <a:tcPr marL="68580" marR="68580" marT="0" marB="0"/>
                </a:tc>
                <a:tc>
                  <a:txBody>
                    <a:bodyPr/>
                    <a:lstStyle/>
                    <a:p>
                      <a:pPr marL="0" marR="0">
                        <a:lnSpc>
                          <a:spcPct val="115000"/>
                        </a:lnSpc>
                        <a:spcBef>
                          <a:spcPts val="0"/>
                        </a:spcBef>
                        <a:spcAft>
                          <a:spcPts val="0"/>
                        </a:spcAft>
                      </a:pPr>
                      <a:endParaRPr lang="en-US" sz="3200" dirty="0">
                        <a:effectLst/>
                        <a:latin typeface="Book Antiqua" panose="02040602050305030304" pitchFamily="18" charset="0"/>
                        <a:ea typeface="Times New Roman"/>
                        <a:cs typeface="Times New Roman"/>
                      </a:endParaRPr>
                    </a:p>
                  </a:txBody>
                  <a:tcPr marL="68580" marR="68580" marT="0"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07265408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Syllabus Introduction</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lstStyle/>
          <a:p>
            <a:pPr marL="457200" indent="-457200" algn="l">
              <a:buFont typeface="Arial" panose="020B0604020202020204" pitchFamily="34" charset="0"/>
              <a:buChar char="•"/>
            </a:pPr>
            <a:endParaRPr lang="en-US" dirty="0">
              <a:latin typeface="Book Antiqua" panose="0204060205030503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1164091399"/>
              </p:ext>
            </p:extLst>
          </p:nvPr>
        </p:nvGraphicFramePr>
        <p:xfrm>
          <a:off x="304800" y="914400"/>
          <a:ext cx="8534399" cy="5850326"/>
        </p:xfrm>
        <a:graphic>
          <a:graphicData uri="http://schemas.openxmlformats.org/drawingml/2006/table">
            <a:tbl>
              <a:tblPr firstRow="1" firstCol="1" bandRow="1">
                <a:tableStyleId>{E8B1032C-EA38-4F05-BA0D-38AFFFC7BED3}</a:tableStyleId>
              </a:tblPr>
              <a:tblGrid>
                <a:gridCol w="762000">
                  <a:extLst>
                    <a:ext uri="{9D8B030D-6E8A-4147-A177-3AD203B41FA5}">
                      <a16:colId xmlns:a16="http://schemas.microsoft.com/office/drawing/2014/main" val="20000"/>
                    </a:ext>
                  </a:extLst>
                </a:gridCol>
                <a:gridCol w="6961145">
                  <a:extLst>
                    <a:ext uri="{9D8B030D-6E8A-4147-A177-3AD203B41FA5}">
                      <a16:colId xmlns:a16="http://schemas.microsoft.com/office/drawing/2014/main" val="20001"/>
                    </a:ext>
                  </a:extLst>
                </a:gridCol>
                <a:gridCol w="811254">
                  <a:extLst>
                    <a:ext uri="{9D8B030D-6E8A-4147-A177-3AD203B41FA5}">
                      <a16:colId xmlns:a16="http://schemas.microsoft.com/office/drawing/2014/main" val="20002"/>
                    </a:ext>
                  </a:extLst>
                </a:gridCol>
              </a:tblGrid>
              <a:tr h="918266">
                <a:tc>
                  <a:txBody>
                    <a:bodyPr/>
                    <a:lstStyle/>
                    <a:p>
                      <a:pPr marL="0" marR="0" algn="ctr">
                        <a:lnSpc>
                          <a:spcPct val="115000"/>
                        </a:lnSpc>
                        <a:spcBef>
                          <a:spcPts val="0"/>
                        </a:spcBef>
                        <a:spcAft>
                          <a:spcPts val="0"/>
                        </a:spcAft>
                      </a:pPr>
                      <a:r>
                        <a:rPr lang="en-US" sz="2200" dirty="0">
                          <a:effectLst/>
                          <a:latin typeface="Book Antiqua" panose="02040602050305030304" pitchFamily="18" charset="0"/>
                        </a:rPr>
                        <a:t>Unit No.</a:t>
                      </a:r>
                      <a:endParaRPr lang="en-US" sz="2200" dirty="0">
                        <a:effectLst/>
                        <a:latin typeface="Book Antiqua" panose="02040602050305030304" pitchFamily="18" charset="0"/>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2200" dirty="0">
                          <a:effectLst/>
                          <a:latin typeface="Book Antiqua" panose="02040602050305030304" pitchFamily="18" charset="0"/>
                        </a:rPr>
                        <a:t>Course Content</a:t>
                      </a:r>
                      <a:endParaRPr lang="en-US" sz="2200" dirty="0">
                        <a:effectLst/>
                        <a:latin typeface="Book Antiqua" panose="02040602050305030304" pitchFamily="18" charset="0"/>
                        <a:ea typeface="Times New Roman"/>
                        <a:cs typeface="Times New Roman"/>
                      </a:endParaRPr>
                    </a:p>
                  </a:txBody>
                  <a:tcPr marL="68580" marR="68580" marT="0" marB="0"/>
                </a:tc>
                <a:tc>
                  <a:txBody>
                    <a:bodyPr/>
                    <a:lstStyle/>
                    <a:p>
                      <a:pPr marL="0" marR="0">
                        <a:lnSpc>
                          <a:spcPct val="115000"/>
                        </a:lnSpc>
                        <a:spcBef>
                          <a:spcPts val="0"/>
                        </a:spcBef>
                        <a:spcAft>
                          <a:spcPts val="0"/>
                        </a:spcAft>
                      </a:pPr>
                      <a:r>
                        <a:rPr lang="en-US" sz="2200" dirty="0" smtClean="0">
                          <a:effectLst/>
                          <a:latin typeface="Book Antiqua" panose="02040602050305030304" pitchFamily="18" charset="0"/>
                        </a:rPr>
                        <a:t>Hours</a:t>
                      </a:r>
                      <a:endParaRPr lang="en-US" sz="2200" dirty="0">
                        <a:effectLst/>
                        <a:latin typeface="Book Antiqua" panose="02040602050305030304" pitchFamily="18" charset="0"/>
                        <a:ea typeface="Times New Roman"/>
                        <a:cs typeface="Times New Roman"/>
                      </a:endParaRPr>
                    </a:p>
                  </a:txBody>
                  <a:tcPr marL="68580" marR="68580" marT="0" marB="0"/>
                </a:tc>
                <a:extLst>
                  <a:ext uri="{0D108BD9-81ED-4DB2-BD59-A6C34878D82A}">
                    <a16:rowId xmlns:a16="http://schemas.microsoft.com/office/drawing/2014/main" val="10000"/>
                  </a:ext>
                </a:extLst>
              </a:tr>
              <a:tr h="1824934">
                <a:tc>
                  <a:txBody>
                    <a:bodyPr/>
                    <a:lstStyle/>
                    <a:p>
                      <a:pPr marL="0" marR="0" algn="ctr">
                        <a:lnSpc>
                          <a:spcPct val="115000"/>
                        </a:lnSpc>
                        <a:spcBef>
                          <a:spcPts val="0"/>
                        </a:spcBef>
                        <a:spcAft>
                          <a:spcPts val="0"/>
                        </a:spcAft>
                      </a:pPr>
                      <a:r>
                        <a:rPr lang="en-US" sz="2200" dirty="0">
                          <a:effectLst/>
                          <a:latin typeface="Book Antiqua" panose="02040602050305030304" pitchFamily="18" charset="0"/>
                        </a:rPr>
                        <a:t>1</a:t>
                      </a:r>
                      <a:endParaRPr lang="en-US" sz="2200" dirty="0">
                        <a:effectLst/>
                        <a:latin typeface="Book Antiqua" panose="02040602050305030304" pitchFamily="18" charset="0"/>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200" dirty="0">
                          <a:effectLst/>
                          <a:latin typeface="Book Antiqua" panose="02040602050305030304" pitchFamily="18" charset="0"/>
                        </a:rPr>
                        <a:t>Introduction: Data Communications, Networks, Network Types, Standards and Administration, Networks Models: Protocol Layering, TCP/IP Protocol suite, The OSI model.</a:t>
                      </a:r>
                      <a:endParaRPr lang="en-US" sz="2200" dirty="0">
                        <a:effectLst/>
                        <a:latin typeface="Book Antiqua" panose="02040602050305030304" pitchFamily="18" charset="0"/>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2200" dirty="0">
                          <a:effectLst/>
                          <a:latin typeface="Book Antiqua" panose="02040602050305030304" pitchFamily="18" charset="0"/>
                        </a:rPr>
                        <a:t>07</a:t>
                      </a:r>
                      <a:endParaRPr lang="en-US" sz="2200" dirty="0">
                        <a:effectLst/>
                        <a:latin typeface="Book Antiqua" panose="02040602050305030304" pitchFamily="18" charset="0"/>
                        <a:ea typeface="Times New Roman"/>
                        <a:cs typeface="Times New Roman"/>
                      </a:endParaRPr>
                    </a:p>
                  </a:txBody>
                  <a:tcPr marL="68580" marR="68580" marT="0" marB="0"/>
                </a:tc>
                <a:extLst>
                  <a:ext uri="{0D108BD9-81ED-4DB2-BD59-A6C34878D82A}">
                    <a16:rowId xmlns:a16="http://schemas.microsoft.com/office/drawing/2014/main" val="10001"/>
                  </a:ext>
                </a:extLst>
              </a:tr>
              <a:tr h="3107126">
                <a:tc>
                  <a:txBody>
                    <a:bodyPr/>
                    <a:lstStyle/>
                    <a:p>
                      <a:pPr marL="0" marR="0" algn="ctr">
                        <a:lnSpc>
                          <a:spcPct val="115000"/>
                        </a:lnSpc>
                        <a:spcBef>
                          <a:spcPts val="0"/>
                        </a:spcBef>
                        <a:spcAft>
                          <a:spcPts val="0"/>
                        </a:spcAft>
                      </a:pPr>
                      <a:r>
                        <a:rPr lang="en-US" sz="2200" dirty="0">
                          <a:effectLst/>
                          <a:latin typeface="Book Antiqua" panose="02040602050305030304" pitchFamily="18" charset="0"/>
                        </a:rPr>
                        <a:t>2</a:t>
                      </a:r>
                      <a:endParaRPr lang="en-US" sz="2200" dirty="0">
                        <a:effectLst/>
                        <a:latin typeface="Book Antiqua" panose="02040602050305030304" pitchFamily="18" charset="0"/>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200" dirty="0">
                          <a:effectLst/>
                          <a:latin typeface="Book Antiqua" panose="02040602050305030304" pitchFamily="18" charset="0"/>
                        </a:rPr>
                        <a:t>Introduction to Physical Layer-1: Data and Signals, Digital Signals, Transmission Impairment, Data Rate Limits, Performance. </a:t>
                      </a:r>
                    </a:p>
                    <a:p>
                      <a:pPr marL="0" marR="0" algn="just">
                        <a:lnSpc>
                          <a:spcPct val="115000"/>
                        </a:lnSpc>
                        <a:spcBef>
                          <a:spcPts val="0"/>
                        </a:spcBef>
                        <a:spcAft>
                          <a:spcPts val="0"/>
                        </a:spcAft>
                      </a:pPr>
                      <a:r>
                        <a:rPr lang="en-US" sz="2200" dirty="0">
                          <a:effectLst/>
                          <a:latin typeface="Book Antiqua" panose="02040602050305030304" pitchFamily="18" charset="0"/>
                        </a:rPr>
                        <a:t>Digital Transmission: Digital to Digital Conversion (Only Line coding: Polar, Bipolar and Manchester coding), Analog to Digital conversion (only PCM), Transmission Modes.</a:t>
                      </a:r>
                      <a:endParaRPr lang="en-US" sz="2200" dirty="0">
                        <a:effectLst/>
                        <a:latin typeface="Book Antiqua" panose="02040602050305030304" pitchFamily="18" charset="0"/>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2200" dirty="0">
                          <a:effectLst/>
                          <a:latin typeface="Book Antiqua" panose="02040602050305030304" pitchFamily="18" charset="0"/>
                        </a:rPr>
                        <a:t>08</a:t>
                      </a:r>
                      <a:endParaRPr lang="en-US" sz="2200" dirty="0">
                        <a:effectLst/>
                        <a:latin typeface="Book Antiqua" panose="02040602050305030304" pitchFamily="18" charset="0"/>
                        <a:ea typeface="Times New Roman"/>
                        <a:cs typeface="Times New Roman"/>
                      </a:endParaRPr>
                    </a:p>
                  </a:txBody>
                  <a:tcPr marL="68580" marR="6858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40715752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Syllabus Introduction</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lstStyle/>
          <a:p>
            <a:pPr marL="457200" indent="-457200" algn="l">
              <a:buFont typeface="Arial" panose="020B0604020202020204" pitchFamily="34" charset="0"/>
              <a:buChar char="•"/>
            </a:pPr>
            <a:endParaRPr lang="en-US" dirty="0">
              <a:latin typeface="Book Antiqua" panose="0204060205030503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3877609971"/>
              </p:ext>
            </p:extLst>
          </p:nvPr>
        </p:nvGraphicFramePr>
        <p:xfrm>
          <a:off x="228600" y="990599"/>
          <a:ext cx="8763000" cy="5398008"/>
        </p:xfrm>
        <a:graphic>
          <a:graphicData uri="http://schemas.openxmlformats.org/drawingml/2006/table">
            <a:tbl>
              <a:tblPr firstRow="1" firstCol="1" bandRow="1">
                <a:tableStyleId>{E8B1032C-EA38-4F05-BA0D-38AFFFC7BED3}</a:tableStyleId>
              </a:tblPr>
              <a:tblGrid>
                <a:gridCol w="683048">
                  <a:extLst>
                    <a:ext uri="{9D8B030D-6E8A-4147-A177-3AD203B41FA5}">
                      <a16:colId xmlns:a16="http://schemas.microsoft.com/office/drawing/2014/main" val="20000"/>
                    </a:ext>
                  </a:extLst>
                </a:gridCol>
                <a:gridCol w="7246967">
                  <a:extLst>
                    <a:ext uri="{9D8B030D-6E8A-4147-A177-3AD203B41FA5}">
                      <a16:colId xmlns:a16="http://schemas.microsoft.com/office/drawing/2014/main" val="20001"/>
                    </a:ext>
                  </a:extLst>
                </a:gridCol>
                <a:gridCol w="832985">
                  <a:extLst>
                    <a:ext uri="{9D8B030D-6E8A-4147-A177-3AD203B41FA5}">
                      <a16:colId xmlns:a16="http://schemas.microsoft.com/office/drawing/2014/main" val="20002"/>
                    </a:ext>
                  </a:extLst>
                </a:gridCol>
              </a:tblGrid>
              <a:tr h="1447801">
                <a:tc>
                  <a:txBody>
                    <a:bodyPr/>
                    <a:lstStyle/>
                    <a:p>
                      <a:pPr marL="0" marR="0" algn="ctr">
                        <a:lnSpc>
                          <a:spcPct val="115000"/>
                        </a:lnSpc>
                        <a:spcBef>
                          <a:spcPts val="0"/>
                        </a:spcBef>
                        <a:spcAft>
                          <a:spcPts val="0"/>
                        </a:spcAft>
                      </a:pPr>
                      <a:r>
                        <a:rPr lang="en-US" sz="2200" dirty="0">
                          <a:effectLst/>
                          <a:latin typeface="Book Antiqua" panose="02040602050305030304" pitchFamily="18" charset="0"/>
                        </a:rPr>
                        <a:t>3</a:t>
                      </a:r>
                      <a:endParaRPr lang="en-US" sz="2200" dirty="0">
                        <a:effectLst/>
                        <a:latin typeface="Book Antiqua" panose="02040602050305030304" pitchFamily="18" charset="0"/>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200" dirty="0">
                          <a:effectLst/>
                          <a:latin typeface="Book Antiqua" panose="02040602050305030304" pitchFamily="18" charset="0"/>
                        </a:rPr>
                        <a:t>Bandwidth Utilization: Multiplexing, Transmission Media: Guided Media, Unguided Media, and Switching: Introduction, Circuit Switched Networks and Packet switching, Structure of a Switch. </a:t>
                      </a:r>
                      <a:endParaRPr lang="en-US" sz="2200" dirty="0">
                        <a:effectLst/>
                        <a:latin typeface="Book Antiqua" panose="02040602050305030304" pitchFamily="18" charset="0"/>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2200" dirty="0">
                          <a:effectLst/>
                          <a:latin typeface="Book Antiqua" panose="02040602050305030304" pitchFamily="18" charset="0"/>
                        </a:rPr>
                        <a:t>08</a:t>
                      </a:r>
                      <a:endParaRPr lang="en-US" sz="2200" dirty="0">
                        <a:effectLst/>
                        <a:latin typeface="Book Antiqua" panose="02040602050305030304" pitchFamily="18" charset="0"/>
                        <a:ea typeface="Times New Roman"/>
                        <a:cs typeface="Times New Roman"/>
                      </a:endParaRPr>
                    </a:p>
                  </a:txBody>
                  <a:tcPr marL="68580" marR="68580" marT="0" marB="0"/>
                </a:tc>
                <a:extLst>
                  <a:ext uri="{0D108BD9-81ED-4DB2-BD59-A6C34878D82A}">
                    <a16:rowId xmlns:a16="http://schemas.microsoft.com/office/drawing/2014/main" val="10000"/>
                  </a:ext>
                </a:extLst>
              </a:tr>
              <a:tr h="1447800">
                <a:tc>
                  <a:txBody>
                    <a:bodyPr/>
                    <a:lstStyle/>
                    <a:p>
                      <a:pPr marL="0" marR="0" algn="ctr">
                        <a:lnSpc>
                          <a:spcPct val="115000"/>
                        </a:lnSpc>
                        <a:spcBef>
                          <a:spcPts val="0"/>
                        </a:spcBef>
                        <a:spcAft>
                          <a:spcPts val="0"/>
                        </a:spcAft>
                      </a:pPr>
                      <a:r>
                        <a:rPr lang="en-US" sz="2200" dirty="0">
                          <a:effectLst/>
                          <a:latin typeface="Book Antiqua" panose="02040602050305030304" pitchFamily="18" charset="0"/>
                        </a:rPr>
                        <a:t>4</a:t>
                      </a:r>
                      <a:endParaRPr lang="en-US" sz="2200" dirty="0">
                        <a:effectLst/>
                        <a:latin typeface="Book Antiqua" panose="02040602050305030304" pitchFamily="18" charset="0"/>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200" dirty="0">
                          <a:effectLst/>
                          <a:latin typeface="Book Antiqua" panose="02040602050305030304" pitchFamily="18" charset="0"/>
                        </a:rPr>
                        <a:t>Error Detection and Correction: Introduction, Block Coding, Cyclic Codes: Cyclic Redundancy Checksum, Forward Error Correction: Hamming distance, XOR. Network Layer: Network Layer Performance, IPV4-Addresses</a:t>
                      </a:r>
                      <a:endParaRPr lang="en-US" sz="2200" dirty="0">
                        <a:effectLst/>
                        <a:latin typeface="Book Antiqua" panose="02040602050305030304" pitchFamily="18" charset="0"/>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2200" dirty="0">
                          <a:effectLst/>
                          <a:latin typeface="Book Antiqua" panose="02040602050305030304" pitchFamily="18" charset="0"/>
                        </a:rPr>
                        <a:t>08</a:t>
                      </a:r>
                      <a:endParaRPr lang="en-US" sz="2200" dirty="0">
                        <a:effectLst/>
                        <a:latin typeface="Book Antiqua" panose="02040602050305030304" pitchFamily="18" charset="0"/>
                        <a:ea typeface="Times New Roman"/>
                        <a:cs typeface="Times New Roman"/>
                      </a:endParaRPr>
                    </a:p>
                  </a:txBody>
                  <a:tcPr marL="68580" marR="68580" marT="0" marB="0"/>
                </a:tc>
                <a:extLst>
                  <a:ext uri="{0D108BD9-81ED-4DB2-BD59-A6C34878D82A}">
                    <a16:rowId xmlns:a16="http://schemas.microsoft.com/office/drawing/2014/main" val="10001"/>
                  </a:ext>
                </a:extLst>
              </a:tr>
              <a:tr h="1752600">
                <a:tc>
                  <a:txBody>
                    <a:bodyPr/>
                    <a:lstStyle/>
                    <a:p>
                      <a:pPr marL="0" marR="0" algn="ctr">
                        <a:lnSpc>
                          <a:spcPct val="115000"/>
                        </a:lnSpc>
                        <a:spcBef>
                          <a:spcPts val="0"/>
                        </a:spcBef>
                        <a:spcAft>
                          <a:spcPts val="0"/>
                        </a:spcAft>
                      </a:pPr>
                      <a:r>
                        <a:rPr lang="en-US" sz="2200" dirty="0">
                          <a:effectLst/>
                          <a:latin typeface="Book Antiqua" panose="02040602050305030304" pitchFamily="18" charset="0"/>
                        </a:rPr>
                        <a:t>5</a:t>
                      </a:r>
                      <a:endParaRPr lang="en-US" sz="2200" dirty="0">
                        <a:effectLst/>
                        <a:latin typeface="Book Antiqua" panose="02040602050305030304" pitchFamily="18" charset="0"/>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200" dirty="0">
                          <a:effectLst/>
                          <a:latin typeface="Book Antiqua" panose="02040602050305030304" pitchFamily="18" charset="0"/>
                        </a:rPr>
                        <a:t>Data link Layer: Introduction to Data-Link Layer: Introduction, Link-Layer Addressing, Data link Services: DLC services, Data link layer protocols, Point to Point protocol (Framing, Transition phases only). Media Access control: Random Access, Controlled Access.</a:t>
                      </a:r>
                      <a:endParaRPr lang="en-US" sz="2200" dirty="0">
                        <a:effectLst/>
                        <a:latin typeface="Book Antiqua" panose="02040602050305030304" pitchFamily="18" charset="0"/>
                        <a:ea typeface="Times New Roman"/>
                        <a:cs typeface="Times New Roman"/>
                      </a:endParaRPr>
                    </a:p>
                  </a:txBody>
                  <a:tcPr marL="68580" marR="68580" marT="0" marB="0"/>
                </a:tc>
                <a:tc>
                  <a:txBody>
                    <a:bodyPr/>
                    <a:lstStyle/>
                    <a:p>
                      <a:pPr marL="0" marR="0" algn="ctr">
                        <a:lnSpc>
                          <a:spcPct val="115000"/>
                        </a:lnSpc>
                        <a:spcBef>
                          <a:spcPts val="0"/>
                        </a:spcBef>
                        <a:spcAft>
                          <a:spcPts val="0"/>
                        </a:spcAft>
                      </a:pPr>
                      <a:r>
                        <a:rPr lang="en-US" sz="2200" dirty="0">
                          <a:effectLst/>
                          <a:latin typeface="Book Antiqua" panose="02040602050305030304" pitchFamily="18" charset="0"/>
                        </a:rPr>
                        <a:t>08</a:t>
                      </a:r>
                      <a:endParaRPr lang="en-US" sz="2200" dirty="0">
                        <a:effectLst/>
                        <a:latin typeface="Book Antiqua" panose="02040602050305030304" pitchFamily="18" charset="0"/>
                        <a:ea typeface="Times New Roman"/>
                        <a:cs typeface="Times New Roman"/>
                      </a:endParaRPr>
                    </a:p>
                  </a:txBody>
                  <a:tcPr marL="68580" marR="6858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80065249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a:latin typeface="Book Antiqua" panose="02040602050305030304" pitchFamily="18" charset="0"/>
              </a:rPr>
              <a:t>Course Outcomes</a:t>
            </a:r>
          </a:p>
        </p:txBody>
      </p:sp>
      <p:sp>
        <p:nvSpPr>
          <p:cNvPr id="3" name="Subtitle 2"/>
          <p:cNvSpPr>
            <a:spLocks noGrp="1"/>
          </p:cNvSpPr>
          <p:nvPr>
            <p:ph type="subTitle" idx="1"/>
          </p:nvPr>
        </p:nvSpPr>
        <p:spPr>
          <a:xfrm>
            <a:off x="0" y="685800"/>
            <a:ext cx="9144000" cy="6172200"/>
          </a:xfrm>
        </p:spPr>
        <p:txBody>
          <a:bodyPr/>
          <a:lstStyle/>
          <a:p>
            <a:pPr marL="457200" indent="-457200" algn="l">
              <a:buFont typeface="Arial" panose="020B0604020202020204" pitchFamily="34" charset="0"/>
              <a:buChar char="•"/>
            </a:pPr>
            <a:r>
              <a:rPr lang="en-US" dirty="0">
                <a:solidFill>
                  <a:schemeClr val="tx1"/>
                </a:solidFill>
                <a:latin typeface="Book Antiqua" panose="02040602050305030304" pitchFamily="18" charset="0"/>
              </a:rPr>
              <a:t>After completing this course, students should be able to:</a:t>
            </a:r>
          </a:p>
          <a:p>
            <a:pPr algn="l"/>
            <a:endParaRPr lang="en-US" dirty="0">
              <a:latin typeface="Book Antiqua" panose="0204060205030503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4091215784"/>
              </p:ext>
            </p:extLst>
          </p:nvPr>
        </p:nvGraphicFramePr>
        <p:xfrm>
          <a:off x="457200" y="1981200"/>
          <a:ext cx="8153400" cy="4038600"/>
        </p:xfrm>
        <a:graphic>
          <a:graphicData uri="http://schemas.openxmlformats.org/drawingml/2006/table">
            <a:tbl>
              <a:tblPr firstRow="1" firstCol="1" bandRow="1">
                <a:tableStyleId>{E8B1032C-EA38-4F05-BA0D-38AFFFC7BED3}</a:tableStyleId>
              </a:tblPr>
              <a:tblGrid>
                <a:gridCol w="940777">
                  <a:extLst>
                    <a:ext uri="{9D8B030D-6E8A-4147-A177-3AD203B41FA5}">
                      <a16:colId xmlns:a16="http://schemas.microsoft.com/office/drawing/2014/main" val="20000"/>
                    </a:ext>
                  </a:extLst>
                </a:gridCol>
                <a:gridCol w="7212623">
                  <a:extLst>
                    <a:ext uri="{9D8B030D-6E8A-4147-A177-3AD203B41FA5}">
                      <a16:colId xmlns:a16="http://schemas.microsoft.com/office/drawing/2014/main" val="20001"/>
                    </a:ext>
                  </a:extLst>
                </a:gridCol>
              </a:tblGrid>
              <a:tr h="1009650">
                <a:tc>
                  <a:txBody>
                    <a:bodyPr/>
                    <a:lstStyle/>
                    <a:p>
                      <a:pPr marL="0" marR="0">
                        <a:lnSpc>
                          <a:spcPct val="115000"/>
                        </a:lnSpc>
                        <a:spcBef>
                          <a:spcPts val="0"/>
                        </a:spcBef>
                        <a:spcAft>
                          <a:spcPts val="0"/>
                        </a:spcAft>
                      </a:pPr>
                      <a:r>
                        <a:rPr lang="en-US" sz="2200" dirty="0">
                          <a:effectLst/>
                          <a:latin typeface="Book Antiqua" panose="02040602050305030304" pitchFamily="18" charset="0"/>
                        </a:rPr>
                        <a:t>CO1: </a:t>
                      </a:r>
                      <a:endParaRPr lang="en-US" sz="2200" dirty="0">
                        <a:effectLst/>
                        <a:latin typeface="Book Antiqua" panose="02040602050305030304" pitchFamily="18" charset="0"/>
                        <a:ea typeface="Calibri"/>
                        <a:cs typeface="Times New Roman"/>
                      </a:endParaRPr>
                    </a:p>
                  </a:txBody>
                  <a:tcPr marL="68580" marR="68580" marT="0" marB="0"/>
                </a:tc>
                <a:tc>
                  <a:txBody>
                    <a:bodyPr/>
                    <a:lstStyle/>
                    <a:p>
                      <a:pPr marL="0" marR="0">
                        <a:lnSpc>
                          <a:spcPct val="115000"/>
                        </a:lnSpc>
                        <a:spcBef>
                          <a:spcPts val="0"/>
                        </a:spcBef>
                        <a:spcAft>
                          <a:spcPts val="0"/>
                        </a:spcAft>
                      </a:pPr>
                      <a:r>
                        <a:rPr lang="en-US" sz="2200" dirty="0">
                          <a:effectLst/>
                          <a:latin typeface="Book Antiqua" panose="02040602050305030304" pitchFamily="18" charset="0"/>
                        </a:rPr>
                        <a:t>Understanding the importance of physical and data link layers of OSI model. </a:t>
                      </a:r>
                      <a:endParaRPr lang="en-US" sz="2200" dirty="0">
                        <a:effectLst/>
                        <a:latin typeface="Book Antiqua" panose="02040602050305030304" pitchFamily="18" charset="0"/>
                        <a:ea typeface="Calibri"/>
                        <a:cs typeface="Times New Roman"/>
                      </a:endParaRPr>
                    </a:p>
                  </a:txBody>
                  <a:tcPr marL="68580" marR="68580" marT="0" marB="0"/>
                </a:tc>
                <a:extLst>
                  <a:ext uri="{0D108BD9-81ED-4DB2-BD59-A6C34878D82A}">
                    <a16:rowId xmlns:a16="http://schemas.microsoft.com/office/drawing/2014/main" val="10000"/>
                  </a:ext>
                </a:extLst>
              </a:tr>
              <a:tr h="1009650">
                <a:tc>
                  <a:txBody>
                    <a:bodyPr/>
                    <a:lstStyle/>
                    <a:p>
                      <a:pPr marL="0" marR="0">
                        <a:lnSpc>
                          <a:spcPct val="115000"/>
                        </a:lnSpc>
                        <a:spcBef>
                          <a:spcPts val="0"/>
                        </a:spcBef>
                        <a:spcAft>
                          <a:spcPts val="0"/>
                        </a:spcAft>
                      </a:pPr>
                      <a:r>
                        <a:rPr lang="en-US" sz="2200" dirty="0">
                          <a:effectLst/>
                          <a:latin typeface="Book Antiqua" panose="02040602050305030304" pitchFamily="18" charset="0"/>
                        </a:rPr>
                        <a:t>CO2:</a:t>
                      </a:r>
                      <a:endParaRPr lang="en-US" sz="2200" dirty="0">
                        <a:effectLst/>
                        <a:latin typeface="Book Antiqua" panose="02040602050305030304" pitchFamily="18" charset="0"/>
                        <a:ea typeface="Times New Roman"/>
                        <a:cs typeface="Times New Roman"/>
                      </a:endParaRPr>
                    </a:p>
                  </a:txBody>
                  <a:tcPr marL="68580" marR="68580" marT="0" marB="0"/>
                </a:tc>
                <a:tc>
                  <a:txBody>
                    <a:bodyPr/>
                    <a:lstStyle/>
                    <a:p>
                      <a:pPr marL="0" marR="0">
                        <a:lnSpc>
                          <a:spcPct val="115000"/>
                        </a:lnSpc>
                        <a:spcBef>
                          <a:spcPts val="0"/>
                        </a:spcBef>
                        <a:spcAft>
                          <a:spcPts val="0"/>
                        </a:spcAft>
                      </a:pPr>
                      <a:r>
                        <a:rPr lang="en-US" sz="2200" dirty="0">
                          <a:effectLst/>
                          <a:latin typeface="Book Antiqua" panose="02040602050305030304" pitchFamily="18" charset="0"/>
                        </a:rPr>
                        <a:t>Analyze and evaluate network topologies and protocols. </a:t>
                      </a:r>
                      <a:endParaRPr lang="en-US" sz="2200" dirty="0">
                        <a:effectLst/>
                        <a:latin typeface="Book Antiqua" panose="02040602050305030304" pitchFamily="18" charset="0"/>
                        <a:ea typeface="Calibri"/>
                        <a:cs typeface="Times New Roman"/>
                      </a:endParaRPr>
                    </a:p>
                  </a:txBody>
                  <a:tcPr marL="68580" marR="68580" marT="0" marB="0"/>
                </a:tc>
                <a:extLst>
                  <a:ext uri="{0D108BD9-81ED-4DB2-BD59-A6C34878D82A}">
                    <a16:rowId xmlns:a16="http://schemas.microsoft.com/office/drawing/2014/main" val="10001"/>
                  </a:ext>
                </a:extLst>
              </a:tr>
              <a:tr h="1009650">
                <a:tc>
                  <a:txBody>
                    <a:bodyPr/>
                    <a:lstStyle/>
                    <a:p>
                      <a:pPr marL="0" marR="0">
                        <a:lnSpc>
                          <a:spcPct val="115000"/>
                        </a:lnSpc>
                        <a:spcBef>
                          <a:spcPts val="0"/>
                        </a:spcBef>
                        <a:spcAft>
                          <a:spcPts val="0"/>
                        </a:spcAft>
                      </a:pPr>
                      <a:r>
                        <a:rPr lang="en-US" sz="2200" dirty="0">
                          <a:effectLst/>
                          <a:latin typeface="Book Antiqua" panose="02040602050305030304" pitchFamily="18" charset="0"/>
                        </a:rPr>
                        <a:t>CO3:</a:t>
                      </a:r>
                      <a:endParaRPr lang="en-US" sz="2200" dirty="0">
                        <a:effectLst/>
                        <a:latin typeface="Book Antiqua" panose="02040602050305030304" pitchFamily="18" charset="0"/>
                        <a:ea typeface="Times New Roman"/>
                        <a:cs typeface="Times New Roman"/>
                      </a:endParaRPr>
                    </a:p>
                  </a:txBody>
                  <a:tcPr marL="68580" marR="68580" marT="0" marB="0"/>
                </a:tc>
                <a:tc>
                  <a:txBody>
                    <a:bodyPr/>
                    <a:lstStyle/>
                    <a:p>
                      <a:pPr marL="0" marR="0">
                        <a:lnSpc>
                          <a:spcPct val="115000"/>
                        </a:lnSpc>
                        <a:spcBef>
                          <a:spcPts val="0"/>
                        </a:spcBef>
                        <a:spcAft>
                          <a:spcPts val="0"/>
                        </a:spcAft>
                      </a:pPr>
                      <a:r>
                        <a:rPr lang="en-US" sz="2200" dirty="0">
                          <a:effectLst/>
                          <a:latin typeface="Book Antiqua" panose="02040602050305030304" pitchFamily="18" charset="0"/>
                        </a:rPr>
                        <a:t> Implementing different communication protocols.</a:t>
                      </a:r>
                      <a:endParaRPr lang="en-US" sz="2200" dirty="0">
                        <a:effectLst/>
                        <a:latin typeface="Book Antiqua" panose="02040602050305030304" pitchFamily="18" charset="0"/>
                        <a:ea typeface="Calibri"/>
                        <a:cs typeface="Times New Roman"/>
                      </a:endParaRPr>
                    </a:p>
                  </a:txBody>
                  <a:tcPr marL="68580" marR="68580" marT="0" marB="0"/>
                </a:tc>
                <a:extLst>
                  <a:ext uri="{0D108BD9-81ED-4DB2-BD59-A6C34878D82A}">
                    <a16:rowId xmlns:a16="http://schemas.microsoft.com/office/drawing/2014/main" val="10002"/>
                  </a:ext>
                </a:extLst>
              </a:tr>
              <a:tr h="1009650">
                <a:tc>
                  <a:txBody>
                    <a:bodyPr/>
                    <a:lstStyle/>
                    <a:p>
                      <a:pPr marL="0" marR="0">
                        <a:lnSpc>
                          <a:spcPct val="115000"/>
                        </a:lnSpc>
                        <a:spcBef>
                          <a:spcPts val="0"/>
                        </a:spcBef>
                        <a:spcAft>
                          <a:spcPts val="0"/>
                        </a:spcAft>
                      </a:pPr>
                      <a:r>
                        <a:rPr lang="en-US" sz="2200" dirty="0">
                          <a:effectLst/>
                          <a:latin typeface="Book Antiqua" panose="02040602050305030304" pitchFamily="18" charset="0"/>
                        </a:rPr>
                        <a:t>CO4:</a:t>
                      </a:r>
                      <a:endParaRPr lang="en-US" sz="2200" dirty="0">
                        <a:effectLst/>
                        <a:latin typeface="Book Antiqua" panose="02040602050305030304" pitchFamily="18" charset="0"/>
                        <a:ea typeface="Times New Roman"/>
                        <a:cs typeface="Times New Roman"/>
                      </a:endParaRPr>
                    </a:p>
                  </a:txBody>
                  <a:tcPr marL="68580" marR="68580" marT="0" marB="0"/>
                </a:tc>
                <a:tc>
                  <a:txBody>
                    <a:bodyPr/>
                    <a:lstStyle/>
                    <a:p>
                      <a:pPr marL="0" marR="0">
                        <a:lnSpc>
                          <a:spcPct val="115000"/>
                        </a:lnSpc>
                        <a:spcBef>
                          <a:spcPts val="0"/>
                        </a:spcBef>
                        <a:spcAft>
                          <a:spcPts val="0"/>
                        </a:spcAft>
                      </a:pPr>
                      <a:r>
                        <a:rPr lang="en-US" sz="2200" dirty="0">
                          <a:effectLst/>
                          <a:latin typeface="Book Antiqua" panose="02040602050305030304" pitchFamily="18" charset="0"/>
                        </a:rPr>
                        <a:t>Exploring fundamental issues driving network design.</a:t>
                      </a:r>
                      <a:endParaRPr lang="en-US" sz="2200" dirty="0">
                        <a:effectLst/>
                        <a:latin typeface="Book Antiqua" panose="02040602050305030304" pitchFamily="18" charset="0"/>
                        <a:ea typeface="Times New Roman"/>
                        <a:cs typeface="Times New Roman"/>
                      </a:endParaRP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30635335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Text books</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lstStyle/>
          <a:p>
            <a:pPr marL="457200" indent="-457200" algn="l">
              <a:buFont typeface="Arial" panose="020B0604020202020204" pitchFamily="34" charset="0"/>
              <a:buChar char="•"/>
            </a:pPr>
            <a:r>
              <a:rPr lang="en-US" sz="2800" dirty="0" smtClean="0">
                <a:solidFill>
                  <a:srgbClr val="0070C0"/>
                </a:solidFill>
                <a:latin typeface="Book Antiqua" panose="02040602050305030304" pitchFamily="18" charset="0"/>
              </a:rPr>
              <a:t>Prescribed Book:</a:t>
            </a:r>
          </a:p>
          <a:p>
            <a:pPr marL="914400" lvl="1" indent="-457200" algn="l">
              <a:buFont typeface="Arial" panose="020B0604020202020204" pitchFamily="34" charset="0"/>
              <a:buChar char="•"/>
            </a:pPr>
            <a:r>
              <a:rPr lang="en-US" sz="2400" dirty="0" smtClean="0">
                <a:solidFill>
                  <a:schemeClr val="tx1"/>
                </a:solidFill>
                <a:latin typeface="Book Antiqua" panose="02040602050305030304" pitchFamily="18" charset="0"/>
              </a:rPr>
              <a:t>Behrouz </a:t>
            </a:r>
            <a:r>
              <a:rPr lang="en-US" sz="2400" dirty="0">
                <a:solidFill>
                  <a:schemeClr val="tx1"/>
                </a:solidFill>
                <a:latin typeface="Book Antiqua" panose="02040602050305030304" pitchFamily="18" charset="0"/>
              </a:rPr>
              <a:t>A. </a:t>
            </a:r>
            <a:r>
              <a:rPr lang="en-US" sz="2400" dirty="0" err="1">
                <a:solidFill>
                  <a:schemeClr val="tx1"/>
                </a:solidFill>
                <a:latin typeface="Book Antiqua" panose="02040602050305030304" pitchFamily="18" charset="0"/>
              </a:rPr>
              <a:t>Forouzan</a:t>
            </a:r>
            <a:r>
              <a:rPr lang="en-US" sz="2400" dirty="0">
                <a:solidFill>
                  <a:schemeClr val="tx1"/>
                </a:solidFill>
                <a:latin typeface="Book Antiqua" panose="02040602050305030304" pitchFamily="18" charset="0"/>
              </a:rPr>
              <a:t>, Data Communications and Networking 5E, 5th Edition, Tata McGraw-Hill, 2013</a:t>
            </a:r>
            <a:r>
              <a:rPr lang="en-US" sz="2400" dirty="0" smtClean="0">
                <a:solidFill>
                  <a:schemeClr val="tx1"/>
                </a:solidFill>
                <a:latin typeface="Book Antiqua" panose="02040602050305030304" pitchFamily="18" charset="0"/>
              </a:rPr>
              <a:t>.</a:t>
            </a:r>
            <a:endParaRPr lang="en-US" sz="2400" dirty="0">
              <a:solidFill>
                <a:schemeClr val="tx1"/>
              </a:solidFill>
              <a:latin typeface="Book Antiqua" panose="02040602050305030304" pitchFamily="18" charset="0"/>
            </a:endParaRPr>
          </a:p>
          <a:p>
            <a:pPr marL="457200" indent="-457200" algn="l">
              <a:buFont typeface="Arial" panose="020B0604020202020204" pitchFamily="34" charset="0"/>
              <a:buChar char="•"/>
            </a:pPr>
            <a:r>
              <a:rPr lang="en-US" sz="2800" dirty="0" smtClean="0">
                <a:solidFill>
                  <a:srgbClr val="0070C0"/>
                </a:solidFill>
                <a:latin typeface="Book Antiqua" panose="02040602050305030304" pitchFamily="18" charset="0"/>
              </a:rPr>
              <a:t>Reference Text Book:</a:t>
            </a:r>
          </a:p>
          <a:p>
            <a:pPr marL="914400" lvl="1" indent="-457200" algn="l">
              <a:buFont typeface="Arial" panose="020B0604020202020204" pitchFamily="34" charset="0"/>
              <a:buChar char="•"/>
            </a:pPr>
            <a:r>
              <a:rPr lang="en-US" sz="2400" dirty="0" smtClean="0">
                <a:solidFill>
                  <a:schemeClr val="tx1"/>
                </a:solidFill>
                <a:latin typeface="Book Antiqua" panose="02040602050305030304" pitchFamily="18" charset="0"/>
              </a:rPr>
              <a:t>William </a:t>
            </a:r>
            <a:r>
              <a:rPr lang="en-US" sz="2400" dirty="0">
                <a:solidFill>
                  <a:schemeClr val="tx1"/>
                </a:solidFill>
                <a:latin typeface="Book Antiqua" panose="02040602050305030304" pitchFamily="18" charset="0"/>
              </a:rPr>
              <a:t>Stallings: Data and Computer Communication, 10th Edition, Pearson Education, 2014. </a:t>
            </a:r>
            <a:endParaRPr lang="en-US" sz="2400" dirty="0" smtClean="0">
              <a:solidFill>
                <a:schemeClr val="tx1"/>
              </a:solidFill>
              <a:latin typeface="Book Antiqua" panose="02040602050305030304" pitchFamily="18" charset="0"/>
            </a:endParaRPr>
          </a:p>
          <a:p>
            <a:pPr marL="914400" lvl="1" indent="-457200" algn="l">
              <a:buFont typeface="Arial" panose="020B0604020202020204" pitchFamily="34" charset="0"/>
              <a:buChar char="•"/>
            </a:pPr>
            <a:r>
              <a:rPr lang="en-US" sz="2400" dirty="0" smtClean="0">
                <a:solidFill>
                  <a:schemeClr val="tx1"/>
                </a:solidFill>
                <a:latin typeface="Book Antiqua" panose="02040602050305030304" pitchFamily="18" charset="0"/>
              </a:rPr>
              <a:t>Alberto </a:t>
            </a:r>
            <a:r>
              <a:rPr lang="en-US" sz="2400" dirty="0">
                <a:solidFill>
                  <a:schemeClr val="tx1"/>
                </a:solidFill>
                <a:latin typeface="Book Antiqua" panose="02040602050305030304" pitchFamily="18" charset="0"/>
              </a:rPr>
              <a:t>Leon-Garcia and </a:t>
            </a:r>
            <a:r>
              <a:rPr lang="en-US" sz="2400" dirty="0" err="1">
                <a:solidFill>
                  <a:schemeClr val="tx1"/>
                </a:solidFill>
                <a:latin typeface="Book Antiqua" panose="02040602050305030304" pitchFamily="18" charset="0"/>
              </a:rPr>
              <a:t>Indra</a:t>
            </a:r>
            <a:r>
              <a:rPr lang="en-US" sz="2400" dirty="0">
                <a:solidFill>
                  <a:schemeClr val="tx1"/>
                </a:solidFill>
                <a:latin typeface="Book Antiqua" panose="02040602050305030304" pitchFamily="18" charset="0"/>
              </a:rPr>
              <a:t> </a:t>
            </a:r>
            <a:r>
              <a:rPr lang="en-US" sz="2400" dirty="0" err="1">
                <a:solidFill>
                  <a:schemeClr val="tx1"/>
                </a:solidFill>
                <a:latin typeface="Book Antiqua" panose="02040602050305030304" pitchFamily="18" charset="0"/>
              </a:rPr>
              <a:t>Widjaja</a:t>
            </a:r>
            <a:r>
              <a:rPr lang="en-US" sz="2400" dirty="0">
                <a:solidFill>
                  <a:schemeClr val="tx1"/>
                </a:solidFill>
                <a:latin typeface="Book Antiqua" panose="02040602050305030304" pitchFamily="18" charset="0"/>
              </a:rPr>
              <a:t>: Communication Networks - Fundamental Concepts and Key architectures, 2nd Edition Tata McGraw-Hill, Reprint 2017. </a:t>
            </a:r>
            <a:endParaRPr lang="en-US" sz="2400" dirty="0" smtClean="0">
              <a:solidFill>
                <a:schemeClr val="tx1"/>
              </a:solidFill>
              <a:latin typeface="Book Antiqua" panose="02040602050305030304" pitchFamily="18" charset="0"/>
            </a:endParaRPr>
          </a:p>
          <a:p>
            <a:pPr marL="914400" lvl="1" indent="-457200" algn="l">
              <a:buFont typeface="Arial" panose="020B0604020202020204" pitchFamily="34" charset="0"/>
              <a:buChar char="•"/>
            </a:pPr>
            <a:r>
              <a:rPr lang="en-US" sz="2400" dirty="0" smtClean="0">
                <a:solidFill>
                  <a:schemeClr val="tx1"/>
                </a:solidFill>
                <a:latin typeface="Book Antiqua" panose="02040602050305030304" pitchFamily="18" charset="0"/>
              </a:rPr>
              <a:t>Larry </a:t>
            </a:r>
            <a:r>
              <a:rPr lang="en-US" sz="2400" dirty="0">
                <a:solidFill>
                  <a:schemeClr val="tx1"/>
                </a:solidFill>
                <a:latin typeface="Book Antiqua" panose="02040602050305030304" pitchFamily="18" charset="0"/>
              </a:rPr>
              <a:t>L. Peterson and Bruce S. Davie: Computer Networks – A Systems Approach, 5th Edition, Elsevier, 2012</a:t>
            </a:r>
            <a:r>
              <a:rPr lang="en-US" sz="2400" dirty="0" smtClean="0">
                <a:solidFill>
                  <a:schemeClr val="tx1"/>
                </a:solidFill>
                <a:latin typeface="Book Antiqua" panose="02040602050305030304" pitchFamily="18" charset="0"/>
              </a:rPr>
              <a:t>.</a:t>
            </a:r>
          </a:p>
          <a:p>
            <a:pPr marL="342900" indent="-342900" algn="l">
              <a:buFont typeface="Arial" panose="020B0604020202020204" pitchFamily="34" charset="0"/>
              <a:buChar char="•"/>
            </a:pPr>
            <a:r>
              <a:rPr lang="en-US" sz="2800" dirty="0">
                <a:solidFill>
                  <a:srgbClr val="0070C0"/>
                </a:solidFill>
                <a:latin typeface="Book Antiqua" panose="02040602050305030304" pitchFamily="18" charset="0"/>
              </a:rPr>
              <a:t>Web Resources</a:t>
            </a:r>
            <a:r>
              <a:rPr lang="en-US" sz="2800" dirty="0" smtClean="0">
                <a:solidFill>
                  <a:srgbClr val="0070C0"/>
                </a:solidFill>
                <a:latin typeface="Book Antiqua" panose="02040602050305030304" pitchFamily="18" charset="0"/>
              </a:rPr>
              <a:t>:</a:t>
            </a:r>
          </a:p>
          <a:p>
            <a:pPr marL="800100" lvl="1" indent="-342900" algn="l">
              <a:buFont typeface="Arial" panose="020B0604020202020204" pitchFamily="34" charset="0"/>
              <a:buChar char="•"/>
            </a:pPr>
            <a:r>
              <a:rPr lang="en-US" sz="2400" dirty="0" smtClean="0">
                <a:solidFill>
                  <a:srgbClr val="0070C0"/>
                </a:solidFill>
                <a:latin typeface="Book Antiqua" panose="02040602050305030304" pitchFamily="18" charset="0"/>
                <a:hlinkClick r:id="rId2"/>
              </a:rPr>
              <a:t>https</a:t>
            </a:r>
            <a:r>
              <a:rPr lang="en-US" sz="2400" dirty="0">
                <a:solidFill>
                  <a:srgbClr val="0070C0"/>
                </a:solidFill>
                <a:latin typeface="Book Antiqua" panose="02040602050305030304" pitchFamily="18" charset="0"/>
                <a:hlinkClick r:id="rId2"/>
              </a:rPr>
              <a:t>://nptel.ac.in/downloads/106105080</a:t>
            </a:r>
            <a:r>
              <a:rPr lang="en-US" sz="2400" dirty="0" smtClean="0">
                <a:solidFill>
                  <a:srgbClr val="0070C0"/>
                </a:solidFill>
                <a:latin typeface="Book Antiqua" panose="02040602050305030304" pitchFamily="18" charset="0"/>
                <a:hlinkClick r:id="rId2"/>
              </a:rPr>
              <a:t>/</a:t>
            </a:r>
            <a:endParaRPr lang="en-US" sz="2400" dirty="0" smtClean="0">
              <a:solidFill>
                <a:srgbClr val="0070C0"/>
              </a:solidFill>
              <a:latin typeface="Book Antiqua" panose="02040602050305030304" pitchFamily="18" charset="0"/>
            </a:endParaRPr>
          </a:p>
          <a:p>
            <a:pPr marL="800100" lvl="1" indent="-342900" algn="l">
              <a:buFont typeface="Arial" panose="020B0604020202020204" pitchFamily="34" charset="0"/>
              <a:buChar char="•"/>
            </a:pPr>
            <a:r>
              <a:rPr lang="en-US" sz="2400" dirty="0" smtClean="0">
                <a:solidFill>
                  <a:srgbClr val="0070C0"/>
                </a:solidFill>
                <a:latin typeface="Book Antiqua" panose="02040602050305030304" pitchFamily="18" charset="0"/>
                <a:hlinkClick r:id="rId3"/>
              </a:rPr>
              <a:t>https</a:t>
            </a:r>
            <a:r>
              <a:rPr lang="en-US" sz="2400" dirty="0">
                <a:solidFill>
                  <a:srgbClr val="0070C0"/>
                </a:solidFill>
                <a:latin typeface="Book Antiqua" panose="02040602050305030304" pitchFamily="18" charset="0"/>
                <a:hlinkClick r:id="rId3"/>
              </a:rPr>
              <a:t>://nptel.ac.in/courses/106105183</a:t>
            </a:r>
            <a:r>
              <a:rPr lang="en-US" sz="2400" dirty="0" smtClean="0">
                <a:solidFill>
                  <a:srgbClr val="0070C0"/>
                </a:solidFill>
                <a:latin typeface="Book Antiqua" panose="02040602050305030304" pitchFamily="18" charset="0"/>
                <a:hlinkClick r:id="rId3"/>
              </a:rPr>
              <a:t>/</a:t>
            </a:r>
            <a:r>
              <a:rPr lang="en-US" sz="2400" dirty="0" smtClean="0">
                <a:solidFill>
                  <a:srgbClr val="0070C0"/>
                </a:solidFill>
                <a:latin typeface="Book Antiqua" panose="02040602050305030304" pitchFamily="18" charset="0"/>
              </a:rPr>
              <a:t> </a:t>
            </a:r>
          </a:p>
        </p:txBody>
      </p:sp>
    </p:spTree>
    <p:extLst>
      <p:ext uri="{BB962C8B-B14F-4D97-AF65-F5344CB8AC3E}">
        <p14:creationId xmlns:p14="http://schemas.microsoft.com/office/powerpoint/2010/main" val="42553916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Data Communication-Introduction</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lstStyle/>
          <a:p>
            <a:pPr marL="457200" indent="-457200" algn="l">
              <a:buFont typeface="Arial" panose="020B0604020202020204" pitchFamily="34" charset="0"/>
              <a:buChar char="•"/>
            </a:pPr>
            <a:r>
              <a:rPr lang="en-US" dirty="0">
                <a:solidFill>
                  <a:schemeClr val="tx1"/>
                </a:solidFill>
                <a:latin typeface="Book Antiqua" panose="02040602050305030304" pitchFamily="18" charset="0"/>
              </a:rPr>
              <a:t>When we communicate, we are sharing </a:t>
            </a:r>
            <a:r>
              <a:rPr lang="en-US" dirty="0" smtClean="0">
                <a:solidFill>
                  <a:schemeClr val="tx1"/>
                </a:solidFill>
                <a:latin typeface="Book Antiqua" panose="02040602050305030304" pitchFamily="18" charset="0"/>
              </a:rPr>
              <a:t>information. This </a:t>
            </a:r>
            <a:r>
              <a:rPr lang="en-US" dirty="0">
                <a:solidFill>
                  <a:schemeClr val="tx1"/>
                </a:solidFill>
                <a:latin typeface="Book Antiqua" panose="02040602050305030304" pitchFamily="18" charset="0"/>
              </a:rPr>
              <a:t>sharing can be local </a:t>
            </a:r>
            <a:r>
              <a:rPr lang="en-US" dirty="0" smtClean="0">
                <a:solidFill>
                  <a:schemeClr val="tx1"/>
                </a:solidFill>
                <a:latin typeface="Book Antiqua" panose="02040602050305030304" pitchFamily="18" charset="0"/>
              </a:rPr>
              <a:t>or remote.</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Between individuals, local communication usually occurs face to face, </a:t>
            </a:r>
            <a:r>
              <a:rPr lang="en-US" dirty="0" smtClean="0">
                <a:solidFill>
                  <a:schemeClr val="tx1"/>
                </a:solidFill>
                <a:latin typeface="Book Antiqua" panose="02040602050305030304" pitchFamily="18" charset="0"/>
              </a:rPr>
              <a:t>while remote </a:t>
            </a:r>
            <a:r>
              <a:rPr lang="en-US" dirty="0">
                <a:solidFill>
                  <a:schemeClr val="tx1"/>
                </a:solidFill>
                <a:latin typeface="Book Antiqua" panose="02040602050305030304" pitchFamily="18" charset="0"/>
              </a:rPr>
              <a:t>communication takes place over distance</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The term telecommunication, which includes telephony, telegraphy, and television, means communication at a distance (</a:t>
            </a:r>
            <a:r>
              <a:rPr lang="en-US" dirty="0" smtClean="0">
                <a:solidFill>
                  <a:schemeClr val="tx1"/>
                </a:solidFill>
                <a:latin typeface="Book Antiqua" panose="02040602050305030304" pitchFamily="18" charset="0"/>
              </a:rPr>
              <a:t>tele is </a:t>
            </a:r>
            <a:r>
              <a:rPr lang="en-US" dirty="0">
                <a:solidFill>
                  <a:schemeClr val="tx1"/>
                </a:solidFill>
                <a:latin typeface="Book Antiqua" panose="02040602050305030304" pitchFamily="18" charset="0"/>
              </a:rPr>
              <a:t>Greek for "far</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endParaRPr lang="en-US" dirty="0">
              <a:solidFill>
                <a:schemeClr val="tx1"/>
              </a:solidFill>
              <a:latin typeface="Book Antiqua" panose="02040602050305030304" pitchFamily="18" charset="0"/>
            </a:endParaRPr>
          </a:p>
        </p:txBody>
      </p:sp>
    </p:spTree>
    <p:extLst>
      <p:ext uri="{BB962C8B-B14F-4D97-AF65-F5344CB8AC3E}">
        <p14:creationId xmlns:p14="http://schemas.microsoft.com/office/powerpoint/2010/main" val="2247120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Data Communication</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fontScale="92500" lnSpcReduction="10000"/>
          </a:bodyPr>
          <a:lstStyle/>
          <a:p>
            <a:pPr marL="457200" indent="-457200" algn="l">
              <a:buFont typeface="Arial" panose="020B0604020202020204" pitchFamily="34" charset="0"/>
              <a:buChar char="•"/>
            </a:pPr>
            <a:r>
              <a:rPr lang="en-US" dirty="0">
                <a:solidFill>
                  <a:schemeClr val="tx1"/>
                </a:solidFill>
                <a:latin typeface="Book Antiqua" panose="02040602050305030304" pitchFamily="18" charset="0"/>
              </a:rPr>
              <a:t>The word data refers to information presented in whatever form is agreed upon </a:t>
            </a:r>
            <a:r>
              <a:rPr lang="en-US" dirty="0" smtClean="0">
                <a:solidFill>
                  <a:schemeClr val="tx1"/>
                </a:solidFill>
                <a:latin typeface="Book Antiqua" panose="02040602050305030304" pitchFamily="18" charset="0"/>
              </a:rPr>
              <a:t>by the </a:t>
            </a:r>
            <a:r>
              <a:rPr lang="en-US" dirty="0">
                <a:solidFill>
                  <a:schemeClr val="tx1"/>
                </a:solidFill>
                <a:latin typeface="Book Antiqua" panose="02040602050305030304" pitchFamily="18" charset="0"/>
              </a:rPr>
              <a:t>parties creating and using the data</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Data communications are the exchange of data between two devices via </a:t>
            </a:r>
            <a:r>
              <a:rPr lang="en-US" dirty="0" smtClean="0">
                <a:solidFill>
                  <a:schemeClr val="tx1"/>
                </a:solidFill>
                <a:latin typeface="Book Antiqua" panose="02040602050305030304" pitchFamily="18" charset="0"/>
              </a:rPr>
              <a:t>some form </a:t>
            </a:r>
            <a:r>
              <a:rPr lang="en-US" dirty="0">
                <a:solidFill>
                  <a:schemeClr val="tx1"/>
                </a:solidFill>
                <a:latin typeface="Book Antiqua" panose="02040602050305030304" pitchFamily="18" charset="0"/>
              </a:rPr>
              <a:t>of transmission medium such as a wire cable</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smtClean="0">
                <a:solidFill>
                  <a:schemeClr val="tx1"/>
                </a:solidFill>
                <a:latin typeface="Book Antiqua" panose="02040602050305030304" pitchFamily="18" charset="0"/>
              </a:rPr>
              <a:t>The </a:t>
            </a:r>
            <a:r>
              <a:rPr lang="en-US" dirty="0">
                <a:solidFill>
                  <a:schemeClr val="tx1"/>
                </a:solidFill>
                <a:latin typeface="Book Antiqua" panose="02040602050305030304" pitchFamily="18" charset="0"/>
              </a:rPr>
              <a:t>communicating devices must be part of a communication system made up of a </a:t>
            </a:r>
            <a:r>
              <a:rPr lang="en-US" dirty="0" smtClean="0">
                <a:solidFill>
                  <a:schemeClr val="tx1"/>
                </a:solidFill>
                <a:latin typeface="Book Antiqua" panose="02040602050305030304" pitchFamily="18" charset="0"/>
              </a:rPr>
              <a:t>combination of </a:t>
            </a:r>
            <a:r>
              <a:rPr lang="en-US" dirty="0">
                <a:solidFill>
                  <a:schemeClr val="tx1"/>
                </a:solidFill>
                <a:latin typeface="Book Antiqua" panose="02040602050305030304" pitchFamily="18" charset="0"/>
              </a:rPr>
              <a:t>hardware (physical equipment) and software (programs</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The </a:t>
            </a:r>
            <a:r>
              <a:rPr lang="en-US" dirty="0" smtClean="0">
                <a:solidFill>
                  <a:schemeClr val="tx1"/>
                </a:solidFill>
                <a:latin typeface="Book Antiqua" panose="02040602050305030304" pitchFamily="18" charset="0"/>
              </a:rPr>
              <a:t>effectiveness of </a:t>
            </a:r>
            <a:r>
              <a:rPr lang="en-US" dirty="0">
                <a:solidFill>
                  <a:schemeClr val="tx1"/>
                </a:solidFill>
                <a:latin typeface="Book Antiqua" panose="02040602050305030304" pitchFamily="18" charset="0"/>
              </a:rPr>
              <a:t>a data communications system depends on four fundamental characteristics:</a:t>
            </a:r>
          </a:p>
        </p:txBody>
      </p:sp>
    </p:spTree>
    <p:extLst>
      <p:ext uri="{BB962C8B-B14F-4D97-AF65-F5344CB8AC3E}">
        <p14:creationId xmlns:p14="http://schemas.microsoft.com/office/powerpoint/2010/main" val="376889629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Fundamental Characteristic of DC </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lnSpcReduction="10000"/>
          </a:bodyPr>
          <a:lstStyle/>
          <a:p>
            <a:pPr marL="457200" indent="-457200" algn="l">
              <a:buFont typeface="Arial" panose="020B0604020202020204" pitchFamily="34" charset="0"/>
              <a:buChar char="•"/>
            </a:pPr>
            <a:r>
              <a:rPr lang="en-US" b="1" dirty="0" smtClean="0">
                <a:solidFill>
                  <a:srgbClr val="0070C0"/>
                </a:solidFill>
                <a:latin typeface="Book Antiqua" panose="02040602050305030304" pitchFamily="18" charset="0"/>
              </a:rPr>
              <a:t>Delivery</a:t>
            </a:r>
            <a:r>
              <a:rPr lang="en-US" dirty="0" smtClean="0">
                <a:solidFill>
                  <a:schemeClr val="tx1"/>
                </a:solidFill>
                <a:latin typeface="Book Antiqua" panose="02040602050305030304" pitchFamily="18" charset="0"/>
              </a:rPr>
              <a:t>: </a:t>
            </a:r>
            <a:r>
              <a:rPr lang="en-US" dirty="0">
                <a:solidFill>
                  <a:schemeClr val="tx1"/>
                </a:solidFill>
                <a:latin typeface="Book Antiqua" panose="02040602050305030304" pitchFamily="18" charset="0"/>
              </a:rPr>
              <a:t>The system must deliver data to the correct destination. Data must </a:t>
            </a:r>
            <a:r>
              <a:rPr lang="en-US" dirty="0" smtClean="0">
                <a:solidFill>
                  <a:schemeClr val="tx1"/>
                </a:solidFill>
                <a:latin typeface="Book Antiqua" panose="02040602050305030304" pitchFamily="18" charset="0"/>
              </a:rPr>
              <a:t>be received </a:t>
            </a:r>
            <a:r>
              <a:rPr lang="en-US" dirty="0">
                <a:solidFill>
                  <a:schemeClr val="tx1"/>
                </a:solidFill>
                <a:latin typeface="Book Antiqua" panose="02040602050305030304" pitchFamily="18" charset="0"/>
              </a:rPr>
              <a:t>by the intended device or user and only by that device or user</a:t>
            </a:r>
            <a:r>
              <a:rPr lang="en-US" dirty="0" smtClean="0">
                <a:latin typeface="Book Antiqua" panose="02040602050305030304" pitchFamily="18" charset="0"/>
              </a:rPr>
              <a:t>.</a:t>
            </a:r>
          </a:p>
          <a:p>
            <a:pPr marL="457200" indent="-457200" algn="l">
              <a:buFont typeface="Arial" panose="020B0604020202020204" pitchFamily="34" charset="0"/>
              <a:buChar char="•"/>
            </a:pPr>
            <a:r>
              <a:rPr lang="en-US" b="1" dirty="0" smtClean="0">
                <a:solidFill>
                  <a:srgbClr val="0070C0"/>
                </a:solidFill>
                <a:latin typeface="Book Antiqua" panose="02040602050305030304" pitchFamily="18" charset="0"/>
              </a:rPr>
              <a:t>Accuracy: </a:t>
            </a:r>
            <a:r>
              <a:rPr lang="en-US" dirty="0">
                <a:solidFill>
                  <a:schemeClr val="tx1"/>
                </a:solidFill>
                <a:latin typeface="Book Antiqua" panose="02040602050305030304" pitchFamily="18" charset="0"/>
              </a:rPr>
              <a:t>The system must deliver the data accurately. Data that have </a:t>
            </a:r>
            <a:r>
              <a:rPr lang="en-US" dirty="0" smtClean="0">
                <a:solidFill>
                  <a:schemeClr val="tx1"/>
                </a:solidFill>
                <a:latin typeface="Book Antiqua" panose="02040602050305030304" pitchFamily="18" charset="0"/>
              </a:rPr>
              <a:t>been altered </a:t>
            </a:r>
            <a:r>
              <a:rPr lang="en-US" dirty="0">
                <a:solidFill>
                  <a:schemeClr val="tx1"/>
                </a:solidFill>
                <a:latin typeface="Book Antiqua" panose="02040602050305030304" pitchFamily="18" charset="0"/>
              </a:rPr>
              <a:t>in transmission and left uncorrected are unusable</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b="1" dirty="0" smtClean="0">
                <a:solidFill>
                  <a:srgbClr val="0070C0"/>
                </a:solidFill>
                <a:latin typeface="Book Antiqua" panose="02040602050305030304" pitchFamily="18" charset="0"/>
              </a:rPr>
              <a:t>Timeliness</a:t>
            </a:r>
            <a:r>
              <a:rPr lang="en-US" dirty="0" smtClean="0">
                <a:solidFill>
                  <a:schemeClr val="tx1"/>
                </a:solidFill>
                <a:latin typeface="Book Antiqua" panose="02040602050305030304" pitchFamily="18" charset="0"/>
              </a:rPr>
              <a:t>: </a:t>
            </a:r>
            <a:r>
              <a:rPr lang="en-US" dirty="0">
                <a:solidFill>
                  <a:schemeClr val="tx1"/>
                </a:solidFill>
                <a:latin typeface="Book Antiqua" panose="02040602050305030304" pitchFamily="18" charset="0"/>
              </a:rPr>
              <a:t>The system must deliver data in a timely manner</a:t>
            </a:r>
            <a:r>
              <a:rPr lang="en-US" dirty="0" smtClean="0">
                <a:solidFill>
                  <a:schemeClr val="tx1"/>
                </a:solidFill>
                <a:latin typeface="Book Antiqua" panose="02040602050305030304" pitchFamily="18" charset="0"/>
              </a:rPr>
              <a:t>.</a:t>
            </a:r>
            <a:endParaRPr lang="en-US" dirty="0">
              <a:solidFill>
                <a:schemeClr val="tx1"/>
              </a:solidFill>
              <a:latin typeface="Book Antiqua" panose="02040602050305030304" pitchFamily="18" charset="0"/>
            </a:endParaRP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Data delivered late </a:t>
            </a:r>
            <a:r>
              <a:rPr lang="en-US" dirty="0" smtClean="0">
                <a:solidFill>
                  <a:schemeClr val="tx1"/>
                </a:solidFill>
                <a:latin typeface="Book Antiqua" panose="02040602050305030304" pitchFamily="18" charset="0"/>
              </a:rPr>
              <a:t>are useless</a:t>
            </a:r>
            <a:r>
              <a:rPr lang="en-US" dirty="0">
                <a:solidFill>
                  <a:schemeClr val="tx1"/>
                </a:solidFill>
                <a:latin typeface="Book Antiqua" panose="02040602050305030304" pitchFamily="18" charset="0"/>
              </a:rPr>
              <a:t>,</a:t>
            </a:r>
            <a:r>
              <a:rPr lang="en-US" dirty="0" smtClean="0">
                <a:solidFill>
                  <a:schemeClr val="tx1"/>
                </a:solidFill>
                <a:latin typeface="Book Antiqua" panose="02040602050305030304" pitchFamily="18" charset="0"/>
              </a:rPr>
              <a:t> </a:t>
            </a:r>
            <a:r>
              <a:rPr lang="en-US" dirty="0">
                <a:solidFill>
                  <a:schemeClr val="tx1"/>
                </a:solidFill>
                <a:latin typeface="Book Antiqua" panose="02040602050305030304" pitchFamily="18" charset="0"/>
              </a:rPr>
              <a:t>In the case of video and </a:t>
            </a:r>
            <a:r>
              <a:rPr lang="en-US" dirty="0" smtClean="0">
                <a:solidFill>
                  <a:schemeClr val="tx1"/>
                </a:solidFill>
                <a:latin typeface="Book Antiqua" panose="02040602050305030304" pitchFamily="18" charset="0"/>
              </a:rPr>
              <a:t>audio.</a:t>
            </a:r>
            <a:endParaRPr lang="en-US" dirty="0">
              <a:solidFill>
                <a:schemeClr val="tx1"/>
              </a:solidFill>
              <a:latin typeface="Book Antiqua" panose="02040602050305030304" pitchFamily="18" charset="0"/>
            </a:endParaRPr>
          </a:p>
        </p:txBody>
      </p:sp>
    </p:spTree>
    <p:extLst>
      <p:ext uri="{BB962C8B-B14F-4D97-AF65-F5344CB8AC3E}">
        <p14:creationId xmlns:p14="http://schemas.microsoft.com/office/powerpoint/2010/main" val="393696560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a:latin typeface="Book Antiqua" panose="02040602050305030304" pitchFamily="18" charset="0"/>
              </a:rPr>
              <a:t>Fundamental Characteristic of DC </a:t>
            </a:r>
          </a:p>
        </p:txBody>
      </p:sp>
      <p:sp>
        <p:nvSpPr>
          <p:cNvPr id="3" name="Subtitle 2"/>
          <p:cNvSpPr>
            <a:spLocks noGrp="1"/>
          </p:cNvSpPr>
          <p:nvPr>
            <p:ph type="subTitle" idx="1"/>
          </p:nvPr>
        </p:nvSpPr>
        <p:spPr>
          <a:xfrm>
            <a:off x="0" y="838200"/>
            <a:ext cx="9144000" cy="6019800"/>
          </a:xfrm>
        </p:spPr>
        <p:txBody>
          <a:bodyPr>
            <a:normAutofit fontScale="92500" lnSpcReduction="20000"/>
          </a:bodyPr>
          <a:lstStyle/>
          <a:p>
            <a:pPr marL="457200" indent="-457200" algn="l">
              <a:buFont typeface="Arial" panose="020B0604020202020204" pitchFamily="34" charset="0"/>
              <a:buChar char="•"/>
            </a:pPr>
            <a:r>
              <a:rPr lang="en-US" dirty="0" smtClean="0">
                <a:solidFill>
                  <a:schemeClr val="tx1"/>
                </a:solidFill>
                <a:latin typeface="Book Antiqua" panose="02040602050305030304" pitchFamily="18" charset="0"/>
              </a:rPr>
              <a:t>Timely </a:t>
            </a:r>
            <a:r>
              <a:rPr lang="en-US" dirty="0">
                <a:solidFill>
                  <a:schemeClr val="tx1"/>
                </a:solidFill>
                <a:latin typeface="Book Antiqua" panose="02040602050305030304" pitchFamily="18" charset="0"/>
              </a:rPr>
              <a:t>delivery means delivering data </a:t>
            </a:r>
            <a:r>
              <a:rPr lang="en-US" dirty="0" smtClean="0">
                <a:solidFill>
                  <a:schemeClr val="tx1"/>
                </a:solidFill>
                <a:latin typeface="Book Antiqua" panose="02040602050305030304" pitchFamily="18" charset="0"/>
              </a:rPr>
              <a:t>as they </a:t>
            </a:r>
            <a:r>
              <a:rPr lang="en-US" dirty="0">
                <a:solidFill>
                  <a:schemeClr val="tx1"/>
                </a:solidFill>
                <a:latin typeface="Book Antiqua" panose="02040602050305030304" pitchFamily="18" charset="0"/>
              </a:rPr>
              <a:t>are produced, in the same order that they are </a:t>
            </a:r>
            <a:r>
              <a:rPr lang="en-US" dirty="0" smtClean="0">
                <a:solidFill>
                  <a:schemeClr val="tx1"/>
                </a:solidFill>
                <a:latin typeface="Book Antiqua" panose="02040602050305030304" pitchFamily="18" charset="0"/>
              </a:rPr>
              <a:t>produced.</a:t>
            </a:r>
            <a:endParaRPr lang="en-US" dirty="0">
              <a:solidFill>
                <a:schemeClr val="tx1"/>
              </a:solidFill>
              <a:latin typeface="Book Antiqua" panose="02040602050305030304" pitchFamily="18" charset="0"/>
            </a:endParaRP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This kind of delivery is called real-time transmission</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b="1" dirty="0" smtClean="0">
                <a:solidFill>
                  <a:srgbClr val="0070C0"/>
                </a:solidFill>
                <a:latin typeface="Book Antiqua" panose="02040602050305030304" pitchFamily="18" charset="0"/>
              </a:rPr>
              <a:t>Jitter:</a:t>
            </a:r>
            <a:r>
              <a:rPr lang="en-US" dirty="0" smtClean="0">
                <a:solidFill>
                  <a:schemeClr val="tx1"/>
                </a:solidFill>
                <a:latin typeface="Book Antiqua" panose="02040602050305030304" pitchFamily="18" charset="0"/>
              </a:rPr>
              <a:t> </a:t>
            </a:r>
            <a:r>
              <a:rPr lang="en-US" dirty="0">
                <a:solidFill>
                  <a:schemeClr val="tx1"/>
                </a:solidFill>
                <a:latin typeface="Book Antiqua" panose="02040602050305030304" pitchFamily="18" charset="0"/>
              </a:rPr>
              <a:t>Jitter refers to the variation in the packet arrival time</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It is the uneven delay </a:t>
            </a:r>
            <a:r>
              <a:rPr lang="en-US" dirty="0" smtClean="0">
                <a:solidFill>
                  <a:schemeClr val="tx1"/>
                </a:solidFill>
                <a:latin typeface="Book Antiqua" panose="02040602050305030304" pitchFamily="18" charset="0"/>
              </a:rPr>
              <a:t>in the </a:t>
            </a:r>
            <a:r>
              <a:rPr lang="en-US" dirty="0">
                <a:solidFill>
                  <a:schemeClr val="tx1"/>
                </a:solidFill>
                <a:latin typeface="Book Antiqua" panose="02040602050305030304" pitchFamily="18" charset="0"/>
              </a:rPr>
              <a:t>delivery of audio or video packets</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let us assume that video </a:t>
            </a:r>
            <a:r>
              <a:rPr lang="en-US" dirty="0" smtClean="0">
                <a:solidFill>
                  <a:schemeClr val="tx1"/>
                </a:solidFill>
                <a:latin typeface="Book Antiqua" panose="02040602050305030304" pitchFamily="18" charset="0"/>
              </a:rPr>
              <a:t>packets are </a:t>
            </a:r>
            <a:r>
              <a:rPr lang="en-US" dirty="0">
                <a:solidFill>
                  <a:schemeClr val="tx1"/>
                </a:solidFill>
                <a:latin typeface="Book Antiqua" panose="02040602050305030304" pitchFamily="18" charset="0"/>
              </a:rPr>
              <a:t>sent every 3D </a:t>
            </a:r>
            <a:r>
              <a:rPr lang="en-US" dirty="0" err="1">
                <a:solidFill>
                  <a:schemeClr val="tx1"/>
                </a:solidFill>
                <a:latin typeface="Book Antiqua" panose="02040602050305030304" pitchFamily="18" charset="0"/>
              </a:rPr>
              <a:t>ms</a:t>
            </a:r>
            <a:r>
              <a:rPr lang="en-US" dirty="0" err="1" smtClean="0">
                <a:solidFill>
                  <a:schemeClr val="tx1"/>
                </a:solidFill>
                <a:latin typeface="Book Antiqua" panose="02040602050305030304" pitchFamily="18" charset="0"/>
              </a:rPr>
              <a:t>.</a:t>
            </a:r>
            <a:endParaRPr lang="en-US"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If some of the packets arrive with 3D-ms delay and others </a:t>
            </a:r>
            <a:r>
              <a:rPr lang="en-US" dirty="0" smtClean="0">
                <a:solidFill>
                  <a:schemeClr val="tx1"/>
                </a:solidFill>
                <a:latin typeface="Book Antiqua" panose="02040602050305030304" pitchFamily="18" charset="0"/>
              </a:rPr>
              <a:t>with 4D-ms </a:t>
            </a:r>
            <a:r>
              <a:rPr lang="en-US" dirty="0">
                <a:solidFill>
                  <a:schemeClr val="tx1"/>
                </a:solidFill>
                <a:latin typeface="Book Antiqua" panose="02040602050305030304" pitchFamily="18" charset="0"/>
              </a:rPr>
              <a:t>delay, an uneven quality in the video is the result.</a:t>
            </a:r>
          </a:p>
        </p:txBody>
      </p:sp>
    </p:spTree>
    <p:extLst>
      <p:ext uri="{BB962C8B-B14F-4D97-AF65-F5344CB8AC3E}">
        <p14:creationId xmlns:p14="http://schemas.microsoft.com/office/powerpoint/2010/main" val="3972275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Components</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lstStyle/>
          <a:p>
            <a:pPr marL="457200" indent="-457200" algn="l">
              <a:buFont typeface="Arial" panose="020B0604020202020204" pitchFamily="34" charset="0"/>
              <a:buChar char="•"/>
            </a:pPr>
            <a:r>
              <a:rPr lang="en-US" dirty="0">
                <a:solidFill>
                  <a:schemeClr val="tx1"/>
                </a:solidFill>
                <a:latin typeface="Book Antiqua" panose="02040602050305030304" pitchFamily="18" charset="0"/>
              </a:rPr>
              <a:t>A data communications system has five </a:t>
            </a:r>
            <a:r>
              <a:rPr lang="en-US" dirty="0" smtClean="0">
                <a:solidFill>
                  <a:schemeClr val="tx1"/>
                </a:solidFill>
                <a:latin typeface="Book Antiqua" panose="02040602050305030304" pitchFamily="18" charset="0"/>
              </a:rPr>
              <a:t>components.</a:t>
            </a:r>
          </a:p>
          <a:p>
            <a:pPr marL="457200" indent="-457200" algn="l">
              <a:buFont typeface="Arial" panose="020B0604020202020204" pitchFamily="34" charset="0"/>
              <a:buChar char="•"/>
            </a:pPr>
            <a:endParaRPr lang="en-US"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r>
              <a:rPr lang="en-US" b="1" dirty="0" smtClean="0">
                <a:solidFill>
                  <a:srgbClr val="0070C0"/>
                </a:solidFill>
                <a:latin typeface="Book Antiqua" panose="02040602050305030304" pitchFamily="18" charset="0"/>
              </a:rPr>
              <a:t>Message: </a:t>
            </a:r>
            <a:r>
              <a:rPr lang="en-US" dirty="0">
                <a:solidFill>
                  <a:schemeClr val="tx1"/>
                </a:solidFill>
                <a:latin typeface="Book Antiqua" panose="02040602050305030304" pitchFamily="18" charset="0"/>
              </a:rPr>
              <a:t>The message is the information (data) to be communicated. </a:t>
            </a:r>
            <a:r>
              <a:rPr lang="en-US" dirty="0" smtClean="0">
                <a:solidFill>
                  <a:schemeClr val="tx1"/>
                </a:solidFill>
                <a:latin typeface="Book Antiqua" panose="02040602050305030304" pitchFamily="18" charset="0"/>
              </a:rPr>
              <a:t>Popular forms </a:t>
            </a:r>
            <a:r>
              <a:rPr lang="en-US" dirty="0">
                <a:solidFill>
                  <a:schemeClr val="tx1"/>
                </a:solidFill>
                <a:latin typeface="Book Antiqua" panose="02040602050305030304" pitchFamily="18" charset="0"/>
              </a:rPr>
              <a:t>of information include text, numbers, pictures, audio, and video.</a:t>
            </a:r>
          </a:p>
          <a:p>
            <a:pPr marL="457200" indent="-457200" algn="l">
              <a:buFont typeface="Arial" panose="020B0604020202020204" pitchFamily="34" charset="0"/>
              <a:buChar char="•"/>
            </a:pPr>
            <a:endParaRPr lang="en-US" dirty="0">
              <a:solidFill>
                <a:schemeClr val="tx1"/>
              </a:solidFill>
              <a:latin typeface="Book Antiqua" panose="020406020503050303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745673"/>
            <a:ext cx="8176307" cy="23691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3324181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fontScale="92500" lnSpcReduction="10000"/>
          </a:bodyPr>
          <a:lstStyle/>
          <a:p>
            <a:pPr marL="457200" indent="-457200" algn="l">
              <a:buFont typeface="Arial" panose="020B0604020202020204" pitchFamily="34" charset="0"/>
              <a:buChar char="•"/>
            </a:pPr>
            <a:r>
              <a:rPr lang="en-US" b="1" dirty="0" smtClean="0">
                <a:solidFill>
                  <a:srgbClr val="0070C0"/>
                </a:solidFill>
                <a:latin typeface="Book Antiqua" panose="02040602050305030304" pitchFamily="18" charset="0"/>
              </a:rPr>
              <a:t>Sender:</a:t>
            </a:r>
            <a:r>
              <a:rPr lang="en-US" dirty="0" smtClean="0">
                <a:latin typeface="Book Antiqua" panose="02040602050305030304" pitchFamily="18" charset="0"/>
              </a:rPr>
              <a:t> </a:t>
            </a:r>
            <a:r>
              <a:rPr lang="en-US" dirty="0">
                <a:solidFill>
                  <a:schemeClr val="tx1"/>
                </a:solidFill>
                <a:latin typeface="Book Antiqua" panose="02040602050305030304" pitchFamily="18" charset="0"/>
              </a:rPr>
              <a:t>The sender is the device that sends the data message. It can be a </a:t>
            </a:r>
            <a:r>
              <a:rPr lang="en-US" dirty="0" smtClean="0">
                <a:solidFill>
                  <a:schemeClr val="tx1"/>
                </a:solidFill>
                <a:latin typeface="Book Antiqua" panose="02040602050305030304" pitchFamily="18" charset="0"/>
              </a:rPr>
              <a:t>computer, workstation</a:t>
            </a:r>
            <a:r>
              <a:rPr lang="en-US" dirty="0">
                <a:solidFill>
                  <a:schemeClr val="tx1"/>
                </a:solidFill>
                <a:latin typeface="Book Antiqua" panose="02040602050305030304" pitchFamily="18" charset="0"/>
              </a:rPr>
              <a:t>, telephone handset, video </a:t>
            </a:r>
            <a:r>
              <a:rPr lang="en-US" dirty="0" smtClean="0">
                <a:solidFill>
                  <a:schemeClr val="tx1"/>
                </a:solidFill>
                <a:latin typeface="Book Antiqua" panose="02040602050305030304" pitchFamily="18" charset="0"/>
              </a:rPr>
              <a:t>camera</a:t>
            </a:r>
            <a:r>
              <a:rPr lang="en-US" dirty="0">
                <a:solidFill>
                  <a:schemeClr val="tx1"/>
                </a:solidFill>
                <a:latin typeface="Book Antiqua" panose="02040602050305030304" pitchFamily="18" charset="0"/>
              </a:rPr>
              <a:t>.</a:t>
            </a:r>
            <a:endParaRPr lang="en-US"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r>
              <a:rPr lang="en-US" b="1" dirty="0" smtClean="0">
                <a:solidFill>
                  <a:srgbClr val="0070C0"/>
                </a:solidFill>
                <a:latin typeface="Book Antiqua" panose="02040602050305030304" pitchFamily="18" charset="0"/>
              </a:rPr>
              <a:t>Receiver: </a:t>
            </a:r>
            <a:r>
              <a:rPr lang="en-US" dirty="0" smtClean="0">
                <a:solidFill>
                  <a:schemeClr val="tx1"/>
                </a:solidFill>
                <a:latin typeface="Book Antiqua" panose="02040602050305030304" pitchFamily="18" charset="0"/>
              </a:rPr>
              <a:t>The </a:t>
            </a:r>
            <a:r>
              <a:rPr lang="en-US" dirty="0">
                <a:solidFill>
                  <a:schemeClr val="tx1"/>
                </a:solidFill>
                <a:latin typeface="Book Antiqua" panose="02040602050305030304" pitchFamily="18" charset="0"/>
              </a:rPr>
              <a:t>receiver is the device that receives the message. It can be a </a:t>
            </a:r>
            <a:r>
              <a:rPr lang="en-US" dirty="0" smtClean="0">
                <a:solidFill>
                  <a:schemeClr val="tx1"/>
                </a:solidFill>
                <a:latin typeface="Book Antiqua" panose="02040602050305030304" pitchFamily="18" charset="0"/>
              </a:rPr>
              <a:t>computer, workstation</a:t>
            </a:r>
            <a:r>
              <a:rPr lang="en-US" dirty="0">
                <a:solidFill>
                  <a:schemeClr val="tx1"/>
                </a:solidFill>
                <a:latin typeface="Book Antiqua" panose="02040602050305030304" pitchFamily="18" charset="0"/>
              </a:rPr>
              <a:t>, telephone handset, </a:t>
            </a:r>
            <a:r>
              <a:rPr lang="en-US" dirty="0" smtClean="0">
                <a:solidFill>
                  <a:schemeClr val="tx1"/>
                </a:solidFill>
                <a:latin typeface="Book Antiqua" panose="02040602050305030304" pitchFamily="18" charset="0"/>
              </a:rPr>
              <a:t>television</a:t>
            </a:r>
            <a:r>
              <a:rPr lang="en-US" dirty="0">
                <a:solidFill>
                  <a:schemeClr val="tx1"/>
                </a:solidFill>
                <a:latin typeface="Book Antiqua" panose="02040602050305030304" pitchFamily="18" charset="0"/>
              </a:rPr>
              <a:t> </a:t>
            </a:r>
            <a:r>
              <a:rPr lang="en-US" dirty="0" smtClean="0">
                <a:solidFill>
                  <a:schemeClr val="tx1"/>
                </a:solidFill>
                <a:latin typeface="Book Antiqua" panose="02040602050305030304" pitchFamily="18" charset="0"/>
              </a:rPr>
              <a:t>etc.</a:t>
            </a:r>
          </a:p>
          <a:p>
            <a:pPr marL="457200" indent="-457200" algn="l">
              <a:buFont typeface="Arial" panose="020B0604020202020204" pitchFamily="34" charset="0"/>
              <a:buChar char="•"/>
            </a:pPr>
            <a:r>
              <a:rPr lang="en-US" b="1" dirty="0" smtClean="0">
                <a:solidFill>
                  <a:srgbClr val="0070C0"/>
                </a:solidFill>
                <a:latin typeface="Book Antiqua" panose="02040602050305030304" pitchFamily="18" charset="0"/>
              </a:rPr>
              <a:t>Transmission medium:</a:t>
            </a:r>
            <a:r>
              <a:rPr lang="en-US" dirty="0" smtClean="0">
                <a:solidFill>
                  <a:schemeClr val="tx1"/>
                </a:solidFill>
                <a:latin typeface="Book Antiqua" panose="02040602050305030304" pitchFamily="18" charset="0"/>
              </a:rPr>
              <a:t> </a:t>
            </a:r>
            <a:r>
              <a:rPr lang="en-US" dirty="0">
                <a:solidFill>
                  <a:schemeClr val="tx1"/>
                </a:solidFill>
                <a:latin typeface="Book Antiqua" panose="02040602050305030304" pitchFamily="18" charset="0"/>
              </a:rPr>
              <a:t>The transmission medium is the physical path by </a:t>
            </a:r>
            <a:r>
              <a:rPr lang="en-US" dirty="0" smtClean="0">
                <a:solidFill>
                  <a:schemeClr val="tx1"/>
                </a:solidFill>
                <a:latin typeface="Book Antiqua" panose="02040602050305030304" pitchFamily="18" charset="0"/>
              </a:rPr>
              <a:t>which a </a:t>
            </a:r>
            <a:r>
              <a:rPr lang="en-US" dirty="0">
                <a:solidFill>
                  <a:schemeClr val="tx1"/>
                </a:solidFill>
                <a:latin typeface="Book Antiqua" panose="02040602050305030304" pitchFamily="18" charset="0"/>
              </a:rPr>
              <a:t>message travels from sender to receiver</a:t>
            </a:r>
            <a:r>
              <a:rPr lang="en-US" dirty="0" smtClean="0">
                <a:solidFill>
                  <a:schemeClr val="tx1"/>
                </a:solidFill>
                <a:latin typeface="Book Antiqua" panose="02040602050305030304" pitchFamily="18" charset="0"/>
              </a:rPr>
              <a:t>. Twisted pair cable, coaxial cable, fiber optic or radio waves.</a:t>
            </a:r>
          </a:p>
          <a:p>
            <a:pPr marL="457200" indent="-457200" algn="l">
              <a:buFont typeface="Arial" panose="020B0604020202020204" pitchFamily="34" charset="0"/>
              <a:buChar char="•"/>
            </a:pPr>
            <a:r>
              <a:rPr lang="en-US" b="1" dirty="0" smtClean="0">
                <a:solidFill>
                  <a:srgbClr val="0070C0"/>
                </a:solidFill>
                <a:latin typeface="Book Antiqua" panose="02040602050305030304" pitchFamily="18" charset="0"/>
              </a:rPr>
              <a:t>Protocol</a:t>
            </a:r>
            <a:r>
              <a:rPr lang="en-US" dirty="0" smtClean="0">
                <a:solidFill>
                  <a:schemeClr val="tx1"/>
                </a:solidFill>
                <a:latin typeface="Book Antiqua" panose="02040602050305030304" pitchFamily="18" charset="0"/>
              </a:rPr>
              <a:t>: </a:t>
            </a:r>
            <a:r>
              <a:rPr lang="en-US" dirty="0">
                <a:solidFill>
                  <a:schemeClr val="tx1"/>
                </a:solidFill>
                <a:latin typeface="Book Antiqua" panose="02040602050305030304" pitchFamily="18" charset="0"/>
              </a:rPr>
              <a:t>A protocol is a set of rules that govern data communications. It </a:t>
            </a:r>
            <a:r>
              <a:rPr lang="en-US" dirty="0" smtClean="0">
                <a:solidFill>
                  <a:schemeClr val="tx1"/>
                </a:solidFill>
                <a:latin typeface="Book Antiqua" panose="02040602050305030304" pitchFamily="18" charset="0"/>
              </a:rPr>
              <a:t>represents an </a:t>
            </a:r>
            <a:r>
              <a:rPr lang="en-US" dirty="0">
                <a:solidFill>
                  <a:schemeClr val="tx1"/>
                </a:solidFill>
                <a:latin typeface="Book Antiqua" panose="02040602050305030304" pitchFamily="18" charset="0"/>
              </a:rPr>
              <a:t>agreement between the communicating devices.</a:t>
            </a:r>
          </a:p>
        </p:txBody>
      </p:sp>
    </p:spTree>
    <p:extLst>
      <p:ext uri="{BB962C8B-B14F-4D97-AF65-F5344CB8AC3E}">
        <p14:creationId xmlns:p14="http://schemas.microsoft.com/office/powerpoint/2010/main" val="146270338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Data Representation</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fontScale="92500" lnSpcReduction="10000"/>
          </a:bodyPr>
          <a:lstStyle/>
          <a:p>
            <a:pPr marL="457200" indent="-457200" algn="l">
              <a:buFont typeface="Arial" panose="020B0604020202020204" pitchFamily="34" charset="0"/>
              <a:buChar char="•"/>
            </a:pPr>
            <a:r>
              <a:rPr lang="en-US" dirty="0" smtClean="0">
                <a:solidFill>
                  <a:schemeClr val="tx1"/>
                </a:solidFill>
                <a:latin typeface="Book Antiqua" panose="02040602050305030304" pitchFamily="18" charset="0"/>
              </a:rPr>
              <a:t>Information today comes in different forms such as text, numbers, images, audio, and video.</a:t>
            </a:r>
          </a:p>
          <a:p>
            <a:pPr marL="457200" indent="-457200" algn="l">
              <a:buFont typeface="Arial" panose="020B0604020202020204" pitchFamily="34" charset="0"/>
              <a:buChar char="•"/>
            </a:pPr>
            <a:r>
              <a:rPr lang="en-US" b="1" dirty="0" smtClean="0">
                <a:solidFill>
                  <a:srgbClr val="0070C0"/>
                </a:solidFill>
                <a:latin typeface="Book Antiqua" panose="02040602050305030304" pitchFamily="18" charset="0"/>
              </a:rPr>
              <a:t>Text</a:t>
            </a:r>
            <a:r>
              <a:rPr lang="en-US" dirty="0">
                <a:solidFill>
                  <a:schemeClr val="tx1"/>
                </a:solidFill>
                <a:latin typeface="Book Antiqua" panose="02040602050305030304" pitchFamily="18" charset="0"/>
              </a:rPr>
              <a:t>: </a:t>
            </a:r>
            <a:r>
              <a:rPr lang="en-US" dirty="0" smtClean="0">
                <a:solidFill>
                  <a:schemeClr val="tx1"/>
                </a:solidFill>
                <a:latin typeface="Book Antiqua" panose="02040602050305030304" pitchFamily="18" charset="0"/>
              </a:rPr>
              <a:t>Text </a:t>
            </a:r>
            <a:r>
              <a:rPr lang="en-US" dirty="0">
                <a:solidFill>
                  <a:schemeClr val="tx1"/>
                </a:solidFill>
                <a:latin typeface="Book Antiqua" panose="02040602050305030304" pitchFamily="18" charset="0"/>
              </a:rPr>
              <a:t>is represented as a bit pattern, a sequence of </a:t>
            </a:r>
            <a:r>
              <a:rPr lang="en-US" dirty="0" smtClean="0">
                <a:solidFill>
                  <a:schemeClr val="tx1"/>
                </a:solidFill>
                <a:latin typeface="Book Antiqua" panose="02040602050305030304" pitchFamily="18" charset="0"/>
              </a:rPr>
              <a:t>bits. Each pattern is designed to represent the text symbols. Each set is called code. And the process of representing the symbol is called coding.</a:t>
            </a:r>
          </a:p>
          <a:p>
            <a:pPr marL="457200" indent="-457200" algn="l">
              <a:buFont typeface="Arial" panose="020B0604020202020204" pitchFamily="34" charset="0"/>
              <a:buChar char="•"/>
            </a:pPr>
            <a:r>
              <a:rPr lang="en-US" b="1" dirty="0" smtClean="0">
                <a:solidFill>
                  <a:srgbClr val="0070C0"/>
                </a:solidFill>
                <a:latin typeface="Book Antiqua" panose="02040602050305030304" pitchFamily="18" charset="0"/>
              </a:rPr>
              <a:t>Numbers: </a:t>
            </a:r>
            <a:r>
              <a:rPr lang="en-US" dirty="0">
                <a:solidFill>
                  <a:schemeClr val="tx1"/>
                </a:solidFill>
                <a:latin typeface="Book Antiqua" panose="02040602050305030304" pitchFamily="18" charset="0"/>
              </a:rPr>
              <a:t>Numbers are also represented by bit patterns. </a:t>
            </a:r>
            <a:r>
              <a:rPr lang="en-US" dirty="0" smtClean="0">
                <a:solidFill>
                  <a:schemeClr val="tx1"/>
                </a:solidFill>
                <a:latin typeface="Book Antiqua" panose="02040602050305030304" pitchFamily="18" charset="0"/>
              </a:rPr>
              <a:t>The </a:t>
            </a:r>
            <a:r>
              <a:rPr lang="en-US" dirty="0">
                <a:solidFill>
                  <a:schemeClr val="tx1"/>
                </a:solidFill>
                <a:latin typeface="Book Antiqua" panose="02040602050305030304" pitchFamily="18" charset="0"/>
              </a:rPr>
              <a:t>number is directly converted to a binary number to </a:t>
            </a:r>
            <a:r>
              <a:rPr lang="en-US" dirty="0" smtClean="0">
                <a:solidFill>
                  <a:schemeClr val="tx1"/>
                </a:solidFill>
                <a:latin typeface="Book Antiqua" panose="02040602050305030304" pitchFamily="18" charset="0"/>
              </a:rPr>
              <a:t>simplify mathematical </a:t>
            </a:r>
            <a:r>
              <a:rPr lang="en-US" dirty="0">
                <a:solidFill>
                  <a:schemeClr val="tx1"/>
                </a:solidFill>
                <a:latin typeface="Book Antiqua" panose="02040602050305030304" pitchFamily="18" charset="0"/>
              </a:rPr>
              <a:t>operations</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b="1" dirty="0">
                <a:solidFill>
                  <a:srgbClr val="0070C0"/>
                </a:solidFill>
                <a:latin typeface="Book Antiqua" panose="02040602050305030304" pitchFamily="18" charset="0"/>
              </a:rPr>
              <a:t>Images: </a:t>
            </a:r>
            <a:r>
              <a:rPr lang="en-US" dirty="0">
                <a:solidFill>
                  <a:schemeClr val="tx1"/>
                </a:solidFill>
                <a:latin typeface="Book Antiqua" panose="02040602050305030304" pitchFamily="18" charset="0"/>
              </a:rPr>
              <a:t>Images are also represented by bit patterns. In its simplest form, an image is </a:t>
            </a:r>
            <a:r>
              <a:rPr lang="en-US" dirty="0" smtClean="0">
                <a:solidFill>
                  <a:schemeClr val="tx1"/>
                </a:solidFill>
                <a:latin typeface="Book Antiqua" panose="02040602050305030304" pitchFamily="18" charset="0"/>
              </a:rPr>
              <a:t>composed of </a:t>
            </a:r>
            <a:r>
              <a:rPr lang="en-US" dirty="0">
                <a:solidFill>
                  <a:schemeClr val="tx1"/>
                </a:solidFill>
                <a:latin typeface="Book Antiqua" panose="02040602050305030304" pitchFamily="18" charset="0"/>
              </a:rPr>
              <a:t>a matrix of </a:t>
            </a:r>
            <a:r>
              <a:rPr lang="en-US" dirty="0" smtClean="0">
                <a:solidFill>
                  <a:schemeClr val="tx1"/>
                </a:solidFill>
                <a:latin typeface="Book Antiqua" panose="02040602050305030304" pitchFamily="18" charset="0"/>
              </a:rPr>
              <a:t>pixels.</a:t>
            </a:r>
          </a:p>
          <a:p>
            <a:pPr marL="457200" indent="-457200" algn="l">
              <a:buFont typeface="Arial" panose="020B0604020202020204" pitchFamily="34" charset="0"/>
              <a:buChar char="•"/>
            </a:pPr>
            <a:endParaRPr lang="en-US" dirty="0" smtClean="0">
              <a:solidFill>
                <a:schemeClr val="tx1"/>
              </a:solidFill>
              <a:latin typeface="Book Antiqua" panose="02040602050305030304" pitchFamily="18" charset="0"/>
            </a:endParaRPr>
          </a:p>
        </p:txBody>
      </p:sp>
    </p:spTree>
    <p:extLst>
      <p:ext uri="{BB962C8B-B14F-4D97-AF65-F5344CB8AC3E}">
        <p14:creationId xmlns:p14="http://schemas.microsoft.com/office/powerpoint/2010/main" val="118438365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Data Representation</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lstStyle/>
          <a:p>
            <a:pPr marL="457200" indent="-457200" algn="l">
              <a:buFont typeface="Arial" panose="020B0604020202020204" pitchFamily="34" charset="0"/>
              <a:buChar char="•"/>
            </a:pPr>
            <a:r>
              <a:rPr lang="en-US" b="1" dirty="0" smtClean="0">
                <a:solidFill>
                  <a:srgbClr val="0070C0"/>
                </a:solidFill>
                <a:latin typeface="Book Antiqua" panose="02040602050305030304" pitchFamily="18" charset="0"/>
              </a:rPr>
              <a:t>Audio: </a:t>
            </a:r>
            <a:r>
              <a:rPr lang="en-US" dirty="0" smtClean="0">
                <a:solidFill>
                  <a:schemeClr val="tx1"/>
                </a:solidFill>
                <a:latin typeface="Book Antiqua" panose="02040602050305030304" pitchFamily="18" charset="0"/>
              </a:rPr>
              <a:t>Audio </a:t>
            </a:r>
            <a:r>
              <a:rPr lang="en-US" dirty="0">
                <a:solidFill>
                  <a:schemeClr val="tx1"/>
                </a:solidFill>
                <a:latin typeface="Book Antiqua" panose="02040602050305030304" pitchFamily="18" charset="0"/>
              </a:rPr>
              <a:t>refers to the recording or broadcasting of sound or music. Audio is by </a:t>
            </a:r>
            <a:r>
              <a:rPr lang="en-US" dirty="0" smtClean="0">
                <a:solidFill>
                  <a:schemeClr val="tx1"/>
                </a:solidFill>
                <a:latin typeface="Book Antiqua" panose="02040602050305030304" pitchFamily="18" charset="0"/>
              </a:rPr>
              <a:t>nature different </a:t>
            </a:r>
            <a:r>
              <a:rPr lang="en-US" dirty="0">
                <a:solidFill>
                  <a:schemeClr val="tx1"/>
                </a:solidFill>
                <a:latin typeface="Book Antiqua" panose="02040602050305030304" pitchFamily="18" charset="0"/>
              </a:rPr>
              <a:t>from text, numbers, or images. It is continuous, not discrete</a:t>
            </a:r>
            <a:r>
              <a:rPr lang="en-US" dirty="0" smtClean="0">
                <a:latin typeface="Book Antiqua" panose="02040602050305030304" pitchFamily="18" charset="0"/>
              </a:rPr>
              <a:t>.</a:t>
            </a:r>
          </a:p>
          <a:p>
            <a:pPr marL="457200" indent="-457200" algn="l">
              <a:buFont typeface="Arial" panose="020B0604020202020204" pitchFamily="34" charset="0"/>
              <a:buChar char="•"/>
            </a:pPr>
            <a:r>
              <a:rPr lang="en-US" b="1" dirty="0" smtClean="0">
                <a:solidFill>
                  <a:srgbClr val="0070C0"/>
                </a:solidFill>
                <a:latin typeface="Book Antiqua" panose="02040602050305030304" pitchFamily="18" charset="0"/>
              </a:rPr>
              <a:t>Video: </a:t>
            </a:r>
            <a:r>
              <a:rPr lang="en-US" dirty="0" smtClean="0">
                <a:solidFill>
                  <a:schemeClr val="tx1"/>
                </a:solidFill>
                <a:latin typeface="Book Antiqua" panose="02040602050305030304" pitchFamily="18" charset="0"/>
              </a:rPr>
              <a:t>Video </a:t>
            </a:r>
            <a:r>
              <a:rPr lang="en-US" dirty="0">
                <a:solidFill>
                  <a:schemeClr val="tx1"/>
                </a:solidFill>
                <a:latin typeface="Book Antiqua" panose="02040602050305030304" pitchFamily="18" charset="0"/>
              </a:rPr>
              <a:t>refers to the recording or broadcasting of a picture or movie</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Video can either </a:t>
            </a:r>
            <a:r>
              <a:rPr lang="en-US" dirty="0" smtClean="0">
                <a:solidFill>
                  <a:schemeClr val="tx1"/>
                </a:solidFill>
                <a:latin typeface="Book Antiqua" panose="02040602050305030304" pitchFamily="18" charset="0"/>
              </a:rPr>
              <a:t>be produced </a:t>
            </a:r>
            <a:r>
              <a:rPr lang="en-US" dirty="0">
                <a:solidFill>
                  <a:schemeClr val="tx1"/>
                </a:solidFill>
                <a:latin typeface="Book Antiqua" panose="02040602050305030304" pitchFamily="18" charset="0"/>
              </a:rPr>
              <a:t>as a continuous entity (e.g., by a TV camera), or it can be a </a:t>
            </a:r>
            <a:r>
              <a:rPr lang="en-US">
                <a:solidFill>
                  <a:schemeClr val="tx1"/>
                </a:solidFill>
                <a:latin typeface="Book Antiqua" panose="02040602050305030304" pitchFamily="18" charset="0"/>
              </a:rPr>
              <a:t>combination </a:t>
            </a:r>
            <a:r>
              <a:rPr lang="en-US" smtClean="0">
                <a:solidFill>
                  <a:schemeClr val="tx1"/>
                </a:solidFill>
                <a:latin typeface="Book Antiqua" panose="02040602050305030304" pitchFamily="18" charset="0"/>
              </a:rPr>
              <a:t>of images</a:t>
            </a:r>
            <a:r>
              <a:rPr lang="en-US" dirty="0">
                <a:solidFill>
                  <a:schemeClr val="tx1"/>
                </a:solidFill>
                <a:latin typeface="Book Antiqua" panose="02040602050305030304" pitchFamily="18" charset="0"/>
              </a:rPr>
              <a:t>, each a discrete entity, arranged to convey the idea of motion.</a:t>
            </a:r>
          </a:p>
        </p:txBody>
      </p:sp>
    </p:spTree>
    <p:extLst>
      <p:ext uri="{BB962C8B-B14F-4D97-AF65-F5344CB8AC3E}">
        <p14:creationId xmlns:p14="http://schemas.microsoft.com/office/powerpoint/2010/main" val="352503300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Data Flow</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lstStyle/>
          <a:p>
            <a:pPr marL="457200" indent="-457200" algn="l">
              <a:buFont typeface="Arial" panose="020B0604020202020204" pitchFamily="34" charset="0"/>
              <a:buChar char="•"/>
            </a:pPr>
            <a:r>
              <a:rPr lang="en-US" dirty="0">
                <a:solidFill>
                  <a:schemeClr val="tx1"/>
                </a:solidFill>
                <a:latin typeface="Book Antiqua" panose="02040602050305030304" pitchFamily="18" charset="0"/>
              </a:rPr>
              <a:t>Communication between two devices can be simplex, half-duplex, or </a:t>
            </a:r>
            <a:r>
              <a:rPr lang="en-US" dirty="0" smtClean="0">
                <a:solidFill>
                  <a:schemeClr val="tx1"/>
                </a:solidFill>
                <a:latin typeface="Book Antiqua" panose="02040602050305030304" pitchFamily="18" charset="0"/>
              </a:rPr>
              <a:t>full-duplex.</a:t>
            </a:r>
          </a:p>
          <a:p>
            <a:pPr marL="457200" indent="-457200" algn="l">
              <a:buFont typeface="Arial" panose="020B0604020202020204" pitchFamily="34" charset="0"/>
              <a:buChar char="•"/>
            </a:pPr>
            <a:endParaRPr lang="en-US" dirty="0">
              <a:solidFill>
                <a:schemeClr val="tx1"/>
              </a:solidFill>
              <a:latin typeface="Book Antiqua" panose="020406020503050303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752600"/>
            <a:ext cx="6629400" cy="48874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0164133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Simplex</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fontScale="92500" lnSpcReduction="10000"/>
          </a:bodyPr>
          <a:lstStyle/>
          <a:p>
            <a:pPr marL="457200" indent="-457200" algn="l">
              <a:buFont typeface="Arial" panose="020B0604020202020204" pitchFamily="34" charset="0"/>
              <a:buChar char="•"/>
            </a:pPr>
            <a:r>
              <a:rPr lang="en-US" dirty="0">
                <a:solidFill>
                  <a:schemeClr val="tx1"/>
                </a:solidFill>
                <a:latin typeface="Book Antiqua" panose="02040602050305030304" pitchFamily="18" charset="0"/>
              </a:rPr>
              <a:t>In simplex mode, the communication is unidirectional, as on a one-way street</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Only </a:t>
            </a:r>
            <a:r>
              <a:rPr lang="en-US" dirty="0" smtClean="0">
                <a:solidFill>
                  <a:schemeClr val="tx1"/>
                </a:solidFill>
                <a:latin typeface="Book Antiqua" panose="02040602050305030304" pitchFamily="18" charset="0"/>
              </a:rPr>
              <a:t>one of </a:t>
            </a:r>
            <a:r>
              <a:rPr lang="en-US" dirty="0">
                <a:solidFill>
                  <a:schemeClr val="tx1"/>
                </a:solidFill>
                <a:latin typeface="Book Antiqua" panose="02040602050305030304" pitchFamily="18" charset="0"/>
              </a:rPr>
              <a:t>the two devices on a link can transmit; the other can only </a:t>
            </a:r>
            <a:r>
              <a:rPr lang="en-US" dirty="0" smtClean="0">
                <a:solidFill>
                  <a:schemeClr val="tx1"/>
                </a:solidFill>
                <a:latin typeface="Book Antiqua" panose="02040602050305030304" pitchFamily="18" charset="0"/>
              </a:rPr>
              <a:t>receive.</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Keyboards and traditional monitors are examples of simplex devices</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The </a:t>
            </a:r>
            <a:r>
              <a:rPr lang="en-US" dirty="0" smtClean="0">
                <a:solidFill>
                  <a:schemeClr val="tx1"/>
                </a:solidFill>
                <a:latin typeface="Book Antiqua" panose="02040602050305030304" pitchFamily="18" charset="0"/>
              </a:rPr>
              <a:t>keyboard can </a:t>
            </a:r>
            <a:r>
              <a:rPr lang="en-US" dirty="0">
                <a:solidFill>
                  <a:schemeClr val="tx1"/>
                </a:solidFill>
                <a:latin typeface="Book Antiqua" panose="02040602050305030304" pitchFamily="18" charset="0"/>
              </a:rPr>
              <a:t>only introduce input; the monitor can only accept output</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The simplex </a:t>
            </a:r>
            <a:r>
              <a:rPr lang="en-US" dirty="0" smtClean="0">
                <a:solidFill>
                  <a:schemeClr val="tx1"/>
                </a:solidFill>
                <a:latin typeface="Book Antiqua" panose="02040602050305030304" pitchFamily="18" charset="0"/>
              </a:rPr>
              <a:t>mode can </a:t>
            </a:r>
            <a:r>
              <a:rPr lang="en-US" dirty="0">
                <a:solidFill>
                  <a:schemeClr val="tx1"/>
                </a:solidFill>
                <a:latin typeface="Book Antiqua" panose="02040602050305030304" pitchFamily="18" charset="0"/>
              </a:rPr>
              <a:t>use the entire capacity of the channel to send data in one direction</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smtClean="0">
                <a:solidFill>
                  <a:schemeClr val="tx1"/>
                </a:solidFill>
                <a:latin typeface="Book Antiqua" panose="02040602050305030304" pitchFamily="18" charset="0"/>
              </a:rPr>
              <a:t>Example: TV and radio station, were information transmitted from transmitter devices to multiple devices.</a:t>
            </a:r>
            <a:endParaRPr lang="en-US" dirty="0">
              <a:solidFill>
                <a:schemeClr val="tx1"/>
              </a:solidFill>
              <a:latin typeface="Book Antiqua" panose="02040602050305030304" pitchFamily="18" charset="0"/>
            </a:endParaRPr>
          </a:p>
        </p:txBody>
      </p:sp>
    </p:spTree>
    <p:extLst>
      <p:ext uri="{BB962C8B-B14F-4D97-AF65-F5344CB8AC3E}">
        <p14:creationId xmlns:p14="http://schemas.microsoft.com/office/powerpoint/2010/main" val="32618614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Half-Duplex</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096000"/>
          </a:xfrm>
        </p:spPr>
        <p:txBody>
          <a:bodyPr>
            <a:normAutofit fontScale="85000" lnSpcReduction="10000"/>
          </a:bodyPr>
          <a:lstStyle/>
          <a:p>
            <a:pPr marL="457200" indent="-457200" algn="l">
              <a:buFont typeface="Arial" panose="020B0604020202020204" pitchFamily="34" charset="0"/>
              <a:buChar char="•"/>
            </a:pPr>
            <a:r>
              <a:rPr lang="en-US" dirty="0">
                <a:solidFill>
                  <a:schemeClr val="tx1"/>
                </a:solidFill>
                <a:latin typeface="Book Antiqua" panose="02040602050305030304" pitchFamily="18" charset="0"/>
              </a:rPr>
              <a:t>In half-duplex mode, each station can both transmit and receive, but not at the same time</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When one device is sending, the other can only receive, and vice </a:t>
            </a:r>
            <a:r>
              <a:rPr lang="en-US" dirty="0" smtClean="0">
                <a:solidFill>
                  <a:schemeClr val="tx1"/>
                </a:solidFill>
                <a:latin typeface="Book Antiqua" panose="02040602050305030304" pitchFamily="18" charset="0"/>
              </a:rPr>
              <a:t>versa.</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The half-duplex mode is like a one-lane road with traffic allowed in both directions. When cars are traveling in one direction, cars going the other way must wait</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smtClean="0">
                <a:solidFill>
                  <a:schemeClr val="tx1"/>
                </a:solidFill>
                <a:latin typeface="Book Antiqua" panose="02040602050305030304" pitchFamily="18" charset="0"/>
              </a:rPr>
              <a:t>The </a:t>
            </a:r>
            <a:r>
              <a:rPr lang="en-US" dirty="0">
                <a:solidFill>
                  <a:schemeClr val="tx1"/>
                </a:solidFill>
                <a:latin typeface="Book Antiqua" panose="02040602050305030304" pitchFamily="18" charset="0"/>
              </a:rPr>
              <a:t>entire capacity of a channel is taken over by whichever </a:t>
            </a:r>
            <a:r>
              <a:rPr lang="en-US" dirty="0" smtClean="0">
                <a:solidFill>
                  <a:schemeClr val="tx1"/>
                </a:solidFill>
                <a:latin typeface="Book Antiqua" panose="02040602050305030304" pitchFamily="18" charset="0"/>
              </a:rPr>
              <a:t>of the </a:t>
            </a:r>
            <a:r>
              <a:rPr lang="en-US" dirty="0">
                <a:solidFill>
                  <a:schemeClr val="tx1"/>
                </a:solidFill>
                <a:latin typeface="Book Antiqua" panose="02040602050305030304" pitchFamily="18" charset="0"/>
              </a:rPr>
              <a:t>two devices is transmitting at the time</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the entire capacity of the channel can be utilized </a:t>
            </a:r>
            <a:r>
              <a:rPr lang="en-US" dirty="0" smtClean="0">
                <a:solidFill>
                  <a:schemeClr val="tx1"/>
                </a:solidFill>
                <a:latin typeface="Book Antiqua" panose="02040602050305030304" pitchFamily="18" charset="0"/>
              </a:rPr>
              <a:t>for each </a:t>
            </a:r>
            <a:r>
              <a:rPr lang="en-US" dirty="0">
                <a:solidFill>
                  <a:schemeClr val="tx1"/>
                </a:solidFill>
                <a:latin typeface="Book Antiqua" panose="02040602050305030304" pitchFamily="18" charset="0"/>
              </a:rPr>
              <a:t>direction</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An example of a half-duplex device is a walkie-talkie, a two-way radio that has a </a:t>
            </a:r>
            <a:r>
              <a:rPr lang="en-US" dirty="0" smtClean="0">
                <a:solidFill>
                  <a:schemeClr val="tx1"/>
                </a:solidFill>
                <a:latin typeface="Book Antiqua" panose="02040602050305030304" pitchFamily="18" charset="0"/>
              </a:rPr>
              <a:t>push to-talk </a:t>
            </a:r>
            <a:r>
              <a:rPr lang="en-US" dirty="0">
                <a:solidFill>
                  <a:schemeClr val="tx1"/>
                </a:solidFill>
                <a:latin typeface="Book Antiqua" panose="02040602050305030304" pitchFamily="18" charset="0"/>
              </a:rPr>
              <a:t>button.</a:t>
            </a:r>
          </a:p>
        </p:txBody>
      </p:sp>
    </p:spTree>
    <p:extLst>
      <p:ext uri="{BB962C8B-B14F-4D97-AF65-F5344CB8AC3E}">
        <p14:creationId xmlns:p14="http://schemas.microsoft.com/office/powerpoint/2010/main" val="52592346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Full-Duplex</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lnSpcReduction="10000"/>
          </a:bodyPr>
          <a:lstStyle/>
          <a:p>
            <a:pPr marL="457200" indent="-457200" algn="l">
              <a:buFont typeface="Arial" panose="020B0604020202020204" pitchFamily="34" charset="0"/>
              <a:buChar char="•"/>
            </a:pPr>
            <a:r>
              <a:rPr lang="en-US" dirty="0">
                <a:solidFill>
                  <a:schemeClr val="tx1"/>
                </a:solidFill>
                <a:latin typeface="Book Antiqua" panose="02040602050305030304" pitchFamily="18" charset="0"/>
              </a:rPr>
              <a:t>In full-duplex </a:t>
            </a:r>
            <a:r>
              <a:rPr lang="en-US" dirty="0" smtClean="0">
                <a:solidFill>
                  <a:schemeClr val="tx1"/>
                </a:solidFill>
                <a:latin typeface="Book Antiqua" panose="02040602050305030304" pitchFamily="18" charset="0"/>
              </a:rPr>
              <a:t>mode (duplex</a:t>
            </a:r>
            <a:r>
              <a:rPr lang="en-US" dirty="0">
                <a:solidFill>
                  <a:schemeClr val="tx1"/>
                </a:solidFill>
                <a:latin typeface="Book Antiqua" panose="02040602050305030304" pitchFamily="18" charset="0"/>
              </a:rPr>
              <a:t>), both stations can transmit and </a:t>
            </a:r>
            <a:r>
              <a:rPr lang="en-US" dirty="0" smtClean="0">
                <a:solidFill>
                  <a:schemeClr val="tx1"/>
                </a:solidFill>
                <a:latin typeface="Book Antiqua" panose="02040602050305030304" pitchFamily="18" charset="0"/>
              </a:rPr>
              <a:t>receive simultaneously.</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The full-duplex mode is like a </a:t>
            </a:r>
            <a:r>
              <a:rPr lang="en-US" dirty="0" smtClean="0">
                <a:solidFill>
                  <a:schemeClr val="tx1"/>
                </a:solidFill>
                <a:latin typeface="Book Antiqua" panose="02040602050305030304" pitchFamily="18" charset="0"/>
              </a:rPr>
              <a:t>two-way </a:t>
            </a:r>
            <a:r>
              <a:rPr lang="en-US" dirty="0">
                <a:solidFill>
                  <a:schemeClr val="tx1"/>
                </a:solidFill>
                <a:latin typeface="Book Antiqua" panose="02040602050305030304" pitchFamily="18" charset="0"/>
              </a:rPr>
              <a:t>street with traffic flowing in both </a:t>
            </a:r>
            <a:r>
              <a:rPr lang="en-US" dirty="0" smtClean="0">
                <a:solidFill>
                  <a:schemeClr val="tx1"/>
                </a:solidFill>
                <a:latin typeface="Book Antiqua" panose="02040602050305030304" pitchFamily="18" charset="0"/>
              </a:rPr>
              <a:t>directions at </a:t>
            </a:r>
            <a:r>
              <a:rPr lang="en-US" dirty="0">
                <a:solidFill>
                  <a:schemeClr val="tx1"/>
                </a:solidFill>
                <a:latin typeface="Book Antiqua" panose="02040602050305030304" pitchFamily="18" charset="0"/>
              </a:rPr>
              <a:t>the same time</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In full-duplex mode, </a:t>
            </a:r>
            <a:r>
              <a:rPr lang="en-US" dirty="0" smtClean="0">
                <a:solidFill>
                  <a:schemeClr val="tx1"/>
                </a:solidFill>
                <a:latin typeface="Book Antiqua" panose="02040602050305030304" pitchFamily="18" charset="0"/>
              </a:rPr>
              <a:t>signals </a:t>
            </a:r>
            <a:r>
              <a:rPr lang="en-US" dirty="0">
                <a:solidFill>
                  <a:schemeClr val="tx1"/>
                </a:solidFill>
                <a:latin typeface="Book Antiqua" panose="02040602050305030304" pitchFamily="18" charset="0"/>
              </a:rPr>
              <a:t>going in one direction share </a:t>
            </a:r>
            <a:r>
              <a:rPr lang="en-US" dirty="0" smtClean="0">
                <a:solidFill>
                  <a:schemeClr val="tx1"/>
                </a:solidFill>
                <a:latin typeface="Book Antiqua" panose="02040602050305030304" pitchFamily="18" charset="0"/>
              </a:rPr>
              <a:t>the capacity </a:t>
            </a:r>
            <a:r>
              <a:rPr lang="en-US" dirty="0">
                <a:solidFill>
                  <a:schemeClr val="tx1"/>
                </a:solidFill>
                <a:latin typeface="Book Antiqua" panose="02040602050305030304" pitchFamily="18" charset="0"/>
              </a:rPr>
              <a:t>of the link: with signals going in the other </a:t>
            </a:r>
            <a:r>
              <a:rPr lang="en-US" dirty="0" smtClean="0">
                <a:solidFill>
                  <a:schemeClr val="tx1"/>
                </a:solidFill>
                <a:latin typeface="Book Antiqua" panose="02040602050305030304" pitchFamily="18" charset="0"/>
              </a:rPr>
              <a:t>direction.</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This sharing can occur </a:t>
            </a:r>
            <a:r>
              <a:rPr lang="en-US" dirty="0" smtClean="0">
                <a:solidFill>
                  <a:schemeClr val="tx1"/>
                </a:solidFill>
                <a:latin typeface="Book Antiqua" panose="02040602050305030304" pitchFamily="18" charset="0"/>
              </a:rPr>
              <a:t>in two </a:t>
            </a:r>
            <a:r>
              <a:rPr lang="en-US" dirty="0">
                <a:solidFill>
                  <a:schemeClr val="tx1"/>
                </a:solidFill>
                <a:latin typeface="Book Antiqua" panose="02040602050305030304" pitchFamily="18" charset="0"/>
              </a:rPr>
              <a:t>ways</a:t>
            </a:r>
            <a:r>
              <a:rPr lang="en-US" dirty="0" smtClean="0">
                <a:solidFill>
                  <a:schemeClr val="tx1"/>
                </a:solidFill>
                <a:latin typeface="Book Antiqua" panose="02040602050305030304" pitchFamily="18" charset="0"/>
              </a:rPr>
              <a:t>:</a:t>
            </a:r>
          </a:p>
          <a:p>
            <a:pPr marL="914400" lvl="1" indent="-457200" algn="l">
              <a:buFont typeface="Arial" panose="020B0604020202020204" pitchFamily="34" charset="0"/>
              <a:buChar char="•"/>
            </a:pPr>
            <a:r>
              <a:rPr lang="en-US" sz="2000" dirty="0">
                <a:solidFill>
                  <a:schemeClr val="tx1"/>
                </a:solidFill>
                <a:latin typeface="Book Antiqua" panose="02040602050305030304" pitchFamily="18" charset="0"/>
              </a:rPr>
              <a:t>Either the link must contain two physically separate </a:t>
            </a:r>
            <a:r>
              <a:rPr lang="en-US" sz="2000" dirty="0" smtClean="0">
                <a:solidFill>
                  <a:schemeClr val="tx1"/>
                </a:solidFill>
                <a:latin typeface="Book Antiqua" panose="02040602050305030304" pitchFamily="18" charset="0"/>
              </a:rPr>
              <a:t>transmission </a:t>
            </a:r>
            <a:r>
              <a:rPr lang="en-US" sz="2000" dirty="0">
                <a:solidFill>
                  <a:schemeClr val="tx1"/>
                </a:solidFill>
                <a:latin typeface="Book Antiqua" panose="02040602050305030304" pitchFamily="18" charset="0"/>
              </a:rPr>
              <a:t>paths, </a:t>
            </a:r>
            <a:r>
              <a:rPr lang="en-US" sz="2000" dirty="0" smtClean="0">
                <a:solidFill>
                  <a:schemeClr val="tx1"/>
                </a:solidFill>
                <a:latin typeface="Book Antiqua" panose="02040602050305030304" pitchFamily="18" charset="0"/>
              </a:rPr>
              <a:t>one for </a:t>
            </a:r>
            <a:r>
              <a:rPr lang="en-US" sz="2000" dirty="0">
                <a:solidFill>
                  <a:schemeClr val="tx1"/>
                </a:solidFill>
                <a:latin typeface="Book Antiqua" panose="02040602050305030304" pitchFamily="18" charset="0"/>
              </a:rPr>
              <a:t>sending and the other for </a:t>
            </a:r>
            <a:r>
              <a:rPr lang="en-US" sz="2000" dirty="0" smtClean="0">
                <a:solidFill>
                  <a:schemeClr val="tx1"/>
                </a:solidFill>
                <a:latin typeface="Book Antiqua" panose="02040602050305030304" pitchFamily="18" charset="0"/>
              </a:rPr>
              <a:t>receiving. </a:t>
            </a:r>
            <a:r>
              <a:rPr lang="en-US" sz="2000" b="1" dirty="0" smtClean="0">
                <a:solidFill>
                  <a:srgbClr val="FF0000"/>
                </a:solidFill>
                <a:latin typeface="Book Antiqua" panose="02040602050305030304" pitchFamily="18" charset="0"/>
              </a:rPr>
              <a:t>Or</a:t>
            </a:r>
          </a:p>
          <a:p>
            <a:pPr marL="914400" lvl="1" indent="-457200" algn="l">
              <a:buFont typeface="Arial" panose="020B0604020202020204" pitchFamily="34" charset="0"/>
              <a:buChar char="•"/>
            </a:pPr>
            <a:r>
              <a:rPr lang="en-US" sz="2000" dirty="0">
                <a:solidFill>
                  <a:schemeClr val="tx1"/>
                </a:solidFill>
                <a:latin typeface="Book Antiqua" panose="02040602050305030304" pitchFamily="18" charset="0"/>
              </a:rPr>
              <a:t>The capacity of the </a:t>
            </a:r>
            <a:r>
              <a:rPr lang="en-US" sz="2000" dirty="0" smtClean="0">
                <a:solidFill>
                  <a:schemeClr val="tx1"/>
                </a:solidFill>
                <a:latin typeface="Book Antiqua" panose="02040602050305030304" pitchFamily="18" charset="0"/>
              </a:rPr>
              <a:t>channel </a:t>
            </a:r>
            <a:r>
              <a:rPr lang="en-US" sz="2000" dirty="0">
                <a:solidFill>
                  <a:schemeClr val="tx1"/>
                </a:solidFill>
                <a:latin typeface="Book Antiqua" panose="02040602050305030304" pitchFamily="18" charset="0"/>
              </a:rPr>
              <a:t>is </a:t>
            </a:r>
            <a:r>
              <a:rPr lang="en-US" sz="2000" dirty="0" smtClean="0">
                <a:solidFill>
                  <a:schemeClr val="tx1"/>
                </a:solidFill>
                <a:latin typeface="Book Antiqua" panose="02040602050305030304" pitchFamily="18" charset="0"/>
              </a:rPr>
              <a:t>divided between </a:t>
            </a:r>
            <a:r>
              <a:rPr lang="en-US" sz="2000" dirty="0">
                <a:solidFill>
                  <a:schemeClr val="tx1"/>
                </a:solidFill>
                <a:latin typeface="Book Antiqua" panose="02040602050305030304" pitchFamily="18" charset="0"/>
              </a:rPr>
              <a:t>signals traveling in both directions</a:t>
            </a:r>
            <a:r>
              <a:rPr lang="en-US" sz="2000" dirty="0" smtClean="0">
                <a:solidFill>
                  <a:schemeClr val="tx1"/>
                </a:solidFill>
                <a:latin typeface="Book Antiqua" panose="02040602050305030304" pitchFamily="18" charset="0"/>
              </a:rPr>
              <a:t>.</a:t>
            </a:r>
            <a:endParaRPr lang="en-US" sz="2000" dirty="0">
              <a:solidFill>
                <a:schemeClr val="tx1"/>
              </a:solidFill>
              <a:latin typeface="Book Antiqua" panose="02040602050305030304" pitchFamily="18" charset="0"/>
            </a:endParaRPr>
          </a:p>
          <a:p>
            <a:pPr marL="914400" lvl="1" indent="-457200" algn="l">
              <a:buFont typeface="Arial" panose="020B0604020202020204" pitchFamily="34" charset="0"/>
              <a:buChar char="•"/>
            </a:pPr>
            <a:r>
              <a:rPr lang="en-US" sz="2000" dirty="0" smtClean="0">
                <a:solidFill>
                  <a:schemeClr val="tx1"/>
                </a:solidFill>
                <a:latin typeface="Book Antiqua" panose="02040602050305030304" pitchFamily="18" charset="0"/>
              </a:rPr>
              <a:t>Example telephone communication, were both can talk and listen at the same time.</a:t>
            </a:r>
            <a:endParaRPr lang="en-US" sz="2000" dirty="0">
              <a:solidFill>
                <a:schemeClr val="tx1"/>
              </a:solidFill>
              <a:latin typeface="Book Antiqua" panose="02040602050305030304" pitchFamily="18" charset="0"/>
            </a:endParaRPr>
          </a:p>
        </p:txBody>
      </p:sp>
    </p:spTree>
    <p:extLst>
      <p:ext uri="{BB962C8B-B14F-4D97-AF65-F5344CB8AC3E}">
        <p14:creationId xmlns:p14="http://schemas.microsoft.com/office/powerpoint/2010/main" val="63003054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Networks</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lnSpcReduction="10000"/>
          </a:bodyPr>
          <a:lstStyle/>
          <a:p>
            <a:pPr marL="457200" indent="-457200" algn="l">
              <a:buFont typeface="Arial" panose="020B0604020202020204" pitchFamily="34" charset="0"/>
              <a:buChar char="•"/>
            </a:pPr>
            <a:r>
              <a:rPr lang="en-US" dirty="0">
                <a:solidFill>
                  <a:schemeClr val="tx1"/>
                </a:solidFill>
                <a:latin typeface="Book Antiqua" panose="02040602050305030304" pitchFamily="18" charset="0"/>
              </a:rPr>
              <a:t>A network is a set of devices (often referred to as nodes) connected by </a:t>
            </a:r>
            <a:r>
              <a:rPr lang="en-US" dirty="0" smtClean="0">
                <a:solidFill>
                  <a:schemeClr val="tx1"/>
                </a:solidFill>
                <a:latin typeface="Book Antiqua" panose="02040602050305030304" pitchFamily="18" charset="0"/>
              </a:rPr>
              <a:t>communication links.</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A node can be a computer, printer, or any other device capable of sending </a:t>
            </a:r>
            <a:r>
              <a:rPr lang="en-US" dirty="0" smtClean="0">
                <a:solidFill>
                  <a:schemeClr val="tx1"/>
                </a:solidFill>
                <a:latin typeface="Book Antiqua" panose="02040602050305030304" pitchFamily="18" charset="0"/>
              </a:rPr>
              <a:t>and/or receiving </a:t>
            </a:r>
            <a:r>
              <a:rPr lang="en-US" dirty="0">
                <a:solidFill>
                  <a:schemeClr val="tx1"/>
                </a:solidFill>
                <a:latin typeface="Book Antiqua" panose="02040602050305030304" pitchFamily="18" charset="0"/>
              </a:rPr>
              <a:t>data generated by other nodes on the </a:t>
            </a:r>
            <a:r>
              <a:rPr lang="en-US" dirty="0" smtClean="0">
                <a:solidFill>
                  <a:schemeClr val="tx1"/>
                </a:solidFill>
                <a:latin typeface="Book Antiqua" panose="02040602050305030304" pitchFamily="18" charset="0"/>
              </a:rPr>
              <a:t>network.</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Most networks use distributed processing, in which a task is divided among </a:t>
            </a:r>
            <a:r>
              <a:rPr lang="en-US" dirty="0" smtClean="0">
                <a:solidFill>
                  <a:schemeClr val="tx1"/>
                </a:solidFill>
                <a:latin typeface="Book Antiqua" panose="02040602050305030304" pitchFamily="18" charset="0"/>
              </a:rPr>
              <a:t>multiple computers.</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Instead of one single large machine being responsible for all aspects of </a:t>
            </a:r>
            <a:r>
              <a:rPr lang="en-US" dirty="0" smtClean="0">
                <a:solidFill>
                  <a:schemeClr val="tx1"/>
                </a:solidFill>
                <a:latin typeface="Book Antiqua" panose="02040602050305030304" pitchFamily="18" charset="0"/>
              </a:rPr>
              <a:t>a process, multiple computer process and completes the task.</a:t>
            </a:r>
            <a:endParaRPr lang="en-US" dirty="0">
              <a:solidFill>
                <a:schemeClr val="tx1"/>
              </a:solidFill>
              <a:latin typeface="Book Antiqua" panose="02040602050305030304" pitchFamily="18" charset="0"/>
            </a:endParaRPr>
          </a:p>
        </p:txBody>
      </p:sp>
    </p:spTree>
    <p:extLst>
      <p:ext uri="{BB962C8B-B14F-4D97-AF65-F5344CB8AC3E}">
        <p14:creationId xmlns:p14="http://schemas.microsoft.com/office/powerpoint/2010/main" val="162212320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Network Criteria</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lstStyle/>
          <a:p>
            <a:pPr marL="457200" indent="-457200" algn="l">
              <a:buFont typeface="Arial" panose="020B0604020202020204" pitchFamily="34" charset="0"/>
              <a:buChar char="•"/>
            </a:pPr>
            <a:r>
              <a:rPr lang="en-US" dirty="0">
                <a:solidFill>
                  <a:schemeClr val="tx1"/>
                </a:solidFill>
                <a:latin typeface="Book Antiqua" panose="02040602050305030304" pitchFamily="18" charset="0"/>
              </a:rPr>
              <a:t>A network must be able to meet a certain number of criteria</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The most important </a:t>
            </a:r>
            <a:r>
              <a:rPr lang="en-US" dirty="0" smtClean="0">
                <a:solidFill>
                  <a:schemeClr val="tx1"/>
                </a:solidFill>
                <a:latin typeface="Book Antiqua" panose="02040602050305030304" pitchFamily="18" charset="0"/>
              </a:rPr>
              <a:t>of these </a:t>
            </a:r>
            <a:r>
              <a:rPr lang="en-US" dirty="0">
                <a:solidFill>
                  <a:schemeClr val="tx1"/>
                </a:solidFill>
                <a:latin typeface="Book Antiqua" panose="02040602050305030304" pitchFamily="18" charset="0"/>
              </a:rPr>
              <a:t>are </a:t>
            </a:r>
            <a:r>
              <a:rPr lang="en-US" dirty="0">
                <a:solidFill>
                  <a:srgbClr val="0070C0"/>
                </a:solidFill>
                <a:latin typeface="Book Antiqua" panose="02040602050305030304" pitchFamily="18" charset="0"/>
              </a:rPr>
              <a:t>performance, reliability, and security</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b="1" dirty="0">
                <a:solidFill>
                  <a:srgbClr val="0070C0"/>
                </a:solidFill>
                <a:latin typeface="Book Antiqua" panose="02040602050305030304" pitchFamily="18" charset="0"/>
              </a:rPr>
              <a:t>Performance: </a:t>
            </a:r>
            <a:r>
              <a:rPr lang="en-US" dirty="0" smtClean="0">
                <a:solidFill>
                  <a:schemeClr val="tx1"/>
                </a:solidFill>
                <a:latin typeface="Book Antiqua" panose="02040602050305030304" pitchFamily="18" charset="0"/>
              </a:rPr>
              <a:t>Performance can be measured in many ways, including transit time and response time.</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Transit time is the amount of time required for a message to travel from one device </a:t>
            </a:r>
            <a:r>
              <a:rPr lang="en-US" dirty="0" smtClean="0">
                <a:solidFill>
                  <a:schemeClr val="tx1"/>
                </a:solidFill>
                <a:latin typeface="Book Antiqua" panose="02040602050305030304" pitchFamily="18" charset="0"/>
              </a:rPr>
              <a:t>to another.</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Response time is the elapsed time between an inquiry and a response.</a:t>
            </a:r>
          </a:p>
        </p:txBody>
      </p:sp>
    </p:spTree>
    <p:extLst>
      <p:ext uri="{BB962C8B-B14F-4D97-AF65-F5344CB8AC3E}">
        <p14:creationId xmlns:p14="http://schemas.microsoft.com/office/powerpoint/2010/main" val="29079654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fontScale="90000"/>
          </a:bodyPr>
          <a:lstStyle/>
          <a:p>
            <a:r>
              <a:rPr lang="en-US" sz="3600" b="1" dirty="0" smtClean="0">
                <a:latin typeface="Book Antiqua" panose="02040602050305030304" pitchFamily="18" charset="0"/>
              </a:rPr>
              <a:t>Performance</a:t>
            </a:r>
            <a:br>
              <a:rPr lang="en-US" sz="3600" b="1" dirty="0" smtClean="0">
                <a:latin typeface="Book Antiqua" panose="02040602050305030304" pitchFamily="18" charset="0"/>
              </a:rPr>
            </a:b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lstStyle/>
          <a:p>
            <a:pPr marL="457200" indent="-457200" algn="l">
              <a:buFont typeface="Arial" panose="020B0604020202020204" pitchFamily="34" charset="0"/>
              <a:buChar char="•"/>
            </a:pPr>
            <a:r>
              <a:rPr lang="en-US" dirty="0">
                <a:solidFill>
                  <a:schemeClr val="tx1"/>
                </a:solidFill>
                <a:latin typeface="Book Antiqua" panose="02040602050305030304" pitchFamily="18" charset="0"/>
              </a:rPr>
              <a:t>The </a:t>
            </a:r>
            <a:r>
              <a:rPr lang="en-US" dirty="0" smtClean="0">
                <a:solidFill>
                  <a:schemeClr val="tx1"/>
                </a:solidFill>
                <a:latin typeface="Book Antiqua" panose="02040602050305030304" pitchFamily="18" charset="0"/>
              </a:rPr>
              <a:t>performance of </a:t>
            </a:r>
            <a:r>
              <a:rPr lang="en-US" dirty="0">
                <a:solidFill>
                  <a:schemeClr val="tx1"/>
                </a:solidFill>
                <a:latin typeface="Book Antiqua" panose="02040602050305030304" pitchFamily="18" charset="0"/>
              </a:rPr>
              <a:t>a network depends on a number of </a:t>
            </a:r>
            <a:r>
              <a:rPr lang="en-US" dirty="0" smtClean="0">
                <a:solidFill>
                  <a:schemeClr val="tx1"/>
                </a:solidFill>
                <a:latin typeface="Book Antiqua" panose="02040602050305030304" pitchFamily="18" charset="0"/>
              </a:rPr>
              <a:t>factors</a:t>
            </a:r>
          </a:p>
          <a:p>
            <a:pPr marL="914400" lvl="1" indent="-457200" algn="l">
              <a:buFont typeface="Arial" panose="020B0604020202020204" pitchFamily="34" charset="0"/>
              <a:buChar char="•"/>
            </a:pPr>
            <a:r>
              <a:rPr lang="en-US" dirty="0" smtClean="0">
                <a:solidFill>
                  <a:schemeClr val="tx1"/>
                </a:solidFill>
                <a:latin typeface="Book Antiqua" panose="02040602050305030304" pitchFamily="18" charset="0"/>
              </a:rPr>
              <a:t>Including </a:t>
            </a:r>
            <a:r>
              <a:rPr lang="en-US" dirty="0">
                <a:solidFill>
                  <a:schemeClr val="tx1"/>
                </a:solidFill>
                <a:latin typeface="Book Antiqua" panose="02040602050305030304" pitchFamily="18" charset="0"/>
              </a:rPr>
              <a:t>the number of </a:t>
            </a:r>
            <a:r>
              <a:rPr lang="en-US" dirty="0" smtClean="0">
                <a:solidFill>
                  <a:schemeClr val="tx1"/>
                </a:solidFill>
                <a:latin typeface="Book Antiqua" panose="02040602050305030304" pitchFamily="18" charset="0"/>
              </a:rPr>
              <a:t>users, the </a:t>
            </a:r>
            <a:r>
              <a:rPr lang="en-US" dirty="0">
                <a:solidFill>
                  <a:schemeClr val="tx1"/>
                </a:solidFill>
                <a:latin typeface="Book Antiqua" panose="02040602050305030304" pitchFamily="18" charset="0"/>
              </a:rPr>
              <a:t>type of transmission </a:t>
            </a:r>
            <a:r>
              <a:rPr lang="en-US" dirty="0" smtClean="0">
                <a:solidFill>
                  <a:schemeClr val="tx1"/>
                </a:solidFill>
                <a:latin typeface="Book Antiqua" panose="02040602050305030304" pitchFamily="18" charset="0"/>
              </a:rPr>
              <a:t>medium.</a:t>
            </a:r>
          </a:p>
          <a:p>
            <a:pPr marL="914400" lvl="1" indent="-457200" algn="l">
              <a:buFont typeface="Arial" panose="020B0604020202020204" pitchFamily="34" charset="0"/>
              <a:buChar char="•"/>
            </a:pPr>
            <a:r>
              <a:rPr lang="en-US" dirty="0" smtClean="0">
                <a:solidFill>
                  <a:schemeClr val="tx1"/>
                </a:solidFill>
                <a:latin typeface="Book Antiqua" panose="02040602050305030304" pitchFamily="18" charset="0"/>
              </a:rPr>
              <a:t>The </a:t>
            </a:r>
            <a:r>
              <a:rPr lang="en-US" dirty="0">
                <a:solidFill>
                  <a:schemeClr val="tx1"/>
                </a:solidFill>
                <a:latin typeface="Book Antiqua" panose="02040602050305030304" pitchFamily="18" charset="0"/>
              </a:rPr>
              <a:t>capabilities of the connected hardware, and </a:t>
            </a:r>
            <a:r>
              <a:rPr lang="en-US" dirty="0" smtClean="0">
                <a:solidFill>
                  <a:schemeClr val="tx1"/>
                </a:solidFill>
                <a:latin typeface="Book Antiqua" panose="02040602050305030304" pitchFamily="18" charset="0"/>
              </a:rPr>
              <a:t>the efficiency </a:t>
            </a:r>
            <a:r>
              <a:rPr lang="en-US" dirty="0">
                <a:solidFill>
                  <a:schemeClr val="tx1"/>
                </a:solidFill>
                <a:latin typeface="Book Antiqua" panose="02040602050305030304" pitchFamily="18" charset="0"/>
              </a:rPr>
              <a:t>of the software</a:t>
            </a:r>
            <a:r>
              <a:rPr lang="en-US" dirty="0" smtClean="0">
                <a:solidFill>
                  <a:schemeClr val="tx1"/>
                </a:solidFill>
                <a:latin typeface="Book Antiqua" panose="02040602050305030304" pitchFamily="18" charset="0"/>
              </a:rPr>
              <a:t>.</a:t>
            </a:r>
            <a:endParaRPr lang="en-US" dirty="0">
              <a:solidFill>
                <a:schemeClr val="tx1"/>
              </a:solidFill>
              <a:latin typeface="Book Antiqua" panose="02040602050305030304" pitchFamily="18" charset="0"/>
            </a:endParaRP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Performance is often evaluated by two networking metrics: throughput and delay</a:t>
            </a:r>
            <a:r>
              <a:rPr lang="en-US" dirty="0" smtClean="0">
                <a:solidFill>
                  <a:schemeClr val="tx1"/>
                </a:solidFill>
                <a:latin typeface="Book Antiqua" panose="02040602050305030304" pitchFamily="18" charset="0"/>
              </a:rPr>
              <a:t>.</a:t>
            </a:r>
          </a:p>
          <a:p>
            <a:pPr marL="914400" lvl="1" indent="-457200" algn="l">
              <a:buFont typeface="Arial" panose="020B0604020202020204" pitchFamily="34" charset="0"/>
              <a:buChar char="•"/>
            </a:pPr>
            <a:r>
              <a:rPr lang="en-US" sz="2000" b="1" dirty="0" smtClean="0">
                <a:solidFill>
                  <a:schemeClr val="tx1"/>
                </a:solidFill>
                <a:latin typeface="Book Antiqua" panose="02040602050305030304" pitchFamily="18" charset="0"/>
              </a:rPr>
              <a:t>The </a:t>
            </a:r>
            <a:r>
              <a:rPr lang="en-US" sz="2000" b="1" dirty="0">
                <a:solidFill>
                  <a:schemeClr val="tx1"/>
                </a:solidFill>
                <a:latin typeface="Book Antiqua" panose="02040602050305030304" pitchFamily="18" charset="0"/>
              </a:rPr>
              <a:t>number of bits per second actually transmitted through a network is the network </a:t>
            </a:r>
            <a:r>
              <a:rPr lang="en-US" sz="2000" b="1" dirty="0" smtClean="0">
                <a:solidFill>
                  <a:schemeClr val="tx1"/>
                </a:solidFill>
                <a:latin typeface="Book Antiqua" panose="02040602050305030304" pitchFamily="18" charset="0"/>
              </a:rPr>
              <a:t>throughput.</a:t>
            </a:r>
            <a:endParaRPr lang="en-US" sz="2000" b="1" dirty="0">
              <a:solidFill>
                <a:schemeClr val="tx1"/>
              </a:solidFill>
              <a:latin typeface="Book Antiqua" panose="02040602050305030304" pitchFamily="18" charset="0"/>
            </a:endParaRPr>
          </a:p>
          <a:p>
            <a:pPr marL="914400" lvl="1" indent="-457200" algn="l">
              <a:buFont typeface="Arial" panose="020B0604020202020204" pitchFamily="34" charset="0"/>
              <a:buChar char="•"/>
            </a:pPr>
            <a:r>
              <a:rPr lang="en-US" sz="2000" b="1" dirty="0" smtClean="0">
                <a:solidFill>
                  <a:schemeClr val="tx1"/>
                </a:solidFill>
                <a:latin typeface="Book Antiqua" panose="02040602050305030304" pitchFamily="18" charset="0"/>
              </a:rPr>
              <a:t>Delay/ latency </a:t>
            </a:r>
            <a:r>
              <a:rPr lang="en-US" sz="2000" b="1" dirty="0">
                <a:solidFill>
                  <a:schemeClr val="tx1"/>
                </a:solidFill>
                <a:latin typeface="Book Antiqua" panose="02040602050305030304" pitchFamily="18" charset="0"/>
              </a:rPr>
              <a:t>measures the time it takes for some data to get to its destination across the network. </a:t>
            </a:r>
          </a:p>
        </p:txBody>
      </p:sp>
    </p:spTree>
    <p:extLst>
      <p:ext uri="{BB962C8B-B14F-4D97-AF65-F5344CB8AC3E}">
        <p14:creationId xmlns:p14="http://schemas.microsoft.com/office/powerpoint/2010/main" val="397774145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Network criteria- Reliability and security</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lstStyle/>
          <a:p>
            <a:pPr marL="457200" indent="-457200" algn="l">
              <a:buFont typeface="Arial" panose="020B0604020202020204" pitchFamily="34" charset="0"/>
              <a:buChar char="•"/>
            </a:pPr>
            <a:r>
              <a:rPr lang="en-US" b="1" dirty="0" smtClean="0">
                <a:solidFill>
                  <a:srgbClr val="0070C0"/>
                </a:solidFill>
                <a:latin typeface="Book Antiqua" panose="02040602050305030304" pitchFamily="18" charset="0"/>
              </a:rPr>
              <a:t>Reliability</a:t>
            </a:r>
            <a:r>
              <a:rPr lang="en-US" dirty="0">
                <a:solidFill>
                  <a:schemeClr val="tx1"/>
                </a:solidFill>
                <a:latin typeface="Book Antiqua" panose="02040602050305030304" pitchFamily="18" charset="0"/>
              </a:rPr>
              <a:t>: </a:t>
            </a:r>
            <a:r>
              <a:rPr lang="en-US" dirty="0" smtClean="0">
                <a:solidFill>
                  <a:schemeClr val="tx1"/>
                </a:solidFill>
                <a:latin typeface="Book Antiqua" panose="02040602050305030304" pitchFamily="18" charset="0"/>
              </a:rPr>
              <a:t>Network </a:t>
            </a:r>
            <a:r>
              <a:rPr lang="en-US" dirty="0">
                <a:solidFill>
                  <a:schemeClr val="tx1"/>
                </a:solidFill>
                <a:latin typeface="Book Antiqua" panose="02040602050305030304" pitchFamily="18" charset="0"/>
              </a:rPr>
              <a:t>reliability is measured by the frequency </a:t>
            </a:r>
            <a:r>
              <a:rPr lang="en-US" dirty="0" smtClean="0">
                <a:solidFill>
                  <a:schemeClr val="tx1"/>
                </a:solidFill>
                <a:latin typeface="Book Antiqua" panose="02040602050305030304" pitchFamily="18" charset="0"/>
              </a:rPr>
              <a:t>of failure.</a:t>
            </a:r>
          </a:p>
          <a:p>
            <a:pPr marL="457200" indent="-457200" algn="l">
              <a:buFont typeface="Arial" panose="020B0604020202020204" pitchFamily="34" charset="0"/>
              <a:buChar char="•"/>
            </a:pPr>
            <a:r>
              <a:rPr lang="en-US" dirty="0" smtClean="0">
                <a:solidFill>
                  <a:schemeClr val="tx1"/>
                </a:solidFill>
                <a:latin typeface="Book Antiqua" panose="02040602050305030304" pitchFamily="18" charset="0"/>
              </a:rPr>
              <a:t>The </a:t>
            </a:r>
            <a:r>
              <a:rPr lang="en-US" dirty="0">
                <a:solidFill>
                  <a:schemeClr val="tx1"/>
                </a:solidFill>
                <a:latin typeface="Book Antiqua" panose="02040602050305030304" pitchFamily="18" charset="0"/>
              </a:rPr>
              <a:t>time it takes a link to recover from a failure, and the network's robustness </a:t>
            </a:r>
            <a:r>
              <a:rPr lang="en-US" dirty="0" smtClean="0">
                <a:solidFill>
                  <a:schemeClr val="tx1"/>
                </a:solidFill>
                <a:latin typeface="Book Antiqua" panose="02040602050305030304" pitchFamily="18" charset="0"/>
              </a:rPr>
              <a:t>in a </a:t>
            </a:r>
            <a:r>
              <a:rPr lang="en-US" dirty="0">
                <a:solidFill>
                  <a:schemeClr val="tx1"/>
                </a:solidFill>
                <a:latin typeface="Book Antiqua" panose="02040602050305030304" pitchFamily="18" charset="0"/>
              </a:rPr>
              <a:t>catastrophe</a:t>
            </a:r>
          </a:p>
          <a:p>
            <a:pPr marL="457200" indent="-457200" algn="l">
              <a:buFont typeface="Arial" panose="020B0604020202020204" pitchFamily="34" charset="0"/>
              <a:buChar char="•"/>
            </a:pPr>
            <a:r>
              <a:rPr lang="en-US" b="1" dirty="0">
                <a:solidFill>
                  <a:srgbClr val="0070C0"/>
                </a:solidFill>
                <a:latin typeface="Book Antiqua" panose="02040602050305030304" pitchFamily="18" charset="0"/>
              </a:rPr>
              <a:t>Security: </a:t>
            </a:r>
            <a:r>
              <a:rPr lang="en-US" dirty="0">
                <a:solidFill>
                  <a:schemeClr val="tx1"/>
                </a:solidFill>
                <a:latin typeface="Book Antiqua" panose="02040602050305030304" pitchFamily="18" charset="0"/>
              </a:rPr>
              <a:t>Network security issues include protecting data from unauthorized access, </a:t>
            </a:r>
            <a:r>
              <a:rPr lang="en-US" dirty="0" smtClean="0">
                <a:solidFill>
                  <a:schemeClr val="tx1"/>
                </a:solidFill>
                <a:latin typeface="Book Antiqua" panose="02040602050305030304" pitchFamily="18" charset="0"/>
              </a:rPr>
              <a:t>protecting data </a:t>
            </a:r>
            <a:r>
              <a:rPr lang="en-US" dirty="0">
                <a:solidFill>
                  <a:schemeClr val="tx1"/>
                </a:solidFill>
                <a:latin typeface="Book Antiqua" panose="02040602050305030304" pitchFamily="18" charset="0"/>
              </a:rPr>
              <a:t>from damage and </a:t>
            </a:r>
            <a:r>
              <a:rPr lang="en-US" dirty="0" smtClean="0">
                <a:solidFill>
                  <a:schemeClr val="tx1"/>
                </a:solidFill>
                <a:latin typeface="Book Antiqua" panose="02040602050305030304" pitchFamily="18" charset="0"/>
              </a:rPr>
              <a:t>development.</a:t>
            </a:r>
            <a:endParaRPr lang="en-US" dirty="0">
              <a:solidFill>
                <a:schemeClr val="tx1"/>
              </a:solidFill>
              <a:latin typeface="Book Antiqua" panose="02040602050305030304" pitchFamily="18" charset="0"/>
            </a:endParaRPr>
          </a:p>
          <a:p>
            <a:pPr marL="457200" indent="-457200" algn="l">
              <a:buFont typeface="Arial" panose="020B0604020202020204" pitchFamily="34" charset="0"/>
              <a:buChar char="•"/>
            </a:pPr>
            <a:r>
              <a:rPr lang="en-US" dirty="0" smtClean="0">
                <a:solidFill>
                  <a:schemeClr val="tx1"/>
                </a:solidFill>
                <a:latin typeface="Book Antiqua" panose="02040602050305030304" pitchFamily="18" charset="0"/>
              </a:rPr>
              <a:t>Also implementing </a:t>
            </a:r>
            <a:r>
              <a:rPr lang="en-US" dirty="0">
                <a:solidFill>
                  <a:schemeClr val="tx1"/>
                </a:solidFill>
                <a:latin typeface="Book Antiqua" panose="02040602050305030304" pitchFamily="18" charset="0"/>
              </a:rPr>
              <a:t>policies and procedures </a:t>
            </a:r>
            <a:r>
              <a:rPr lang="en-US" dirty="0" smtClean="0">
                <a:solidFill>
                  <a:schemeClr val="tx1"/>
                </a:solidFill>
                <a:latin typeface="Book Antiqua" panose="02040602050305030304" pitchFamily="18" charset="0"/>
              </a:rPr>
              <a:t>for recovery </a:t>
            </a:r>
            <a:r>
              <a:rPr lang="en-US" dirty="0">
                <a:solidFill>
                  <a:schemeClr val="tx1"/>
                </a:solidFill>
                <a:latin typeface="Book Antiqua" panose="02040602050305030304" pitchFamily="18" charset="0"/>
              </a:rPr>
              <a:t>from breaches and data losses.</a:t>
            </a:r>
          </a:p>
        </p:txBody>
      </p:sp>
    </p:spTree>
    <p:extLst>
      <p:ext uri="{BB962C8B-B14F-4D97-AF65-F5344CB8AC3E}">
        <p14:creationId xmlns:p14="http://schemas.microsoft.com/office/powerpoint/2010/main" val="39137472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Physical Structure</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lstStyle/>
          <a:p>
            <a:pPr marL="457200" indent="-457200" algn="l">
              <a:buFont typeface="Arial" panose="020B0604020202020204" pitchFamily="34" charset="0"/>
              <a:buChar char="•"/>
            </a:pPr>
            <a:r>
              <a:rPr lang="en-US" dirty="0" smtClean="0">
                <a:solidFill>
                  <a:schemeClr val="tx1"/>
                </a:solidFill>
                <a:latin typeface="Book Antiqua" panose="02040602050305030304" pitchFamily="18" charset="0"/>
              </a:rPr>
              <a:t>Types of Networks</a:t>
            </a:r>
            <a:r>
              <a:rPr lang="en-US" dirty="0">
                <a:solidFill>
                  <a:schemeClr val="tx1"/>
                </a:solidFill>
                <a:latin typeface="Book Antiqua" panose="02040602050305030304" pitchFamily="18" charset="0"/>
              </a:rPr>
              <a:t>: A network is two or more devices connected through links</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A link is a </a:t>
            </a:r>
            <a:r>
              <a:rPr lang="en-US" dirty="0" smtClean="0">
                <a:solidFill>
                  <a:schemeClr val="tx1"/>
                </a:solidFill>
                <a:latin typeface="Book Antiqua" panose="02040602050305030304" pitchFamily="18" charset="0"/>
              </a:rPr>
              <a:t>communications pathway </a:t>
            </a:r>
            <a:r>
              <a:rPr lang="en-US" dirty="0">
                <a:solidFill>
                  <a:schemeClr val="tx1"/>
                </a:solidFill>
                <a:latin typeface="Book Antiqua" panose="02040602050305030304" pitchFamily="18" charset="0"/>
              </a:rPr>
              <a:t>that transfers data from one device to another</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smtClean="0">
                <a:solidFill>
                  <a:schemeClr val="tx1"/>
                </a:solidFill>
                <a:latin typeface="Book Antiqua" panose="02040602050305030304" pitchFamily="18" charset="0"/>
              </a:rPr>
              <a:t>Two </a:t>
            </a:r>
            <a:r>
              <a:rPr lang="en-US" dirty="0">
                <a:solidFill>
                  <a:schemeClr val="tx1"/>
                </a:solidFill>
                <a:latin typeface="Book Antiqua" panose="02040602050305030304" pitchFamily="18" charset="0"/>
              </a:rPr>
              <a:t>devices must be connected in some way to the same link at the same </a:t>
            </a:r>
            <a:r>
              <a:rPr lang="en-US" dirty="0" smtClean="0">
                <a:solidFill>
                  <a:schemeClr val="tx1"/>
                </a:solidFill>
                <a:latin typeface="Book Antiqua" panose="02040602050305030304" pitchFamily="18" charset="0"/>
              </a:rPr>
              <a:t>time for communication to be happen.</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There are two possible types of connections: point-to-point and multipoint.</a:t>
            </a:r>
            <a:endParaRPr lang="en-US"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dirty="0">
              <a:solidFill>
                <a:schemeClr val="tx1"/>
              </a:solidFill>
              <a:latin typeface="Book Antiqua" panose="02040602050305030304" pitchFamily="18" charset="0"/>
            </a:endParaRPr>
          </a:p>
        </p:txBody>
      </p:sp>
    </p:spTree>
    <p:extLst>
      <p:ext uri="{BB962C8B-B14F-4D97-AF65-F5344CB8AC3E}">
        <p14:creationId xmlns:p14="http://schemas.microsoft.com/office/powerpoint/2010/main" val="209803668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Point to point Connection</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a:bodyPr>
          <a:lstStyle/>
          <a:p>
            <a:pPr marL="457200" indent="-457200" algn="l">
              <a:buFont typeface="Arial" panose="020B0604020202020204" pitchFamily="34" charset="0"/>
              <a:buChar char="•"/>
            </a:pPr>
            <a:endParaRPr lang="en-US"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point-to-point connection provides a dedicated link between </a:t>
            </a:r>
            <a:r>
              <a:rPr lang="en-US" dirty="0" smtClean="0">
                <a:solidFill>
                  <a:schemeClr val="tx1"/>
                </a:solidFill>
                <a:latin typeface="Book Antiqua" panose="02040602050305030304" pitchFamily="18" charset="0"/>
              </a:rPr>
              <a:t>two devices.</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The entire capacity of the link is reserved for transmission between those </a:t>
            </a:r>
            <a:r>
              <a:rPr lang="en-US" dirty="0" smtClean="0">
                <a:solidFill>
                  <a:schemeClr val="tx1"/>
                </a:solidFill>
                <a:latin typeface="Book Antiqua" panose="02040602050305030304" pitchFamily="18" charset="0"/>
              </a:rPr>
              <a:t>two devices.</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When you change television channels by infrared remote </a:t>
            </a:r>
            <a:r>
              <a:rPr lang="en-US" dirty="0" smtClean="0">
                <a:solidFill>
                  <a:schemeClr val="tx1"/>
                </a:solidFill>
                <a:latin typeface="Book Antiqua" panose="02040602050305030304" pitchFamily="18" charset="0"/>
              </a:rPr>
              <a:t>control, you </a:t>
            </a:r>
            <a:r>
              <a:rPr lang="en-US" dirty="0">
                <a:solidFill>
                  <a:schemeClr val="tx1"/>
                </a:solidFill>
                <a:latin typeface="Book Antiqua" panose="02040602050305030304" pitchFamily="18" charset="0"/>
              </a:rPr>
              <a:t>are establishing a point-to-point connection between the remote control and </a:t>
            </a:r>
            <a:r>
              <a:rPr lang="en-US" dirty="0" smtClean="0">
                <a:solidFill>
                  <a:schemeClr val="tx1"/>
                </a:solidFill>
                <a:latin typeface="Book Antiqua" panose="02040602050305030304" pitchFamily="18" charset="0"/>
              </a:rPr>
              <a:t>the television's </a:t>
            </a:r>
            <a:r>
              <a:rPr lang="en-US" dirty="0">
                <a:solidFill>
                  <a:schemeClr val="tx1"/>
                </a:solidFill>
                <a:latin typeface="Book Antiqua" panose="02040602050305030304" pitchFamily="18" charset="0"/>
              </a:rPr>
              <a:t>control system.</a:t>
            </a:r>
          </a:p>
          <a:p>
            <a:pPr marL="457200" indent="-457200" algn="l">
              <a:buFont typeface="Arial" panose="020B0604020202020204" pitchFamily="34" charset="0"/>
              <a:buChar char="•"/>
            </a:pPr>
            <a:endParaRPr lang="en-US"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dirty="0">
              <a:solidFill>
                <a:schemeClr val="tx1"/>
              </a:solidFill>
              <a:latin typeface="Book Antiqua" panose="020406020503050303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838200"/>
            <a:ext cx="7075283"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3909803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Multipoint Connection</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A multipoint </a:t>
            </a:r>
            <a:r>
              <a:rPr lang="en-US" sz="2800" dirty="0" smtClean="0">
                <a:solidFill>
                  <a:schemeClr val="tx1"/>
                </a:solidFill>
                <a:latin typeface="Book Antiqua" panose="02040602050305030304" pitchFamily="18" charset="0"/>
              </a:rPr>
              <a:t>(</a:t>
            </a:r>
            <a:r>
              <a:rPr lang="en-US" sz="2800" dirty="0" err="1" smtClean="0">
                <a:solidFill>
                  <a:schemeClr val="tx1"/>
                </a:solidFill>
                <a:latin typeface="Book Antiqua" panose="02040602050305030304" pitchFamily="18" charset="0"/>
              </a:rPr>
              <a:t>Multidrop</a:t>
            </a:r>
            <a:r>
              <a:rPr lang="en-US" sz="2800" dirty="0" smtClean="0">
                <a:solidFill>
                  <a:schemeClr val="tx1"/>
                </a:solidFill>
                <a:latin typeface="Book Antiqua" panose="02040602050305030304" pitchFamily="18" charset="0"/>
              </a:rPr>
              <a:t>) connection </a:t>
            </a:r>
            <a:r>
              <a:rPr lang="en-US" sz="2800" dirty="0">
                <a:solidFill>
                  <a:schemeClr val="tx1"/>
                </a:solidFill>
                <a:latin typeface="Book Antiqua" panose="02040602050305030304" pitchFamily="18" charset="0"/>
              </a:rPr>
              <a:t>is one in which </a:t>
            </a:r>
            <a:r>
              <a:rPr lang="en-US" sz="2800" dirty="0" smtClean="0">
                <a:solidFill>
                  <a:schemeClr val="tx1"/>
                </a:solidFill>
                <a:latin typeface="Book Antiqua" panose="02040602050305030304" pitchFamily="18" charset="0"/>
              </a:rPr>
              <a:t>more than </a:t>
            </a:r>
            <a:r>
              <a:rPr lang="en-US" sz="2800" dirty="0">
                <a:solidFill>
                  <a:schemeClr val="tx1"/>
                </a:solidFill>
                <a:latin typeface="Book Antiqua" panose="02040602050305030304" pitchFamily="18" charset="0"/>
              </a:rPr>
              <a:t>two specific devices share a single </a:t>
            </a:r>
            <a:r>
              <a:rPr lang="en-US" sz="2800" dirty="0" smtClean="0">
                <a:solidFill>
                  <a:schemeClr val="tx1"/>
                </a:solidFill>
                <a:latin typeface="Book Antiqua" panose="02040602050305030304" pitchFamily="18" charset="0"/>
              </a:rPr>
              <a:t>link.</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In a multipoint environment, the capacity of the channel is shared, either </a:t>
            </a:r>
            <a:r>
              <a:rPr lang="en-US" sz="2800" dirty="0" smtClean="0">
                <a:solidFill>
                  <a:schemeClr val="tx1"/>
                </a:solidFill>
                <a:latin typeface="Book Antiqua" panose="02040602050305030304" pitchFamily="18" charset="0"/>
              </a:rPr>
              <a:t>spatially or </a:t>
            </a:r>
            <a:r>
              <a:rPr lang="en-US" sz="2800" dirty="0">
                <a:solidFill>
                  <a:schemeClr val="tx1"/>
                </a:solidFill>
                <a:latin typeface="Book Antiqua" panose="02040602050305030304" pitchFamily="18" charset="0"/>
              </a:rPr>
              <a:t>temporally</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If several devices can use the link simultaneously, it is a spatially </a:t>
            </a:r>
            <a:r>
              <a:rPr lang="en-US" sz="2800" dirty="0" smtClean="0">
                <a:solidFill>
                  <a:schemeClr val="tx1"/>
                </a:solidFill>
                <a:latin typeface="Book Antiqua" panose="02040602050305030304" pitchFamily="18" charset="0"/>
              </a:rPr>
              <a:t>shared connection </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If users must take turns, it is a timeshared connection.</a:t>
            </a:r>
          </a:p>
          <a:p>
            <a:pPr marL="457200" indent="-457200" algn="l">
              <a:buFont typeface="Arial" panose="020B0604020202020204" pitchFamily="34" charset="0"/>
              <a:buChar char="•"/>
            </a:pPr>
            <a:endParaRPr lang="en-US"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dirty="0">
              <a:solidFill>
                <a:schemeClr val="tx1"/>
              </a:solidFill>
              <a:latin typeface="Book Antiqua" panose="02040602050305030304"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4191000"/>
            <a:ext cx="7537174" cy="2438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377967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Physical Topology</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 term physical topology refers to the way in which a network is laid out </a:t>
            </a:r>
            <a:r>
              <a:rPr lang="en-US" sz="2800" dirty="0" smtClean="0">
                <a:solidFill>
                  <a:schemeClr val="tx1"/>
                </a:solidFill>
                <a:latin typeface="Book Antiqua" panose="02040602050305030304" pitchFamily="18" charset="0"/>
              </a:rPr>
              <a:t>physically</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a:t>
            </a:r>
            <a:r>
              <a:rPr lang="en-US" sz="2800" dirty="0" smtClean="0">
                <a:solidFill>
                  <a:schemeClr val="tx1"/>
                </a:solidFill>
                <a:latin typeface="Book Antiqua" panose="02040602050305030304" pitchFamily="18" charset="0"/>
              </a:rPr>
              <a:t>wo </a:t>
            </a:r>
            <a:r>
              <a:rPr lang="en-US" sz="2800" dirty="0">
                <a:solidFill>
                  <a:schemeClr val="tx1"/>
                </a:solidFill>
                <a:latin typeface="Book Antiqua" panose="02040602050305030304" pitchFamily="18" charset="0"/>
              </a:rPr>
              <a:t>or more devices connect to a link; two or more links form a topology</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Topology of </a:t>
            </a:r>
            <a:r>
              <a:rPr lang="en-US" sz="2800" dirty="0">
                <a:solidFill>
                  <a:schemeClr val="tx1"/>
                </a:solidFill>
                <a:latin typeface="Book Antiqua" panose="02040602050305030304" pitchFamily="18" charset="0"/>
              </a:rPr>
              <a:t>a network is the geometric representation of the relationship of all the links </a:t>
            </a:r>
            <a:r>
              <a:rPr lang="en-US" sz="2800" dirty="0" smtClean="0">
                <a:solidFill>
                  <a:schemeClr val="tx1"/>
                </a:solidFill>
                <a:latin typeface="Book Antiqua" panose="02040602050305030304" pitchFamily="18" charset="0"/>
              </a:rPr>
              <a:t>and linking </a:t>
            </a:r>
            <a:r>
              <a:rPr lang="en-US" sz="2800" dirty="0">
                <a:solidFill>
                  <a:schemeClr val="tx1"/>
                </a:solidFill>
                <a:latin typeface="Book Antiqua" panose="02040602050305030304" pitchFamily="18" charset="0"/>
              </a:rPr>
              <a:t>devices (usually called nodes) to one </a:t>
            </a:r>
            <a:r>
              <a:rPr lang="en-US" sz="2800" dirty="0" smtClean="0">
                <a:solidFill>
                  <a:schemeClr val="tx1"/>
                </a:solidFill>
                <a:latin typeface="Book Antiqua" panose="02040602050305030304" pitchFamily="18" charset="0"/>
              </a:rPr>
              <a:t>another.</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There are four basic </a:t>
            </a:r>
            <a:r>
              <a:rPr lang="en-US" sz="2800" dirty="0" smtClean="0">
                <a:solidFill>
                  <a:schemeClr val="tx1"/>
                </a:solidFill>
                <a:latin typeface="Book Antiqua" panose="02040602050305030304" pitchFamily="18" charset="0"/>
              </a:rPr>
              <a:t>topologies possible</a:t>
            </a:r>
            <a:r>
              <a:rPr lang="en-US" sz="2800" dirty="0">
                <a:solidFill>
                  <a:schemeClr val="tx1"/>
                </a:solidFill>
                <a:latin typeface="Book Antiqua" panose="02040602050305030304" pitchFamily="18" charset="0"/>
              </a:rPr>
              <a:t>: mesh, star, bus, and </a:t>
            </a:r>
            <a:r>
              <a:rPr lang="en-US" sz="2800" dirty="0" smtClean="0">
                <a:solidFill>
                  <a:schemeClr val="tx1"/>
                </a:solidFill>
                <a:latin typeface="Book Antiqua" panose="02040602050305030304" pitchFamily="18" charset="0"/>
              </a:rPr>
              <a:t>ring.</a:t>
            </a: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dirty="0">
              <a:solidFill>
                <a:schemeClr val="tx1"/>
              </a:solidFill>
              <a:latin typeface="Book Antiqua" panose="02040602050305030304"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5774" y="4495800"/>
            <a:ext cx="5800231" cy="2133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0376978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Mesh Topology</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a:bodyPr>
          <a:lstStyle/>
          <a:p>
            <a:pPr marL="457200" indent="-457200" algn="l">
              <a:buFont typeface="Arial" panose="020B0604020202020204" pitchFamily="34" charset="0"/>
              <a:buChar char="•"/>
            </a:pPr>
            <a:endParaRPr lang="en-US"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r>
              <a:rPr lang="en-US" sz="3000" dirty="0">
                <a:solidFill>
                  <a:schemeClr val="tx1"/>
                </a:solidFill>
                <a:latin typeface="Book Antiqua" panose="02040602050305030304" pitchFamily="18" charset="0"/>
              </a:rPr>
              <a:t>In a mesh topology, every device has a dedicated point-to-point link to </a:t>
            </a:r>
            <a:r>
              <a:rPr lang="en-US" sz="3000" dirty="0" smtClean="0">
                <a:solidFill>
                  <a:schemeClr val="tx1"/>
                </a:solidFill>
                <a:latin typeface="Book Antiqua" panose="02040602050305030304" pitchFamily="18" charset="0"/>
              </a:rPr>
              <a:t>every other </a:t>
            </a:r>
            <a:r>
              <a:rPr lang="en-US" sz="3000" dirty="0">
                <a:solidFill>
                  <a:schemeClr val="tx1"/>
                </a:solidFill>
                <a:latin typeface="Book Antiqua" panose="02040602050305030304" pitchFamily="18" charset="0"/>
              </a:rPr>
              <a:t>device</a:t>
            </a:r>
            <a:r>
              <a:rPr lang="en-US" sz="30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3000" dirty="0">
                <a:solidFill>
                  <a:schemeClr val="tx1"/>
                </a:solidFill>
                <a:latin typeface="Book Antiqua" panose="02040602050305030304" pitchFamily="18" charset="0"/>
              </a:rPr>
              <a:t>The term dedicated means that the link carries traffic only between </a:t>
            </a:r>
            <a:r>
              <a:rPr lang="en-US" sz="3000" dirty="0" smtClean="0">
                <a:solidFill>
                  <a:schemeClr val="tx1"/>
                </a:solidFill>
                <a:latin typeface="Book Antiqua" panose="02040602050305030304" pitchFamily="18" charset="0"/>
              </a:rPr>
              <a:t>the two </a:t>
            </a:r>
            <a:r>
              <a:rPr lang="en-US" sz="3000" dirty="0">
                <a:solidFill>
                  <a:schemeClr val="tx1"/>
                </a:solidFill>
                <a:latin typeface="Book Antiqua" panose="02040602050305030304" pitchFamily="18" charset="0"/>
              </a:rPr>
              <a:t>devices it connects.</a:t>
            </a:r>
          </a:p>
          <a:p>
            <a:pPr marL="457200" indent="-457200" algn="l">
              <a:buFont typeface="Arial" panose="020B0604020202020204" pitchFamily="34" charset="0"/>
              <a:buChar char="•"/>
            </a:pPr>
            <a:endParaRPr lang="en-US"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dirty="0">
              <a:solidFill>
                <a:schemeClr val="tx1"/>
              </a:solidFill>
              <a:latin typeface="Book Antiqua" panose="02040602050305030304" pitchFamily="18"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782782"/>
            <a:ext cx="4643438" cy="3429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2177749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Mesh Topology</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To find the number of physical links in a fully connected mesh network with n </a:t>
            </a:r>
            <a:r>
              <a:rPr lang="en-US" sz="2800" dirty="0" smtClean="0">
                <a:solidFill>
                  <a:schemeClr val="tx1"/>
                </a:solidFill>
                <a:latin typeface="Book Antiqua" panose="02040602050305030304" pitchFamily="18" charset="0"/>
              </a:rPr>
              <a:t>nodes, consider </a:t>
            </a:r>
            <a:r>
              <a:rPr lang="en-US" sz="2800" dirty="0">
                <a:solidFill>
                  <a:schemeClr val="tx1"/>
                </a:solidFill>
                <a:latin typeface="Book Antiqua" panose="02040602050305030304" pitchFamily="18" charset="0"/>
              </a:rPr>
              <a:t>that each node must be connected to </a:t>
            </a:r>
            <a:r>
              <a:rPr lang="en-US" sz="2800" dirty="0" smtClean="0">
                <a:solidFill>
                  <a:schemeClr val="tx1"/>
                </a:solidFill>
                <a:latin typeface="Book Antiqua" panose="02040602050305030304" pitchFamily="18" charset="0"/>
              </a:rPr>
              <a:t>every other </a:t>
            </a:r>
            <a:r>
              <a:rPr lang="en-US" sz="2800" dirty="0">
                <a:solidFill>
                  <a:schemeClr val="tx1"/>
                </a:solidFill>
                <a:latin typeface="Book Antiqua" panose="02040602050305030304" pitchFamily="18" charset="0"/>
              </a:rPr>
              <a:t>node</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Node 1 must be connected to n - I nodes, node </a:t>
            </a:r>
            <a:r>
              <a:rPr lang="en-US" sz="2800" dirty="0" smtClean="0">
                <a:solidFill>
                  <a:schemeClr val="tx1"/>
                </a:solidFill>
                <a:latin typeface="Book Antiqua" panose="02040602050305030304" pitchFamily="18" charset="0"/>
              </a:rPr>
              <a:t>2 </a:t>
            </a:r>
            <a:r>
              <a:rPr lang="en-US" sz="2800" dirty="0">
                <a:solidFill>
                  <a:schemeClr val="tx1"/>
                </a:solidFill>
                <a:latin typeface="Book Antiqua" panose="02040602050305030304" pitchFamily="18" charset="0"/>
              </a:rPr>
              <a:t>connected to n </a:t>
            </a:r>
            <a:r>
              <a:rPr lang="en-US" sz="2800" dirty="0" smtClean="0">
                <a:solidFill>
                  <a:schemeClr val="tx1"/>
                </a:solidFill>
                <a:latin typeface="Book Antiqua" panose="02040602050305030304" pitchFamily="18" charset="0"/>
              </a:rPr>
              <a:t>– 1 nodes, </a:t>
            </a:r>
            <a:r>
              <a:rPr lang="en-US" sz="2800" dirty="0">
                <a:solidFill>
                  <a:schemeClr val="tx1"/>
                </a:solidFill>
                <a:latin typeface="Book Antiqua" panose="02040602050305030304" pitchFamily="18" charset="0"/>
              </a:rPr>
              <a:t>finally node </a:t>
            </a:r>
            <a:r>
              <a:rPr lang="en-US" sz="2800" dirty="0" smtClean="0">
                <a:solidFill>
                  <a:schemeClr val="tx1"/>
                </a:solidFill>
                <a:latin typeface="Book Antiqua" panose="02040602050305030304" pitchFamily="18" charset="0"/>
              </a:rPr>
              <a:t>n connected </a:t>
            </a:r>
            <a:r>
              <a:rPr lang="en-US" sz="2800" dirty="0">
                <a:solidFill>
                  <a:schemeClr val="tx1"/>
                </a:solidFill>
                <a:latin typeface="Book Antiqua" panose="02040602050305030304" pitchFamily="18" charset="0"/>
              </a:rPr>
              <a:t>to n - 1 nodes</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We need n(n - 1) </a:t>
            </a:r>
            <a:r>
              <a:rPr lang="en-US" sz="2800" dirty="0" smtClean="0">
                <a:solidFill>
                  <a:schemeClr val="tx1"/>
                </a:solidFill>
                <a:latin typeface="Book Antiqua" panose="02040602050305030304" pitchFamily="18" charset="0"/>
              </a:rPr>
              <a:t>physical links</a:t>
            </a:r>
            <a:r>
              <a:rPr lang="en-US" sz="2800" dirty="0">
                <a:solidFill>
                  <a:schemeClr val="tx1"/>
                </a:solidFill>
                <a:latin typeface="Book Antiqua" panose="02040602050305030304" pitchFamily="18" charset="0"/>
              </a:rPr>
              <a:t>. However, if each physical link allows communication in both directions (</a:t>
            </a:r>
            <a:r>
              <a:rPr lang="en-US" sz="2800" dirty="0" smtClean="0">
                <a:solidFill>
                  <a:schemeClr val="tx1"/>
                </a:solidFill>
                <a:latin typeface="Book Antiqua" panose="02040602050305030304" pitchFamily="18" charset="0"/>
              </a:rPr>
              <a:t>duplex mode).</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we can divide the number of links by 2</a:t>
            </a:r>
            <a:r>
              <a:rPr lang="en-US" sz="2800" dirty="0" smtClean="0">
                <a:solidFill>
                  <a:schemeClr val="tx1"/>
                </a:solidFill>
                <a:latin typeface="Book Antiqua" panose="02040602050305030304" pitchFamily="18" charset="0"/>
              </a:rPr>
              <a:t>. Finally we need n(n-1)/2 links.</a:t>
            </a:r>
          </a:p>
          <a:p>
            <a:pPr marL="457200" indent="-457200" algn="l">
              <a:buFont typeface="Arial" panose="020B0604020202020204" pitchFamily="34" charset="0"/>
              <a:buChar char="•"/>
            </a:pPr>
            <a:endParaRPr lang="en-US" sz="2800"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sz="3000" dirty="0">
              <a:solidFill>
                <a:schemeClr val="tx1"/>
              </a:solidFill>
              <a:latin typeface="Book Antiqua" panose="02040602050305030304" pitchFamily="18" charset="0"/>
            </a:endParaRPr>
          </a:p>
        </p:txBody>
      </p:sp>
    </p:spTree>
    <p:extLst>
      <p:ext uri="{BB962C8B-B14F-4D97-AF65-F5344CB8AC3E}">
        <p14:creationId xmlns:p14="http://schemas.microsoft.com/office/powerpoint/2010/main" val="129371166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Advantages of Mesh Networks</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fontScale="92500"/>
          </a:bodyPr>
          <a:lstStyle/>
          <a:p>
            <a:pPr marL="457200" indent="-457200" algn="l">
              <a:buFont typeface="Arial" panose="020B0604020202020204" pitchFamily="34" charset="0"/>
              <a:buChar char="•"/>
            </a:pPr>
            <a:r>
              <a:rPr lang="en-US" dirty="0" smtClean="0">
                <a:solidFill>
                  <a:schemeClr val="tx1"/>
                </a:solidFill>
                <a:latin typeface="Book Antiqua" panose="02040602050305030304" pitchFamily="18" charset="0"/>
              </a:rPr>
              <a:t>The </a:t>
            </a:r>
            <a:r>
              <a:rPr lang="en-US" dirty="0">
                <a:solidFill>
                  <a:schemeClr val="tx1"/>
                </a:solidFill>
                <a:latin typeface="Book Antiqua" panose="02040602050305030304" pitchFamily="18" charset="0"/>
              </a:rPr>
              <a:t>use </a:t>
            </a:r>
            <a:r>
              <a:rPr lang="en-US" dirty="0" smtClean="0">
                <a:solidFill>
                  <a:schemeClr val="tx1"/>
                </a:solidFill>
                <a:latin typeface="Book Antiqua" panose="02040602050305030304" pitchFamily="18" charset="0"/>
              </a:rPr>
              <a:t>of dedicated </a:t>
            </a:r>
            <a:r>
              <a:rPr lang="en-US" dirty="0">
                <a:solidFill>
                  <a:schemeClr val="tx1"/>
                </a:solidFill>
                <a:latin typeface="Book Antiqua" panose="02040602050305030304" pitchFamily="18" charset="0"/>
              </a:rPr>
              <a:t>links guarantees that each connection can carry its own data </a:t>
            </a:r>
            <a:r>
              <a:rPr lang="en-US" dirty="0" smtClean="0">
                <a:solidFill>
                  <a:schemeClr val="tx1"/>
                </a:solidFill>
                <a:latin typeface="Book Antiqua" panose="02040602050305030304" pitchFamily="18" charset="0"/>
              </a:rPr>
              <a:t>load.</a:t>
            </a:r>
          </a:p>
          <a:p>
            <a:pPr marL="457200" indent="-457200" algn="l">
              <a:buFont typeface="Arial" panose="020B0604020202020204" pitchFamily="34" charset="0"/>
              <a:buChar char="•"/>
            </a:pPr>
            <a:r>
              <a:rPr lang="en-US" dirty="0" smtClean="0">
                <a:solidFill>
                  <a:schemeClr val="tx1"/>
                </a:solidFill>
                <a:latin typeface="Book Antiqua" panose="02040602050305030304" pitchFamily="18" charset="0"/>
              </a:rPr>
              <a:t>Eliminating the </a:t>
            </a:r>
            <a:r>
              <a:rPr lang="en-US" dirty="0">
                <a:solidFill>
                  <a:schemeClr val="tx1"/>
                </a:solidFill>
                <a:latin typeface="Book Antiqua" panose="02040602050305030304" pitchFamily="18" charset="0"/>
              </a:rPr>
              <a:t>traffic problems that can occur when links must be shared by multiple devices</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smtClean="0">
                <a:solidFill>
                  <a:schemeClr val="tx1"/>
                </a:solidFill>
                <a:latin typeface="Book Antiqua" panose="02040602050305030304" pitchFamily="18" charset="0"/>
              </a:rPr>
              <a:t>A </a:t>
            </a:r>
            <a:r>
              <a:rPr lang="en-US" dirty="0">
                <a:solidFill>
                  <a:schemeClr val="tx1"/>
                </a:solidFill>
                <a:latin typeface="Book Antiqua" panose="02040602050305030304" pitchFamily="18" charset="0"/>
              </a:rPr>
              <a:t>mesh topology is robust. If one link becomes unusable, it does not </a:t>
            </a:r>
            <a:r>
              <a:rPr lang="en-US" dirty="0" smtClean="0">
                <a:solidFill>
                  <a:schemeClr val="tx1"/>
                </a:solidFill>
                <a:latin typeface="Book Antiqua" panose="02040602050305030304" pitchFamily="18" charset="0"/>
              </a:rPr>
              <a:t>incapacitate the </a:t>
            </a:r>
            <a:r>
              <a:rPr lang="en-US" dirty="0">
                <a:solidFill>
                  <a:schemeClr val="tx1"/>
                </a:solidFill>
                <a:latin typeface="Book Antiqua" panose="02040602050305030304" pitchFamily="18" charset="0"/>
              </a:rPr>
              <a:t>entire system</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b="1" dirty="0" smtClean="0">
                <a:solidFill>
                  <a:schemeClr val="tx1"/>
                </a:solidFill>
                <a:latin typeface="Book Antiqua" panose="02040602050305030304" pitchFamily="18" charset="0"/>
              </a:rPr>
              <a:t>Security and Privacy</a:t>
            </a:r>
            <a:r>
              <a:rPr lang="en-US" dirty="0" smtClean="0">
                <a:solidFill>
                  <a:schemeClr val="tx1"/>
                </a:solidFill>
                <a:latin typeface="Book Antiqua" panose="02040602050305030304" pitchFamily="18" charset="0"/>
              </a:rPr>
              <a:t>: When every message </a:t>
            </a:r>
            <a:r>
              <a:rPr lang="en-US" dirty="0">
                <a:solidFill>
                  <a:schemeClr val="tx1"/>
                </a:solidFill>
                <a:latin typeface="Book Antiqua" panose="02040602050305030304" pitchFamily="18" charset="0"/>
              </a:rPr>
              <a:t>travels along a dedicated line, only the intended recipient sees it</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P</a:t>
            </a:r>
            <a:r>
              <a:rPr lang="en-US" dirty="0" smtClean="0">
                <a:solidFill>
                  <a:schemeClr val="tx1"/>
                </a:solidFill>
                <a:latin typeface="Book Antiqua" panose="02040602050305030304" pitchFamily="18" charset="0"/>
              </a:rPr>
              <a:t>oint-to-point links </a:t>
            </a:r>
            <a:r>
              <a:rPr lang="en-US" dirty="0">
                <a:solidFill>
                  <a:schemeClr val="tx1"/>
                </a:solidFill>
                <a:latin typeface="Book Antiqua" panose="02040602050305030304" pitchFamily="18" charset="0"/>
              </a:rPr>
              <a:t>make fault identification and fault isolation easy.</a:t>
            </a:r>
          </a:p>
        </p:txBody>
      </p:sp>
    </p:spTree>
    <p:extLst>
      <p:ext uri="{BB962C8B-B14F-4D97-AF65-F5344CB8AC3E}">
        <p14:creationId xmlns:p14="http://schemas.microsoft.com/office/powerpoint/2010/main" val="105180523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Disadvantages of Mesh Topology</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fontScale="92500"/>
          </a:bodyPr>
          <a:lstStyle/>
          <a:p>
            <a:pPr marL="457200" indent="-457200" algn="l">
              <a:buFont typeface="Arial" panose="020B0604020202020204" pitchFamily="34" charset="0"/>
              <a:buChar char="•"/>
            </a:pPr>
            <a:r>
              <a:rPr lang="en-US" dirty="0">
                <a:solidFill>
                  <a:schemeClr val="tx1"/>
                </a:solidFill>
                <a:latin typeface="Book Antiqua" panose="02040602050305030304" pitchFamily="18" charset="0"/>
              </a:rPr>
              <a:t>The main disadvantages of a mesh are related to the amount of cabling and </a:t>
            </a:r>
            <a:r>
              <a:rPr lang="en-US" dirty="0" smtClean="0">
                <a:solidFill>
                  <a:schemeClr val="tx1"/>
                </a:solidFill>
                <a:latin typeface="Book Antiqua" panose="02040602050305030304" pitchFamily="18" charset="0"/>
              </a:rPr>
              <a:t>the number </a:t>
            </a:r>
            <a:r>
              <a:rPr lang="en-US" dirty="0">
                <a:solidFill>
                  <a:schemeClr val="tx1"/>
                </a:solidFill>
                <a:latin typeface="Book Antiqua" panose="02040602050305030304" pitchFamily="18" charset="0"/>
              </a:rPr>
              <a:t>of I/O ports required</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smtClean="0">
                <a:solidFill>
                  <a:schemeClr val="tx1"/>
                </a:solidFill>
                <a:latin typeface="Book Antiqua" panose="02040602050305030304" pitchFamily="18" charset="0"/>
              </a:rPr>
              <a:t>Every </a:t>
            </a:r>
            <a:r>
              <a:rPr lang="en-US" dirty="0">
                <a:solidFill>
                  <a:schemeClr val="tx1"/>
                </a:solidFill>
                <a:latin typeface="Book Antiqua" panose="02040602050305030304" pitchFamily="18" charset="0"/>
              </a:rPr>
              <a:t>device must be connected to </a:t>
            </a:r>
            <a:r>
              <a:rPr lang="en-US" dirty="0" smtClean="0">
                <a:solidFill>
                  <a:schemeClr val="tx1"/>
                </a:solidFill>
                <a:latin typeface="Book Antiqua" panose="02040602050305030304" pitchFamily="18" charset="0"/>
              </a:rPr>
              <a:t>every other </a:t>
            </a:r>
            <a:r>
              <a:rPr lang="en-US" dirty="0">
                <a:solidFill>
                  <a:schemeClr val="tx1"/>
                </a:solidFill>
                <a:latin typeface="Book Antiqua" panose="02040602050305030304" pitchFamily="18" charset="0"/>
              </a:rPr>
              <a:t>device, installation and reconnection are difficult</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smtClean="0">
                <a:solidFill>
                  <a:schemeClr val="tx1"/>
                </a:solidFill>
                <a:latin typeface="Book Antiqua" panose="02040602050305030304" pitchFamily="18" charset="0"/>
              </a:rPr>
              <a:t>The </a:t>
            </a:r>
            <a:r>
              <a:rPr lang="en-US" dirty="0">
                <a:solidFill>
                  <a:schemeClr val="tx1"/>
                </a:solidFill>
                <a:latin typeface="Book Antiqua" panose="02040602050305030304" pitchFamily="18" charset="0"/>
              </a:rPr>
              <a:t>hardware required to connect each link (I/O ports and cable) can </a:t>
            </a:r>
            <a:r>
              <a:rPr lang="en-US" dirty="0" smtClean="0">
                <a:solidFill>
                  <a:schemeClr val="tx1"/>
                </a:solidFill>
                <a:latin typeface="Book Antiqua" panose="02040602050305030304" pitchFamily="18" charset="0"/>
              </a:rPr>
              <a:t>be prohibitively </a:t>
            </a:r>
            <a:r>
              <a:rPr lang="en-US" dirty="0">
                <a:solidFill>
                  <a:schemeClr val="tx1"/>
                </a:solidFill>
                <a:latin typeface="Book Antiqua" panose="02040602050305030304" pitchFamily="18" charset="0"/>
              </a:rPr>
              <a:t>expensive</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For these reasons a mesh topology is usually implemented in </a:t>
            </a:r>
            <a:r>
              <a:rPr lang="en-US" dirty="0" smtClean="0">
                <a:solidFill>
                  <a:schemeClr val="tx1"/>
                </a:solidFill>
                <a:latin typeface="Book Antiqua" panose="02040602050305030304" pitchFamily="18" charset="0"/>
              </a:rPr>
              <a:t>a limited fashion.</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F</a:t>
            </a:r>
            <a:r>
              <a:rPr lang="en-US" dirty="0" smtClean="0">
                <a:solidFill>
                  <a:schemeClr val="tx1"/>
                </a:solidFill>
                <a:latin typeface="Book Antiqua" panose="02040602050305030304" pitchFamily="18" charset="0"/>
              </a:rPr>
              <a:t>or </a:t>
            </a:r>
            <a:r>
              <a:rPr lang="en-US" dirty="0">
                <a:solidFill>
                  <a:schemeClr val="tx1"/>
                </a:solidFill>
                <a:latin typeface="Book Antiqua" panose="02040602050305030304" pitchFamily="18" charset="0"/>
              </a:rPr>
              <a:t>example, as a backbone connecting the main computers of a </a:t>
            </a:r>
            <a:r>
              <a:rPr lang="en-US" dirty="0" smtClean="0">
                <a:solidFill>
                  <a:schemeClr val="tx1"/>
                </a:solidFill>
                <a:latin typeface="Book Antiqua" panose="02040602050305030304" pitchFamily="18" charset="0"/>
              </a:rPr>
              <a:t>hybrid network </a:t>
            </a:r>
            <a:r>
              <a:rPr lang="en-US" dirty="0">
                <a:solidFill>
                  <a:schemeClr val="tx1"/>
                </a:solidFill>
                <a:latin typeface="Book Antiqua" panose="02040602050305030304" pitchFamily="18" charset="0"/>
              </a:rPr>
              <a:t>that can include several other topologies.</a:t>
            </a:r>
          </a:p>
        </p:txBody>
      </p:sp>
    </p:spTree>
    <p:extLst>
      <p:ext uri="{BB962C8B-B14F-4D97-AF65-F5344CB8AC3E}">
        <p14:creationId xmlns:p14="http://schemas.microsoft.com/office/powerpoint/2010/main" val="142073230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Star Topology</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a:bodyPr>
          <a:lstStyle/>
          <a:p>
            <a:pPr marL="457200" indent="-457200" algn="l">
              <a:buFont typeface="Arial" panose="020B0604020202020204" pitchFamily="34" charset="0"/>
              <a:buChar char="•"/>
            </a:pPr>
            <a:r>
              <a:rPr lang="en-US" sz="2600" dirty="0">
                <a:solidFill>
                  <a:schemeClr val="tx1"/>
                </a:solidFill>
                <a:latin typeface="Book Antiqua" panose="02040602050305030304" pitchFamily="18" charset="0"/>
              </a:rPr>
              <a:t>In a star topology, each device has a dedicated point-to-point </a:t>
            </a:r>
            <a:r>
              <a:rPr lang="en-US" sz="2600" dirty="0" smtClean="0">
                <a:solidFill>
                  <a:schemeClr val="tx1"/>
                </a:solidFill>
                <a:latin typeface="Book Antiqua" panose="02040602050305030304" pitchFamily="18" charset="0"/>
              </a:rPr>
              <a:t>link only </a:t>
            </a:r>
            <a:r>
              <a:rPr lang="en-US" sz="2600" dirty="0">
                <a:solidFill>
                  <a:schemeClr val="tx1"/>
                </a:solidFill>
                <a:latin typeface="Book Antiqua" panose="02040602050305030304" pitchFamily="18" charset="0"/>
              </a:rPr>
              <a:t>to a central controller, usually called a hub</a:t>
            </a:r>
            <a:r>
              <a:rPr lang="en-US" sz="26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600" dirty="0">
                <a:solidFill>
                  <a:schemeClr val="tx1"/>
                </a:solidFill>
                <a:latin typeface="Book Antiqua" panose="02040602050305030304" pitchFamily="18" charset="0"/>
              </a:rPr>
              <a:t>The devices are not directly linked </a:t>
            </a:r>
            <a:r>
              <a:rPr lang="en-US" sz="2600" dirty="0" smtClean="0">
                <a:solidFill>
                  <a:schemeClr val="tx1"/>
                </a:solidFill>
                <a:latin typeface="Book Antiqua" panose="02040602050305030304" pitchFamily="18" charset="0"/>
              </a:rPr>
              <a:t>to one </a:t>
            </a:r>
            <a:r>
              <a:rPr lang="en-US" sz="2600" dirty="0">
                <a:solidFill>
                  <a:schemeClr val="tx1"/>
                </a:solidFill>
                <a:latin typeface="Book Antiqua" panose="02040602050305030304" pitchFamily="18" charset="0"/>
              </a:rPr>
              <a:t>another</a:t>
            </a:r>
            <a:r>
              <a:rPr lang="en-US" sz="26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600" dirty="0">
                <a:solidFill>
                  <a:schemeClr val="tx1"/>
                </a:solidFill>
                <a:latin typeface="Book Antiqua" panose="02040602050305030304" pitchFamily="18" charset="0"/>
              </a:rPr>
              <a:t>Unlike a mesh topology, a star topology does not allow </a:t>
            </a:r>
            <a:r>
              <a:rPr lang="en-US" sz="2600" dirty="0" smtClean="0">
                <a:solidFill>
                  <a:schemeClr val="tx1"/>
                </a:solidFill>
                <a:latin typeface="Book Antiqua" panose="02040602050305030304" pitchFamily="18" charset="0"/>
              </a:rPr>
              <a:t>direct traffic between </a:t>
            </a:r>
            <a:r>
              <a:rPr lang="en-US" sz="2600" dirty="0">
                <a:solidFill>
                  <a:schemeClr val="tx1"/>
                </a:solidFill>
                <a:latin typeface="Book Antiqua" panose="02040602050305030304" pitchFamily="18" charset="0"/>
              </a:rPr>
              <a:t>devices</a:t>
            </a:r>
            <a:r>
              <a:rPr lang="en-US" sz="26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600" dirty="0">
                <a:solidFill>
                  <a:schemeClr val="tx1"/>
                </a:solidFill>
                <a:latin typeface="Book Antiqua" panose="02040602050305030304" pitchFamily="18" charset="0"/>
              </a:rPr>
              <a:t>The controller acts as an exchange: If one device wants to send data </a:t>
            </a:r>
            <a:r>
              <a:rPr lang="en-US" sz="2600" dirty="0" smtClean="0">
                <a:solidFill>
                  <a:schemeClr val="tx1"/>
                </a:solidFill>
                <a:latin typeface="Book Antiqua" panose="02040602050305030304" pitchFamily="18" charset="0"/>
              </a:rPr>
              <a:t>to another</a:t>
            </a:r>
            <a:r>
              <a:rPr lang="en-US" sz="2600" dirty="0">
                <a:solidFill>
                  <a:schemeClr val="tx1"/>
                </a:solidFill>
                <a:latin typeface="Book Antiqua" panose="02040602050305030304" pitchFamily="18" charset="0"/>
              </a:rPr>
              <a:t>, it sends the data to the controller, which then relays the data to the other </a:t>
            </a:r>
            <a:r>
              <a:rPr lang="en-US" sz="2600" dirty="0" smtClean="0">
                <a:solidFill>
                  <a:schemeClr val="tx1"/>
                </a:solidFill>
                <a:latin typeface="Book Antiqua" panose="02040602050305030304" pitchFamily="18" charset="0"/>
              </a:rPr>
              <a:t>connected device</a:t>
            </a:r>
            <a:endParaRPr lang="en-US" sz="2600" dirty="0">
              <a:solidFill>
                <a:schemeClr val="tx1"/>
              </a:solidFill>
              <a:latin typeface="Book Antiqua" panose="02040602050305030304" pitchFamily="18" charset="0"/>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4495800"/>
            <a:ext cx="5710188" cy="236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6397902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Advantages: Star topology</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lstStyle/>
          <a:p>
            <a:pPr marL="457200" indent="-457200" algn="l">
              <a:buFont typeface="Arial" panose="020B0604020202020204" pitchFamily="34" charset="0"/>
              <a:buChar char="•"/>
            </a:pPr>
            <a:r>
              <a:rPr lang="en-US" dirty="0">
                <a:solidFill>
                  <a:schemeClr val="tx1"/>
                </a:solidFill>
                <a:latin typeface="Book Antiqua" panose="02040602050305030304" pitchFamily="18" charset="0"/>
              </a:rPr>
              <a:t>A star topology is less expensive than a mesh topology</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In a star, each device </a:t>
            </a:r>
            <a:r>
              <a:rPr lang="en-US" dirty="0" smtClean="0">
                <a:solidFill>
                  <a:schemeClr val="tx1"/>
                </a:solidFill>
                <a:latin typeface="Book Antiqua" panose="02040602050305030304" pitchFamily="18" charset="0"/>
              </a:rPr>
              <a:t>needs only </a:t>
            </a:r>
            <a:r>
              <a:rPr lang="en-US" dirty="0">
                <a:solidFill>
                  <a:schemeClr val="tx1"/>
                </a:solidFill>
                <a:latin typeface="Book Antiqua" panose="02040602050305030304" pitchFamily="18" charset="0"/>
              </a:rPr>
              <a:t>one link and one I/O port makes easy to install and </a:t>
            </a:r>
            <a:r>
              <a:rPr lang="en-US" dirty="0" smtClean="0">
                <a:solidFill>
                  <a:schemeClr val="tx1"/>
                </a:solidFill>
                <a:latin typeface="Book Antiqua" panose="02040602050305030304" pitchFamily="18" charset="0"/>
              </a:rPr>
              <a:t>reconfigure.</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Far less cabling </a:t>
            </a:r>
            <a:r>
              <a:rPr lang="en-US" dirty="0" smtClean="0">
                <a:solidFill>
                  <a:schemeClr val="tx1"/>
                </a:solidFill>
                <a:latin typeface="Book Antiqua" panose="02040602050305030304" pitchFamily="18" charset="0"/>
              </a:rPr>
              <a:t>and additions, moves</a:t>
            </a:r>
            <a:r>
              <a:rPr lang="en-US" dirty="0">
                <a:solidFill>
                  <a:schemeClr val="tx1"/>
                </a:solidFill>
                <a:latin typeface="Book Antiqua" panose="02040602050305030304" pitchFamily="18" charset="0"/>
              </a:rPr>
              <a:t>, and deletions involve only one connection: between that device and the hub</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Robustness: If one link fails, only that link is affected. </a:t>
            </a:r>
            <a:r>
              <a:rPr lang="en-US" dirty="0" smtClean="0">
                <a:solidFill>
                  <a:schemeClr val="tx1"/>
                </a:solidFill>
                <a:latin typeface="Book Antiqua" panose="02040602050305030304" pitchFamily="18" charset="0"/>
              </a:rPr>
              <a:t>All other </a:t>
            </a:r>
            <a:r>
              <a:rPr lang="en-US" dirty="0">
                <a:solidFill>
                  <a:schemeClr val="tx1"/>
                </a:solidFill>
                <a:latin typeface="Book Antiqua" panose="02040602050305030304" pitchFamily="18" charset="0"/>
              </a:rPr>
              <a:t>links remain active</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smtClean="0">
                <a:solidFill>
                  <a:schemeClr val="tx1"/>
                </a:solidFill>
                <a:latin typeface="Book Antiqua" panose="02040602050305030304" pitchFamily="18" charset="0"/>
              </a:rPr>
              <a:t>Easy </a:t>
            </a:r>
            <a:r>
              <a:rPr lang="en-US" dirty="0">
                <a:solidFill>
                  <a:schemeClr val="tx1"/>
                </a:solidFill>
                <a:latin typeface="Book Antiqua" panose="02040602050305030304" pitchFamily="18" charset="0"/>
              </a:rPr>
              <a:t>fault identification </a:t>
            </a:r>
            <a:r>
              <a:rPr lang="en-US" dirty="0" smtClean="0">
                <a:solidFill>
                  <a:schemeClr val="tx1"/>
                </a:solidFill>
                <a:latin typeface="Book Antiqua" panose="02040602050305030304" pitchFamily="18" charset="0"/>
              </a:rPr>
              <a:t>and fault isolation.</a:t>
            </a:r>
            <a:endParaRPr lang="en-US"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dirty="0">
              <a:solidFill>
                <a:schemeClr val="tx1"/>
              </a:solidFill>
              <a:latin typeface="Book Antiqua" panose="02040602050305030304" pitchFamily="18" charset="0"/>
            </a:endParaRPr>
          </a:p>
        </p:txBody>
      </p:sp>
    </p:spTree>
    <p:extLst>
      <p:ext uri="{BB962C8B-B14F-4D97-AF65-F5344CB8AC3E}">
        <p14:creationId xmlns:p14="http://schemas.microsoft.com/office/powerpoint/2010/main" val="208942010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Disadvantage- Star Topology</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a:bodyPr>
          <a:lstStyle/>
          <a:p>
            <a:pPr marL="457200" indent="-457200" algn="l">
              <a:buFont typeface="Arial" panose="020B0604020202020204" pitchFamily="34" charset="0"/>
              <a:buChar char="•"/>
            </a:pPr>
            <a:r>
              <a:rPr lang="en-US" sz="3000" dirty="0">
                <a:solidFill>
                  <a:schemeClr val="tx1"/>
                </a:solidFill>
                <a:latin typeface="Book Antiqua" panose="02040602050305030304" pitchFamily="18" charset="0"/>
              </a:rPr>
              <a:t>One big disadvantage of a star topology is the dependency of the whole </a:t>
            </a:r>
            <a:r>
              <a:rPr lang="en-US" sz="3000" dirty="0" smtClean="0">
                <a:solidFill>
                  <a:schemeClr val="tx1"/>
                </a:solidFill>
                <a:latin typeface="Book Antiqua" panose="02040602050305030304" pitchFamily="18" charset="0"/>
              </a:rPr>
              <a:t>topology on </a:t>
            </a:r>
            <a:r>
              <a:rPr lang="en-US" sz="3000" dirty="0">
                <a:solidFill>
                  <a:schemeClr val="tx1"/>
                </a:solidFill>
                <a:latin typeface="Book Antiqua" panose="02040602050305030304" pitchFamily="18" charset="0"/>
              </a:rPr>
              <a:t>one single point, the </a:t>
            </a:r>
            <a:r>
              <a:rPr lang="en-US" sz="3000" dirty="0" smtClean="0">
                <a:solidFill>
                  <a:schemeClr val="tx1"/>
                </a:solidFill>
                <a:latin typeface="Book Antiqua" panose="02040602050305030304" pitchFamily="18" charset="0"/>
              </a:rPr>
              <a:t>hub.</a:t>
            </a:r>
          </a:p>
          <a:p>
            <a:pPr marL="457200" indent="-457200" algn="l">
              <a:buFont typeface="Arial" panose="020B0604020202020204" pitchFamily="34" charset="0"/>
              <a:buChar char="•"/>
            </a:pPr>
            <a:r>
              <a:rPr lang="en-US" sz="3000" dirty="0">
                <a:solidFill>
                  <a:schemeClr val="tx1"/>
                </a:solidFill>
                <a:latin typeface="Book Antiqua" panose="02040602050305030304" pitchFamily="18" charset="0"/>
              </a:rPr>
              <a:t>If the hub goes down, the whole system is dead</a:t>
            </a:r>
            <a:r>
              <a:rPr lang="en-US" sz="30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3000" dirty="0">
                <a:solidFill>
                  <a:schemeClr val="tx1"/>
                </a:solidFill>
                <a:latin typeface="Book Antiqua" panose="02040602050305030304" pitchFamily="18" charset="0"/>
              </a:rPr>
              <a:t>The star topology is used in local-area networks (LANs</a:t>
            </a:r>
            <a:r>
              <a:rPr lang="en-US" sz="3000" dirty="0" smtClean="0">
                <a:solidFill>
                  <a:schemeClr val="tx1"/>
                </a:solidFill>
                <a:latin typeface="Book Antiqua" panose="02040602050305030304" pitchFamily="18" charset="0"/>
              </a:rPr>
              <a:t>), high speed LAN’s.</a:t>
            </a:r>
          </a:p>
          <a:p>
            <a:pPr marL="457200" indent="-457200" algn="l">
              <a:buFont typeface="Arial" panose="020B0604020202020204" pitchFamily="34" charset="0"/>
              <a:buChar char="•"/>
            </a:pPr>
            <a:r>
              <a:rPr lang="en-US" sz="3000" dirty="0">
                <a:solidFill>
                  <a:schemeClr val="tx1"/>
                </a:solidFill>
                <a:latin typeface="Book Antiqua" panose="02040602050305030304" pitchFamily="18" charset="0"/>
              </a:rPr>
              <a:t>Although a star requires far less cable than a mesh, each node must be linked to </a:t>
            </a:r>
            <a:r>
              <a:rPr lang="en-US" sz="3000" dirty="0" smtClean="0">
                <a:solidFill>
                  <a:schemeClr val="tx1"/>
                </a:solidFill>
                <a:latin typeface="Book Antiqua" panose="02040602050305030304" pitchFamily="18" charset="0"/>
              </a:rPr>
              <a:t>a central </a:t>
            </a:r>
            <a:r>
              <a:rPr lang="en-US" sz="3000" dirty="0">
                <a:solidFill>
                  <a:schemeClr val="tx1"/>
                </a:solidFill>
                <a:latin typeface="Book Antiqua" panose="02040602050305030304" pitchFamily="18" charset="0"/>
              </a:rPr>
              <a:t>hub</a:t>
            </a:r>
            <a:r>
              <a:rPr lang="en-US" sz="30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3000" dirty="0">
                <a:solidFill>
                  <a:schemeClr val="tx1"/>
                </a:solidFill>
                <a:latin typeface="Book Antiqua" panose="02040602050305030304" pitchFamily="18" charset="0"/>
              </a:rPr>
              <a:t>For this reason, often more cabling is required in a star than in some </a:t>
            </a:r>
            <a:r>
              <a:rPr lang="en-US" sz="3000" dirty="0" smtClean="0">
                <a:solidFill>
                  <a:schemeClr val="tx1"/>
                </a:solidFill>
                <a:latin typeface="Book Antiqua" panose="02040602050305030304" pitchFamily="18" charset="0"/>
              </a:rPr>
              <a:t>other topologies </a:t>
            </a:r>
            <a:r>
              <a:rPr lang="en-US" sz="3000" dirty="0">
                <a:solidFill>
                  <a:schemeClr val="tx1"/>
                </a:solidFill>
                <a:latin typeface="Book Antiqua" panose="02040602050305030304" pitchFamily="18" charset="0"/>
              </a:rPr>
              <a:t>(such as ring or bus).</a:t>
            </a:r>
          </a:p>
        </p:txBody>
      </p:sp>
    </p:spTree>
    <p:extLst>
      <p:ext uri="{BB962C8B-B14F-4D97-AF65-F5344CB8AC3E}">
        <p14:creationId xmlns:p14="http://schemas.microsoft.com/office/powerpoint/2010/main" val="2546006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Bus Topology</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lstStyle/>
          <a:p>
            <a:pPr marL="457200" indent="-457200" algn="l">
              <a:buFont typeface="Arial" panose="020B0604020202020204" pitchFamily="34" charset="0"/>
              <a:buChar char="•"/>
            </a:pPr>
            <a:r>
              <a:rPr lang="en-US" sz="3000" dirty="0" smtClean="0">
                <a:solidFill>
                  <a:schemeClr val="tx1"/>
                </a:solidFill>
                <a:latin typeface="Book Antiqua" panose="02040602050305030304" pitchFamily="18" charset="0"/>
              </a:rPr>
              <a:t>The preceding topologies(star and mesh) are based on point to point connection.</a:t>
            </a:r>
          </a:p>
          <a:p>
            <a:pPr marL="457200" indent="-457200" algn="l">
              <a:buFont typeface="Arial" panose="020B0604020202020204" pitchFamily="34" charset="0"/>
              <a:buChar char="•"/>
            </a:pPr>
            <a:r>
              <a:rPr lang="en-US" sz="3000" dirty="0">
                <a:solidFill>
                  <a:schemeClr val="tx1"/>
                </a:solidFill>
                <a:latin typeface="Book Antiqua" panose="02040602050305030304" pitchFamily="18" charset="0"/>
              </a:rPr>
              <a:t>A </a:t>
            </a:r>
            <a:r>
              <a:rPr lang="en-US" sz="3000" dirty="0" smtClean="0">
                <a:solidFill>
                  <a:schemeClr val="tx1"/>
                </a:solidFill>
                <a:latin typeface="Book Antiqua" panose="02040602050305030304" pitchFamily="18" charset="0"/>
              </a:rPr>
              <a:t>bus topology</a:t>
            </a:r>
            <a:r>
              <a:rPr lang="en-US" sz="3000" dirty="0">
                <a:solidFill>
                  <a:schemeClr val="tx1"/>
                </a:solidFill>
                <a:latin typeface="Book Antiqua" panose="02040602050305030304" pitchFamily="18" charset="0"/>
              </a:rPr>
              <a:t>, on the other hand, </a:t>
            </a:r>
            <a:r>
              <a:rPr lang="en-US" sz="3000" dirty="0" smtClean="0">
                <a:solidFill>
                  <a:schemeClr val="tx1"/>
                </a:solidFill>
                <a:latin typeface="Book Antiqua" panose="02040602050305030304" pitchFamily="18" charset="0"/>
              </a:rPr>
              <a:t>is multipoint.</a:t>
            </a:r>
          </a:p>
          <a:p>
            <a:pPr marL="457200" indent="-457200" algn="l">
              <a:buFont typeface="Arial" panose="020B0604020202020204" pitchFamily="34" charset="0"/>
              <a:buChar char="•"/>
            </a:pPr>
            <a:r>
              <a:rPr lang="en-US" sz="3000" dirty="0">
                <a:solidFill>
                  <a:schemeClr val="tx1"/>
                </a:solidFill>
                <a:latin typeface="Book Antiqua" panose="02040602050305030304" pitchFamily="18" charset="0"/>
              </a:rPr>
              <a:t>One long cable acts as a backbone to link </a:t>
            </a:r>
            <a:r>
              <a:rPr lang="en-US" sz="3000" dirty="0" smtClean="0">
                <a:solidFill>
                  <a:schemeClr val="tx1"/>
                </a:solidFill>
                <a:latin typeface="Book Antiqua" panose="02040602050305030304" pitchFamily="18" charset="0"/>
              </a:rPr>
              <a:t>all the </a:t>
            </a:r>
            <a:r>
              <a:rPr lang="en-US" sz="3000" dirty="0">
                <a:solidFill>
                  <a:schemeClr val="tx1"/>
                </a:solidFill>
                <a:latin typeface="Book Antiqua" panose="02040602050305030304" pitchFamily="18" charset="0"/>
              </a:rPr>
              <a:t>devices in a </a:t>
            </a:r>
            <a:r>
              <a:rPr lang="en-US" sz="3000" dirty="0" smtClean="0">
                <a:solidFill>
                  <a:schemeClr val="tx1"/>
                </a:solidFill>
                <a:latin typeface="Book Antiqua" panose="02040602050305030304" pitchFamily="18" charset="0"/>
              </a:rPr>
              <a:t>network.</a:t>
            </a:r>
          </a:p>
          <a:p>
            <a:pPr marL="457200" indent="-457200" algn="l">
              <a:buFont typeface="Arial" panose="020B0604020202020204" pitchFamily="34" charset="0"/>
              <a:buChar char="•"/>
            </a:pPr>
            <a:r>
              <a:rPr lang="en-US" sz="3000" dirty="0">
                <a:solidFill>
                  <a:schemeClr val="tx1"/>
                </a:solidFill>
                <a:latin typeface="Book Antiqua" panose="02040602050305030304" pitchFamily="18" charset="0"/>
              </a:rPr>
              <a:t>Nodes are connected to the bus cable by drop lines and taps.</a:t>
            </a:r>
            <a:endParaRPr lang="en-US" sz="3000"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dirty="0">
              <a:solidFill>
                <a:schemeClr val="tx1"/>
              </a:solidFill>
              <a:latin typeface="Book Antiqua" panose="020406020503050303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4343401"/>
            <a:ext cx="7431779" cy="2439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722251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Bus Topology</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lstStyle/>
          <a:p>
            <a:pPr marL="457200" indent="-457200" algn="l">
              <a:buFont typeface="Arial" panose="020B0604020202020204" pitchFamily="34" charset="0"/>
              <a:buChar char="•"/>
            </a:pPr>
            <a:r>
              <a:rPr lang="en-US" dirty="0">
                <a:solidFill>
                  <a:schemeClr val="tx1"/>
                </a:solidFill>
                <a:latin typeface="Book Antiqua" panose="02040602050305030304" pitchFamily="18" charset="0"/>
              </a:rPr>
              <a:t>A drop line is a </a:t>
            </a:r>
            <a:r>
              <a:rPr lang="en-US" dirty="0" smtClean="0">
                <a:solidFill>
                  <a:schemeClr val="tx1"/>
                </a:solidFill>
                <a:latin typeface="Book Antiqua" panose="02040602050305030304" pitchFamily="18" charset="0"/>
              </a:rPr>
              <a:t>connection running </a:t>
            </a:r>
            <a:r>
              <a:rPr lang="en-US" dirty="0">
                <a:solidFill>
                  <a:schemeClr val="tx1"/>
                </a:solidFill>
                <a:latin typeface="Book Antiqua" panose="02040602050305030304" pitchFamily="18" charset="0"/>
              </a:rPr>
              <a:t>between the device and the main cable</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A tap is a connector that </a:t>
            </a:r>
            <a:r>
              <a:rPr lang="en-US" dirty="0" smtClean="0">
                <a:solidFill>
                  <a:schemeClr val="tx1"/>
                </a:solidFill>
                <a:latin typeface="Book Antiqua" panose="02040602050305030304" pitchFamily="18" charset="0"/>
              </a:rPr>
              <a:t>either splices </a:t>
            </a:r>
            <a:r>
              <a:rPr lang="en-US" dirty="0">
                <a:solidFill>
                  <a:schemeClr val="tx1"/>
                </a:solidFill>
                <a:latin typeface="Book Antiqua" panose="02040602050305030304" pitchFamily="18" charset="0"/>
              </a:rPr>
              <a:t>into the main cable or punctures the sheathing of a cable to create a contact </a:t>
            </a:r>
            <a:r>
              <a:rPr lang="en-US" dirty="0" smtClean="0">
                <a:solidFill>
                  <a:schemeClr val="tx1"/>
                </a:solidFill>
                <a:latin typeface="Book Antiqua" panose="02040602050305030304" pitchFamily="18" charset="0"/>
              </a:rPr>
              <a:t>with the </a:t>
            </a:r>
            <a:r>
              <a:rPr lang="en-US" dirty="0">
                <a:solidFill>
                  <a:schemeClr val="tx1"/>
                </a:solidFill>
                <a:latin typeface="Book Antiqua" panose="02040602050305030304" pitchFamily="18" charset="0"/>
              </a:rPr>
              <a:t>metallic </a:t>
            </a:r>
            <a:r>
              <a:rPr lang="en-US" dirty="0" smtClean="0">
                <a:solidFill>
                  <a:schemeClr val="tx1"/>
                </a:solidFill>
                <a:latin typeface="Book Antiqua" panose="02040602050305030304" pitchFamily="18" charset="0"/>
              </a:rPr>
              <a:t>core.</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Signals becomes weaker and weaker as it travels farther and </a:t>
            </a:r>
            <a:r>
              <a:rPr lang="en-US" dirty="0" smtClean="0">
                <a:solidFill>
                  <a:schemeClr val="tx1"/>
                </a:solidFill>
                <a:latin typeface="Book Antiqua" panose="02040602050305030304" pitchFamily="18" charset="0"/>
              </a:rPr>
              <a:t>farther.</a:t>
            </a:r>
          </a:p>
          <a:p>
            <a:pPr marL="457200" indent="-457200" algn="l">
              <a:buFont typeface="Arial" panose="020B0604020202020204" pitchFamily="34" charset="0"/>
              <a:buChar char="•"/>
            </a:pPr>
            <a:r>
              <a:rPr lang="en-US" dirty="0" smtClean="0">
                <a:solidFill>
                  <a:schemeClr val="tx1"/>
                </a:solidFill>
                <a:latin typeface="Book Antiqua" panose="02040602050305030304" pitchFamily="18" charset="0"/>
              </a:rPr>
              <a:t>For this </a:t>
            </a:r>
            <a:r>
              <a:rPr lang="en-US" dirty="0">
                <a:solidFill>
                  <a:schemeClr val="tx1"/>
                </a:solidFill>
                <a:latin typeface="Book Antiqua" panose="02040602050305030304" pitchFamily="18" charset="0"/>
              </a:rPr>
              <a:t>reason there is a limit on the number of taps a bus can support and on the </a:t>
            </a:r>
            <a:r>
              <a:rPr lang="en-US" dirty="0" smtClean="0">
                <a:solidFill>
                  <a:schemeClr val="tx1"/>
                </a:solidFill>
                <a:latin typeface="Book Antiqua" panose="02040602050305030304" pitchFamily="18" charset="0"/>
              </a:rPr>
              <a:t>distance between </a:t>
            </a:r>
            <a:r>
              <a:rPr lang="en-US" dirty="0">
                <a:solidFill>
                  <a:schemeClr val="tx1"/>
                </a:solidFill>
                <a:latin typeface="Book Antiqua" panose="02040602050305030304" pitchFamily="18" charset="0"/>
              </a:rPr>
              <a:t>those taps.</a:t>
            </a:r>
          </a:p>
          <a:p>
            <a:pPr marL="457200" indent="-457200" algn="l">
              <a:buFont typeface="Arial" panose="020B0604020202020204" pitchFamily="34" charset="0"/>
              <a:buChar char="•"/>
            </a:pPr>
            <a:endParaRPr lang="en-US" dirty="0">
              <a:solidFill>
                <a:schemeClr val="tx1"/>
              </a:solidFill>
              <a:latin typeface="Book Antiqua" panose="02040602050305030304" pitchFamily="18" charset="0"/>
            </a:endParaRPr>
          </a:p>
        </p:txBody>
      </p:sp>
    </p:spTree>
    <p:extLst>
      <p:ext uri="{BB962C8B-B14F-4D97-AF65-F5344CB8AC3E}">
        <p14:creationId xmlns:p14="http://schemas.microsoft.com/office/powerpoint/2010/main" val="298963596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Bus Topology-Advantages</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a:bodyPr>
          <a:lstStyle/>
          <a:p>
            <a:pPr marL="457200" indent="-457200" algn="l">
              <a:buFont typeface="Arial" panose="020B0604020202020204" pitchFamily="34" charset="0"/>
              <a:buChar char="•"/>
            </a:pPr>
            <a:r>
              <a:rPr lang="en-US" dirty="0">
                <a:solidFill>
                  <a:schemeClr val="tx1"/>
                </a:solidFill>
                <a:latin typeface="Book Antiqua" panose="02040602050305030304" pitchFamily="18" charset="0"/>
              </a:rPr>
              <a:t>Advantages of a bus topology include ease of installation</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a bus uses less cabling than mesh or star topologies</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In a star, </a:t>
            </a:r>
            <a:r>
              <a:rPr lang="en-US" dirty="0" smtClean="0">
                <a:solidFill>
                  <a:schemeClr val="tx1"/>
                </a:solidFill>
                <a:latin typeface="Book Antiqua" panose="02040602050305030304" pitchFamily="18" charset="0"/>
              </a:rPr>
              <a:t>for example</a:t>
            </a:r>
            <a:r>
              <a:rPr lang="en-US" dirty="0">
                <a:solidFill>
                  <a:schemeClr val="tx1"/>
                </a:solidFill>
                <a:latin typeface="Book Antiqua" panose="02040602050305030304" pitchFamily="18" charset="0"/>
              </a:rPr>
              <a:t>, four network devices in the same room require four lengths of </a:t>
            </a:r>
            <a:r>
              <a:rPr lang="en-US" dirty="0" smtClean="0">
                <a:solidFill>
                  <a:schemeClr val="tx1"/>
                </a:solidFill>
                <a:latin typeface="Book Antiqua" panose="02040602050305030304" pitchFamily="18" charset="0"/>
              </a:rPr>
              <a:t>cable.</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In a bus, this redundancy is eliminated. Only the backbone </a:t>
            </a:r>
            <a:r>
              <a:rPr lang="en-US" dirty="0" smtClean="0">
                <a:solidFill>
                  <a:schemeClr val="tx1"/>
                </a:solidFill>
                <a:latin typeface="Book Antiqua" panose="02040602050305030304" pitchFamily="18" charset="0"/>
              </a:rPr>
              <a:t>cable stretches </a:t>
            </a:r>
            <a:r>
              <a:rPr lang="en-US" dirty="0">
                <a:solidFill>
                  <a:schemeClr val="tx1"/>
                </a:solidFill>
                <a:latin typeface="Book Antiqua" panose="02040602050305030304" pitchFamily="18" charset="0"/>
              </a:rPr>
              <a:t>through the entire facility</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Each drop line has to reach only as far as the </a:t>
            </a:r>
            <a:r>
              <a:rPr lang="en-US" dirty="0" smtClean="0">
                <a:solidFill>
                  <a:schemeClr val="tx1"/>
                </a:solidFill>
                <a:latin typeface="Book Antiqua" panose="02040602050305030304" pitchFamily="18" charset="0"/>
              </a:rPr>
              <a:t>nearest point </a:t>
            </a:r>
            <a:r>
              <a:rPr lang="en-US" dirty="0">
                <a:solidFill>
                  <a:schemeClr val="tx1"/>
                </a:solidFill>
                <a:latin typeface="Book Antiqua" panose="02040602050305030304" pitchFamily="18" charset="0"/>
              </a:rPr>
              <a:t>on the backbone.</a:t>
            </a:r>
          </a:p>
        </p:txBody>
      </p:sp>
    </p:spTree>
    <p:extLst>
      <p:ext uri="{BB962C8B-B14F-4D97-AF65-F5344CB8AC3E}">
        <p14:creationId xmlns:p14="http://schemas.microsoft.com/office/powerpoint/2010/main" val="320665431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Bus Topology- Disadvantages</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lstStyle/>
          <a:p>
            <a:pPr marL="457200" indent="-457200" algn="l">
              <a:buFont typeface="Arial" panose="020B0604020202020204" pitchFamily="34" charset="0"/>
              <a:buChar char="•"/>
            </a:pPr>
            <a:r>
              <a:rPr lang="en-US" dirty="0">
                <a:solidFill>
                  <a:schemeClr val="tx1"/>
                </a:solidFill>
                <a:latin typeface="Book Antiqua" panose="02040602050305030304" pitchFamily="18" charset="0"/>
              </a:rPr>
              <a:t>Disadvantages include difficult reconnection and fault isolation</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A bus is </a:t>
            </a:r>
            <a:r>
              <a:rPr lang="en-US" dirty="0" smtClean="0">
                <a:solidFill>
                  <a:schemeClr val="tx1"/>
                </a:solidFill>
                <a:latin typeface="Book Antiqua" panose="02040602050305030304" pitchFamily="18" charset="0"/>
              </a:rPr>
              <a:t>usually designed </a:t>
            </a:r>
            <a:r>
              <a:rPr lang="en-US" dirty="0">
                <a:solidFill>
                  <a:schemeClr val="tx1"/>
                </a:solidFill>
                <a:latin typeface="Book Antiqua" panose="02040602050305030304" pitchFamily="18" charset="0"/>
              </a:rPr>
              <a:t>to be optimally efficient at installation. It can therefore be difficult to add </a:t>
            </a:r>
            <a:r>
              <a:rPr lang="en-US" dirty="0" smtClean="0">
                <a:solidFill>
                  <a:schemeClr val="tx1"/>
                </a:solidFill>
                <a:latin typeface="Book Antiqua" panose="02040602050305030304" pitchFamily="18" charset="0"/>
              </a:rPr>
              <a:t>new devices.</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Signal reflection at the taps can cause degradation in quality</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Adding new devices may therefore require modification or </a:t>
            </a:r>
            <a:r>
              <a:rPr lang="en-US" dirty="0" smtClean="0">
                <a:solidFill>
                  <a:schemeClr val="tx1"/>
                </a:solidFill>
                <a:latin typeface="Book Antiqua" panose="02040602050305030304" pitchFamily="18" charset="0"/>
              </a:rPr>
              <a:t>replacement of </a:t>
            </a:r>
            <a:r>
              <a:rPr lang="en-US" dirty="0">
                <a:solidFill>
                  <a:schemeClr val="tx1"/>
                </a:solidFill>
                <a:latin typeface="Book Antiqua" panose="02040602050305030304" pitchFamily="18" charset="0"/>
              </a:rPr>
              <a:t>the backbone</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In addition, a fault or break in the bus cable stops </a:t>
            </a:r>
            <a:r>
              <a:rPr lang="en-US">
                <a:solidFill>
                  <a:schemeClr val="tx1"/>
                </a:solidFill>
                <a:latin typeface="Book Antiqua" panose="02040602050305030304" pitchFamily="18" charset="0"/>
              </a:rPr>
              <a:t>all </a:t>
            </a:r>
            <a:r>
              <a:rPr lang="en-US" smtClean="0">
                <a:solidFill>
                  <a:schemeClr val="tx1"/>
                </a:solidFill>
                <a:latin typeface="Book Antiqua" panose="02040602050305030304" pitchFamily="18" charset="0"/>
              </a:rPr>
              <a:t>transmission.</a:t>
            </a:r>
            <a:endParaRPr lang="en-US" dirty="0">
              <a:solidFill>
                <a:schemeClr val="tx1"/>
              </a:solidFill>
              <a:latin typeface="Book Antiqua" panose="02040602050305030304" pitchFamily="18" charset="0"/>
            </a:endParaRPr>
          </a:p>
        </p:txBody>
      </p:sp>
    </p:spTree>
    <p:extLst>
      <p:ext uri="{BB962C8B-B14F-4D97-AF65-F5344CB8AC3E}">
        <p14:creationId xmlns:p14="http://schemas.microsoft.com/office/powerpoint/2010/main" val="175564058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Ring Topology </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lstStyle/>
          <a:p>
            <a:pPr marL="457200" indent="-457200" algn="l">
              <a:buFont typeface="Arial" panose="020B0604020202020204" pitchFamily="34" charset="0"/>
              <a:buChar char="•"/>
            </a:pPr>
            <a:r>
              <a:rPr lang="en-US" sz="3000" dirty="0">
                <a:solidFill>
                  <a:schemeClr val="tx1"/>
                </a:solidFill>
                <a:latin typeface="Book Antiqua" panose="02040602050305030304" pitchFamily="18" charset="0"/>
              </a:rPr>
              <a:t>In a ring topology, each device has a dedicated point-to-point </a:t>
            </a:r>
            <a:r>
              <a:rPr lang="en-US" sz="3000" dirty="0" smtClean="0">
                <a:solidFill>
                  <a:schemeClr val="tx1"/>
                </a:solidFill>
                <a:latin typeface="Book Antiqua" panose="02040602050305030304" pitchFamily="18" charset="0"/>
              </a:rPr>
              <a:t>connection with </a:t>
            </a:r>
            <a:r>
              <a:rPr lang="en-US" sz="3000" dirty="0">
                <a:solidFill>
                  <a:schemeClr val="tx1"/>
                </a:solidFill>
                <a:latin typeface="Book Antiqua" panose="02040602050305030304" pitchFamily="18" charset="0"/>
              </a:rPr>
              <a:t>only the two devices on either side of it</a:t>
            </a:r>
            <a:r>
              <a:rPr lang="en-US" sz="30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3000" dirty="0">
                <a:solidFill>
                  <a:schemeClr val="tx1"/>
                </a:solidFill>
                <a:latin typeface="Book Antiqua" panose="02040602050305030304" pitchFamily="18" charset="0"/>
              </a:rPr>
              <a:t>A signal is passed along the </a:t>
            </a:r>
            <a:r>
              <a:rPr lang="en-US" sz="3000" dirty="0" smtClean="0">
                <a:solidFill>
                  <a:schemeClr val="tx1"/>
                </a:solidFill>
                <a:latin typeface="Book Antiqua" panose="02040602050305030304" pitchFamily="18" charset="0"/>
              </a:rPr>
              <a:t>ring in </a:t>
            </a:r>
            <a:r>
              <a:rPr lang="en-US" sz="3000" dirty="0">
                <a:solidFill>
                  <a:schemeClr val="tx1"/>
                </a:solidFill>
                <a:latin typeface="Book Antiqua" panose="02040602050305030304" pitchFamily="18" charset="0"/>
              </a:rPr>
              <a:t>one direction, from device to device, until it reaches its destination</a:t>
            </a:r>
            <a:r>
              <a:rPr lang="en-US" sz="30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3000" dirty="0">
                <a:solidFill>
                  <a:schemeClr val="tx1"/>
                </a:solidFill>
                <a:latin typeface="Book Antiqua" panose="02040602050305030304" pitchFamily="18" charset="0"/>
              </a:rPr>
              <a:t>When a device receives a signal intended for </a:t>
            </a:r>
            <a:r>
              <a:rPr lang="en-US" sz="3000" dirty="0" smtClean="0">
                <a:solidFill>
                  <a:schemeClr val="tx1"/>
                </a:solidFill>
                <a:latin typeface="Book Antiqua" panose="02040602050305030304" pitchFamily="18" charset="0"/>
              </a:rPr>
              <a:t>another device</a:t>
            </a:r>
            <a:r>
              <a:rPr lang="en-US" sz="3000" dirty="0">
                <a:solidFill>
                  <a:schemeClr val="tx1"/>
                </a:solidFill>
                <a:latin typeface="Book Antiqua" panose="02040602050305030304" pitchFamily="18" charset="0"/>
              </a:rPr>
              <a:t>, its repeater regenerates the bits and </a:t>
            </a:r>
            <a:r>
              <a:rPr lang="en-US" sz="3000" dirty="0" smtClean="0">
                <a:solidFill>
                  <a:schemeClr val="tx1"/>
                </a:solidFill>
                <a:latin typeface="Book Antiqua" panose="02040602050305030304" pitchFamily="18" charset="0"/>
              </a:rPr>
              <a:t>passes.</a:t>
            </a:r>
            <a:endParaRPr lang="en-US" sz="3000"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dirty="0">
              <a:solidFill>
                <a:schemeClr val="tx1"/>
              </a:solidFill>
              <a:latin typeface="Book Antiqua" panose="020406020503050303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2473" y="4641273"/>
            <a:ext cx="5938240" cy="22167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932552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Advantages- Disadvantages</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lnSpcReduction="10000"/>
          </a:bodyPr>
          <a:lstStyle/>
          <a:p>
            <a:pPr marL="457200" indent="-457200" algn="l">
              <a:buFont typeface="Arial" panose="020B0604020202020204" pitchFamily="34" charset="0"/>
              <a:buChar char="•"/>
            </a:pPr>
            <a:r>
              <a:rPr lang="en-US" dirty="0">
                <a:solidFill>
                  <a:schemeClr val="tx1"/>
                </a:solidFill>
                <a:latin typeface="Book Antiqua" panose="02040602050305030304" pitchFamily="18" charset="0"/>
              </a:rPr>
              <a:t>A ring is relatively easy to install and reconfigure</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To add or delete a device </a:t>
            </a:r>
            <a:r>
              <a:rPr lang="en-US" dirty="0" smtClean="0">
                <a:solidFill>
                  <a:schemeClr val="tx1"/>
                </a:solidFill>
                <a:latin typeface="Book Antiqua" panose="02040602050305030304" pitchFamily="18" charset="0"/>
              </a:rPr>
              <a:t>requires changing </a:t>
            </a:r>
            <a:r>
              <a:rPr lang="en-US" dirty="0">
                <a:solidFill>
                  <a:schemeClr val="tx1"/>
                </a:solidFill>
                <a:latin typeface="Book Antiqua" panose="02040602050305030304" pitchFamily="18" charset="0"/>
              </a:rPr>
              <a:t>only two connections</a:t>
            </a:r>
            <a:r>
              <a:rPr lang="en-US" dirty="0" smtClean="0">
                <a:solidFill>
                  <a:schemeClr val="tx1"/>
                </a:solidFill>
                <a:latin typeface="Book Antiqua" panose="02040602050305030304" pitchFamily="18" charset="0"/>
              </a:rPr>
              <a:t>. Coz each device linked to its immediate neighbors.</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The only constraints are media and traffic </a:t>
            </a:r>
            <a:r>
              <a:rPr lang="en-US" dirty="0" smtClean="0">
                <a:solidFill>
                  <a:schemeClr val="tx1"/>
                </a:solidFill>
                <a:latin typeface="Book Antiqua" panose="02040602050305030304" pitchFamily="18" charset="0"/>
              </a:rPr>
              <a:t>considerations (maximum </a:t>
            </a:r>
            <a:r>
              <a:rPr lang="en-US" dirty="0">
                <a:solidFill>
                  <a:schemeClr val="tx1"/>
                </a:solidFill>
                <a:latin typeface="Book Antiqua" panose="02040602050305030304" pitchFamily="18" charset="0"/>
              </a:rPr>
              <a:t>ring length and number of devices).</a:t>
            </a:r>
          </a:p>
          <a:p>
            <a:pPr marL="457200" indent="-457200" algn="l">
              <a:buFont typeface="Arial" panose="020B0604020202020204" pitchFamily="34" charset="0"/>
              <a:buChar char="•"/>
            </a:pPr>
            <a:r>
              <a:rPr lang="en-US" dirty="0" smtClean="0">
                <a:solidFill>
                  <a:schemeClr val="tx1"/>
                </a:solidFill>
                <a:latin typeface="Book Antiqua" panose="02040602050305030304" pitchFamily="18" charset="0"/>
              </a:rPr>
              <a:t>Isolation </a:t>
            </a:r>
            <a:r>
              <a:rPr lang="en-US" dirty="0">
                <a:solidFill>
                  <a:schemeClr val="tx1"/>
                </a:solidFill>
                <a:latin typeface="Book Antiqua" panose="02040602050305030304" pitchFamily="18" charset="0"/>
              </a:rPr>
              <a:t>is simplified</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In a simple ring, a break </a:t>
            </a:r>
            <a:r>
              <a:rPr lang="en-US" dirty="0" smtClean="0">
                <a:solidFill>
                  <a:schemeClr val="tx1"/>
                </a:solidFill>
                <a:latin typeface="Book Antiqua" panose="02040602050305030304" pitchFamily="18" charset="0"/>
              </a:rPr>
              <a:t>in the </a:t>
            </a:r>
            <a:r>
              <a:rPr lang="en-US" dirty="0">
                <a:solidFill>
                  <a:schemeClr val="tx1"/>
                </a:solidFill>
                <a:latin typeface="Book Antiqua" panose="02040602050305030304" pitchFamily="18" charset="0"/>
              </a:rPr>
              <a:t>ring (such as a disabled station) can disable the entire network.</a:t>
            </a:r>
          </a:p>
        </p:txBody>
      </p:sp>
    </p:spTree>
    <p:extLst>
      <p:ext uri="{BB962C8B-B14F-4D97-AF65-F5344CB8AC3E}">
        <p14:creationId xmlns:p14="http://schemas.microsoft.com/office/powerpoint/2010/main" val="111941214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Hybrid Topology</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a:bodyPr>
          <a:lstStyle/>
          <a:p>
            <a:pPr marL="457200" indent="-457200" algn="l">
              <a:buFont typeface="Arial" panose="020B0604020202020204" pitchFamily="34" charset="0"/>
              <a:buChar char="•"/>
            </a:pPr>
            <a:r>
              <a:rPr lang="en-US" dirty="0">
                <a:solidFill>
                  <a:schemeClr val="tx1"/>
                </a:solidFill>
                <a:latin typeface="Book Antiqua" panose="02040602050305030304" pitchFamily="18" charset="0"/>
              </a:rPr>
              <a:t>A network can be hybrid. For example</a:t>
            </a:r>
            <a:r>
              <a:rPr lang="en-US" dirty="0" smtClean="0">
                <a:solidFill>
                  <a:schemeClr val="tx1"/>
                </a:solidFill>
                <a:latin typeface="Book Antiqua" panose="02040602050305030304" pitchFamily="18" charset="0"/>
              </a:rPr>
              <a:t>, </a:t>
            </a:r>
            <a:r>
              <a:rPr lang="en-US" dirty="0">
                <a:solidFill>
                  <a:schemeClr val="tx1"/>
                </a:solidFill>
                <a:latin typeface="Book Antiqua" panose="02040602050305030304" pitchFamily="18" charset="0"/>
              </a:rPr>
              <a:t>a main star </a:t>
            </a:r>
            <a:r>
              <a:rPr lang="en-US" dirty="0" smtClean="0">
                <a:solidFill>
                  <a:schemeClr val="tx1"/>
                </a:solidFill>
                <a:latin typeface="Book Antiqua" panose="02040602050305030304" pitchFamily="18" charset="0"/>
              </a:rPr>
              <a:t>topology with </a:t>
            </a:r>
            <a:r>
              <a:rPr lang="en-US" dirty="0">
                <a:solidFill>
                  <a:schemeClr val="tx1"/>
                </a:solidFill>
                <a:latin typeface="Book Antiqua" panose="02040602050305030304" pitchFamily="18" charset="0"/>
              </a:rPr>
              <a:t>each branch connecting several stations in a bus </a:t>
            </a:r>
            <a:r>
              <a:rPr lang="en-US" dirty="0" smtClean="0">
                <a:solidFill>
                  <a:schemeClr val="tx1"/>
                </a:solidFill>
                <a:latin typeface="Book Antiqua" panose="02040602050305030304" pitchFamily="18" charset="0"/>
              </a:rPr>
              <a:t>topology.</a:t>
            </a:r>
            <a:endParaRPr lang="en-US" dirty="0">
              <a:solidFill>
                <a:schemeClr val="tx1"/>
              </a:solidFill>
              <a:latin typeface="Book Antiqua" panose="02040602050305030304"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279073"/>
            <a:ext cx="7853855" cy="426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4759981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Categories of Network</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a:bodyPr>
          <a:lstStyle/>
          <a:p>
            <a:pPr marL="457200" indent="-457200" algn="l">
              <a:buFont typeface="Arial" panose="020B0604020202020204" pitchFamily="34" charset="0"/>
              <a:buChar char="•"/>
            </a:pPr>
            <a:r>
              <a:rPr lang="en-US" dirty="0" smtClean="0">
                <a:solidFill>
                  <a:schemeClr val="tx1"/>
                </a:solidFill>
                <a:latin typeface="Book Antiqua" panose="02040602050305030304" pitchFamily="18" charset="0"/>
              </a:rPr>
              <a:t>Generally </a:t>
            </a:r>
            <a:r>
              <a:rPr lang="en-US" dirty="0">
                <a:solidFill>
                  <a:schemeClr val="tx1"/>
                </a:solidFill>
                <a:latin typeface="Book Antiqua" panose="02040602050305030304" pitchFamily="18" charset="0"/>
              </a:rPr>
              <a:t>referring to two primary </a:t>
            </a:r>
            <a:r>
              <a:rPr lang="en-US" dirty="0" smtClean="0">
                <a:solidFill>
                  <a:schemeClr val="tx1"/>
                </a:solidFill>
                <a:latin typeface="Book Antiqua" panose="02040602050305030304" pitchFamily="18" charset="0"/>
              </a:rPr>
              <a:t>categories: local-area </a:t>
            </a:r>
            <a:r>
              <a:rPr lang="en-US" dirty="0">
                <a:solidFill>
                  <a:schemeClr val="tx1"/>
                </a:solidFill>
                <a:latin typeface="Book Antiqua" panose="02040602050305030304" pitchFamily="18" charset="0"/>
              </a:rPr>
              <a:t>networks and wide-area networks</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The category into which a </a:t>
            </a:r>
            <a:r>
              <a:rPr lang="en-US" dirty="0" smtClean="0">
                <a:solidFill>
                  <a:schemeClr val="tx1"/>
                </a:solidFill>
                <a:latin typeface="Book Antiqua" panose="02040602050305030304" pitchFamily="18" charset="0"/>
              </a:rPr>
              <a:t>network falls </a:t>
            </a:r>
            <a:r>
              <a:rPr lang="en-US" dirty="0">
                <a:solidFill>
                  <a:schemeClr val="tx1"/>
                </a:solidFill>
                <a:latin typeface="Book Antiqua" panose="02040602050305030304" pitchFamily="18" charset="0"/>
              </a:rPr>
              <a:t>is determined by its size</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A LAN normally covers an area less than 2 </a:t>
            </a:r>
            <a:r>
              <a:rPr lang="en-US" dirty="0" smtClean="0">
                <a:solidFill>
                  <a:schemeClr val="tx1"/>
                </a:solidFill>
                <a:latin typeface="Book Antiqua" panose="02040602050305030304" pitchFamily="18" charset="0"/>
              </a:rPr>
              <a:t>miles. A WAN can be </a:t>
            </a:r>
            <a:r>
              <a:rPr lang="en-US" dirty="0">
                <a:solidFill>
                  <a:schemeClr val="tx1"/>
                </a:solidFill>
                <a:latin typeface="Book Antiqua" panose="02040602050305030304" pitchFamily="18" charset="0"/>
              </a:rPr>
              <a:t>worldwide</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Networks of a size in between are normally referred to as </a:t>
            </a:r>
            <a:r>
              <a:rPr lang="en-US" dirty="0" smtClean="0">
                <a:solidFill>
                  <a:schemeClr val="tx1"/>
                </a:solidFill>
                <a:latin typeface="Book Antiqua" panose="02040602050305030304" pitchFamily="18" charset="0"/>
              </a:rPr>
              <a:t>metropolitan area networks </a:t>
            </a:r>
            <a:r>
              <a:rPr lang="en-US" dirty="0">
                <a:solidFill>
                  <a:schemeClr val="tx1"/>
                </a:solidFill>
                <a:latin typeface="Book Antiqua" panose="02040602050305030304" pitchFamily="18" charset="0"/>
              </a:rPr>
              <a:t>and span tens of miles.</a:t>
            </a:r>
          </a:p>
        </p:txBody>
      </p:sp>
    </p:spTree>
    <p:extLst>
      <p:ext uri="{BB962C8B-B14F-4D97-AF65-F5344CB8AC3E}">
        <p14:creationId xmlns:p14="http://schemas.microsoft.com/office/powerpoint/2010/main" val="221967738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Local Area Network : LAN</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a:bodyPr>
          <a:lstStyle/>
          <a:p>
            <a:pPr marL="457200" indent="-457200" algn="l">
              <a:buFont typeface="Arial" panose="020B0604020202020204" pitchFamily="34" charset="0"/>
              <a:buChar char="•"/>
            </a:pPr>
            <a:r>
              <a:rPr lang="en-US" dirty="0">
                <a:solidFill>
                  <a:schemeClr val="tx1"/>
                </a:solidFill>
                <a:latin typeface="Book Antiqua" panose="02040602050305030304" pitchFamily="18" charset="0"/>
              </a:rPr>
              <a:t>A local area network (LAN) is usually privately owned and links the devices in a </a:t>
            </a:r>
            <a:r>
              <a:rPr lang="en-US" dirty="0" smtClean="0">
                <a:solidFill>
                  <a:schemeClr val="tx1"/>
                </a:solidFill>
                <a:latin typeface="Book Antiqua" panose="02040602050305030304" pitchFamily="18" charset="0"/>
              </a:rPr>
              <a:t>single office</a:t>
            </a:r>
            <a:r>
              <a:rPr lang="en-US" dirty="0">
                <a:solidFill>
                  <a:schemeClr val="tx1"/>
                </a:solidFill>
                <a:latin typeface="Book Antiqua" panose="02040602050305030304" pitchFamily="18" charset="0"/>
              </a:rPr>
              <a:t>, building, or </a:t>
            </a:r>
            <a:r>
              <a:rPr lang="en-US" dirty="0" smtClean="0">
                <a:solidFill>
                  <a:schemeClr val="tx1"/>
                </a:solidFill>
                <a:latin typeface="Book Antiqua" panose="02040602050305030304" pitchFamily="18" charset="0"/>
              </a:rPr>
              <a:t>campus.</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Depending on the needs of an </a:t>
            </a:r>
            <a:r>
              <a:rPr lang="en-US" dirty="0" smtClean="0">
                <a:solidFill>
                  <a:schemeClr val="tx1"/>
                </a:solidFill>
                <a:latin typeface="Book Antiqua" panose="02040602050305030304" pitchFamily="18" charset="0"/>
              </a:rPr>
              <a:t>organization and </a:t>
            </a:r>
            <a:r>
              <a:rPr lang="en-US" dirty="0">
                <a:solidFill>
                  <a:schemeClr val="tx1"/>
                </a:solidFill>
                <a:latin typeface="Book Antiqua" panose="02040602050305030304" pitchFamily="18" charset="0"/>
              </a:rPr>
              <a:t>the type of technology used, a LAN can be as simple as two PCs and a printer </a:t>
            </a:r>
            <a:r>
              <a:rPr lang="en-US" dirty="0" smtClean="0">
                <a:solidFill>
                  <a:schemeClr val="tx1"/>
                </a:solidFill>
                <a:latin typeface="Book Antiqua" panose="02040602050305030304" pitchFamily="18" charset="0"/>
              </a:rPr>
              <a:t>in someone's </a:t>
            </a:r>
            <a:r>
              <a:rPr lang="en-US" dirty="0">
                <a:solidFill>
                  <a:schemeClr val="tx1"/>
                </a:solidFill>
                <a:latin typeface="Book Antiqua" panose="02040602050305030304" pitchFamily="18" charset="0"/>
              </a:rPr>
              <a:t>home office; or </a:t>
            </a:r>
            <a:endParaRPr lang="en-US"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r>
              <a:rPr lang="en-US" dirty="0" smtClean="0">
                <a:solidFill>
                  <a:schemeClr val="tx1"/>
                </a:solidFill>
                <a:latin typeface="Book Antiqua" panose="02040602050305030304" pitchFamily="18" charset="0"/>
              </a:rPr>
              <a:t>it </a:t>
            </a:r>
            <a:r>
              <a:rPr lang="en-US" dirty="0">
                <a:solidFill>
                  <a:schemeClr val="tx1"/>
                </a:solidFill>
                <a:latin typeface="Book Antiqua" panose="02040602050305030304" pitchFamily="18" charset="0"/>
              </a:rPr>
              <a:t>can extend throughout a company and include audio </a:t>
            </a:r>
            <a:r>
              <a:rPr lang="en-US" dirty="0" smtClean="0">
                <a:solidFill>
                  <a:schemeClr val="tx1"/>
                </a:solidFill>
                <a:latin typeface="Book Antiqua" panose="02040602050305030304" pitchFamily="18" charset="0"/>
              </a:rPr>
              <a:t>and video peripherals.</a:t>
            </a:r>
          </a:p>
          <a:p>
            <a:pPr marL="457200" indent="-457200" algn="l">
              <a:buFont typeface="Arial" panose="020B0604020202020204" pitchFamily="34" charset="0"/>
              <a:buChar char="•"/>
            </a:pPr>
            <a:r>
              <a:rPr lang="en-US" dirty="0" smtClean="0">
                <a:solidFill>
                  <a:schemeClr val="tx1"/>
                </a:solidFill>
                <a:latin typeface="Book Antiqua" panose="02040602050305030304" pitchFamily="18" charset="0"/>
              </a:rPr>
              <a:t>Currently</a:t>
            </a:r>
            <a:r>
              <a:rPr lang="en-US" dirty="0">
                <a:solidFill>
                  <a:schemeClr val="tx1"/>
                </a:solidFill>
                <a:latin typeface="Book Antiqua" panose="02040602050305030304" pitchFamily="18" charset="0"/>
              </a:rPr>
              <a:t>, LAN size is limited to a few kilometers.</a:t>
            </a:r>
          </a:p>
        </p:txBody>
      </p:sp>
    </p:spTree>
    <p:extLst>
      <p:ext uri="{BB962C8B-B14F-4D97-AF65-F5344CB8AC3E}">
        <p14:creationId xmlns:p14="http://schemas.microsoft.com/office/powerpoint/2010/main" val="120459277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Local Area Network-LAN</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LANs are designed to allow resources to be shared between personal computers </a:t>
            </a:r>
            <a:r>
              <a:rPr lang="en-US" sz="2800" dirty="0" smtClean="0">
                <a:solidFill>
                  <a:schemeClr val="tx1"/>
                </a:solidFill>
                <a:latin typeface="Book Antiqua" panose="02040602050305030304" pitchFamily="18" charset="0"/>
              </a:rPr>
              <a:t>or workstations.</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 resources to be shared can include hardware (e.g., a printer), </a:t>
            </a:r>
            <a:r>
              <a:rPr lang="en-US" sz="2800" dirty="0" smtClean="0">
                <a:solidFill>
                  <a:schemeClr val="tx1"/>
                </a:solidFill>
                <a:latin typeface="Book Antiqua" panose="02040602050305030304" pitchFamily="18" charset="0"/>
              </a:rPr>
              <a:t>software (e.g</a:t>
            </a:r>
            <a:r>
              <a:rPr lang="en-US" sz="2800" dirty="0">
                <a:solidFill>
                  <a:schemeClr val="tx1"/>
                </a:solidFill>
                <a:latin typeface="Book Antiqua" panose="02040602050305030304" pitchFamily="18" charset="0"/>
              </a:rPr>
              <a:t>., an application program), or data</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The most common LAN topologies are bus, ring, and </a:t>
            </a:r>
            <a:r>
              <a:rPr lang="en-US" sz="2800" dirty="0" smtClean="0">
                <a:solidFill>
                  <a:schemeClr val="tx1"/>
                </a:solidFill>
                <a:latin typeface="Book Antiqua" panose="02040602050305030304" pitchFamily="18" charset="0"/>
              </a:rPr>
              <a:t>star.</a:t>
            </a:r>
          </a:p>
          <a:p>
            <a:pPr marL="457200" indent="-457200" algn="l">
              <a:buFont typeface="Arial" panose="020B0604020202020204" pitchFamily="34" charset="0"/>
              <a:buChar char="•"/>
            </a:pPr>
            <a:endParaRPr lang="en-US" dirty="0">
              <a:solidFill>
                <a:schemeClr val="tx1"/>
              </a:solidFill>
              <a:latin typeface="Book Antiqua" panose="02040602050305030304"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3507164"/>
            <a:ext cx="4876800" cy="33300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7968468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latin typeface="Book Antiqua" panose="02040602050305030304" pitchFamily="18" charset="0"/>
              </a:rPr>
              <a:t>Each host in the LAN has an identifier, an address, that uniquely defines the host in the LAN. The packet sent by a host to another host carries both the source host’s and destination </a:t>
            </a:r>
            <a:r>
              <a:rPr lang="en-US" smtClean="0">
                <a:latin typeface="Book Antiqua" panose="02040602050305030304" pitchFamily="18" charset="0"/>
              </a:rPr>
              <a:t>host’s address.</a:t>
            </a:r>
            <a:endParaRPr lang="en-US" dirty="0"/>
          </a:p>
        </p:txBody>
      </p:sp>
      <p:sp>
        <p:nvSpPr>
          <p:cNvPr id="4" name="Title 1"/>
          <p:cNvSpPr>
            <a:spLocks noGrp="1"/>
          </p:cNvSpPr>
          <p:nvPr>
            <p:ph type="title"/>
          </p:nvPr>
        </p:nvSpPr>
        <p:spPr>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Local Area Network-LAN</a:t>
            </a:r>
            <a:endParaRPr lang="en-US" sz="3600" b="1" dirty="0">
              <a:latin typeface="Book Antiqua" panose="02040602050305030304" pitchFamily="18" charset="0"/>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Wide Area Network-WAN</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a:bodyPr>
          <a:lstStyle/>
          <a:p>
            <a:pPr marL="457200" indent="-457200" algn="l">
              <a:buFont typeface="Arial" panose="020B0604020202020204" pitchFamily="34" charset="0"/>
              <a:buChar char="•"/>
            </a:pPr>
            <a:r>
              <a:rPr lang="en-US" dirty="0" smtClean="0">
                <a:solidFill>
                  <a:schemeClr val="tx1"/>
                </a:solidFill>
                <a:latin typeface="Book Antiqua" panose="02040602050305030304" pitchFamily="18" charset="0"/>
              </a:rPr>
              <a:t>WAN </a:t>
            </a:r>
            <a:r>
              <a:rPr lang="en-US" dirty="0">
                <a:solidFill>
                  <a:schemeClr val="tx1"/>
                </a:solidFill>
                <a:latin typeface="Book Antiqua" panose="02040602050305030304" pitchFamily="18" charset="0"/>
              </a:rPr>
              <a:t>provides long-distance transmission of </a:t>
            </a:r>
            <a:r>
              <a:rPr lang="en-US" dirty="0" smtClean="0">
                <a:solidFill>
                  <a:schemeClr val="tx1"/>
                </a:solidFill>
                <a:latin typeface="Book Antiqua" panose="02040602050305030304" pitchFamily="18" charset="0"/>
              </a:rPr>
              <a:t>data </a:t>
            </a:r>
            <a:r>
              <a:rPr lang="en-US" dirty="0">
                <a:solidFill>
                  <a:schemeClr val="tx1"/>
                </a:solidFill>
                <a:latin typeface="Book Antiqua" panose="02040602050305030304" pitchFamily="18" charset="0"/>
              </a:rPr>
              <a:t>information over large geographic areas </a:t>
            </a:r>
            <a:r>
              <a:rPr lang="en-US" dirty="0" smtClean="0">
                <a:solidFill>
                  <a:schemeClr val="tx1"/>
                </a:solidFill>
                <a:latin typeface="Book Antiqua" panose="02040602050305030304" pitchFamily="18" charset="0"/>
              </a:rPr>
              <a:t>(country</a:t>
            </a:r>
            <a:r>
              <a:rPr lang="en-US" dirty="0">
                <a:solidFill>
                  <a:schemeClr val="tx1"/>
                </a:solidFill>
                <a:latin typeface="Book Antiqua" panose="02040602050305030304" pitchFamily="18" charset="0"/>
              </a:rPr>
              <a:t>, a </a:t>
            </a:r>
            <a:r>
              <a:rPr lang="en-US" dirty="0" smtClean="0">
                <a:solidFill>
                  <a:schemeClr val="tx1"/>
                </a:solidFill>
                <a:latin typeface="Book Antiqua" panose="02040602050305030304" pitchFamily="18" charset="0"/>
              </a:rPr>
              <a:t>continent, or even </a:t>
            </a:r>
            <a:r>
              <a:rPr lang="en-US" dirty="0">
                <a:solidFill>
                  <a:schemeClr val="tx1"/>
                </a:solidFill>
                <a:latin typeface="Book Antiqua" panose="02040602050305030304" pitchFamily="18" charset="0"/>
              </a:rPr>
              <a:t>the whole </a:t>
            </a:r>
            <a:r>
              <a:rPr lang="en-US" dirty="0" smtClean="0">
                <a:solidFill>
                  <a:schemeClr val="tx1"/>
                </a:solidFill>
                <a:latin typeface="Book Antiqua" panose="02040602050305030304" pitchFamily="18" charset="0"/>
              </a:rPr>
              <a:t>world). Referred as switched WAN.</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A WAN </a:t>
            </a:r>
            <a:r>
              <a:rPr lang="en-US" dirty="0" smtClean="0">
                <a:solidFill>
                  <a:schemeClr val="tx1"/>
                </a:solidFill>
                <a:latin typeface="Book Antiqua" panose="02040602050305030304" pitchFamily="18" charset="0"/>
              </a:rPr>
              <a:t>could be complex which connect </a:t>
            </a:r>
            <a:r>
              <a:rPr lang="en-US" dirty="0">
                <a:solidFill>
                  <a:schemeClr val="tx1"/>
                </a:solidFill>
                <a:latin typeface="Book Antiqua" panose="02040602050305030304" pitchFamily="18" charset="0"/>
              </a:rPr>
              <a:t>the Internet or </a:t>
            </a:r>
            <a:r>
              <a:rPr lang="en-US" dirty="0" smtClean="0">
                <a:solidFill>
                  <a:schemeClr val="tx1"/>
                </a:solidFill>
                <a:latin typeface="Book Antiqua" panose="02040602050305030304" pitchFamily="18" charset="0"/>
              </a:rPr>
              <a:t>as simple </a:t>
            </a:r>
            <a:r>
              <a:rPr lang="en-US" dirty="0">
                <a:solidFill>
                  <a:schemeClr val="tx1"/>
                </a:solidFill>
                <a:latin typeface="Book Antiqua" panose="02040602050305030304" pitchFamily="18" charset="0"/>
              </a:rPr>
              <a:t>as a dial-up line that connects a home computer to the Internet</a:t>
            </a:r>
            <a:r>
              <a:rPr lang="en-US" dirty="0" smtClean="0">
                <a:solidFill>
                  <a:schemeClr val="tx1"/>
                </a:solidFill>
                <a:latin typeface="Book Antiqua" panose="02040602050305030304" pitchFamily="18" charset="0"/>
              </a:rPr>
              <a:t>. Referred as P2P WAN.</a:t>
            </a:r>
          </a:p>
          <a:p>
            <a:pPr marL="457200" indent="-457200" algn="l">
              <a:buFont typeface="Arial" panose="020B0604020202020204" pitchFamily="34" charset="0"/>
              <a:buChar char="•"/>
            </a:pPr>
            <a:r>
              <a:rPr lang="en-US" dirty="0" smtClean="0">
                <a:solidFill>
                  <a:schemeClr val="tx1"/>
                </a:solidFill>
                <a:latin typeface="Book Antiqua" panose="02040602050305030304" pitchFamily="18" charset="0"/>
              </a:rPr>
              <a:t>The Switched WAN connect end system(Router) to another LAN or WAN.</a:t>
            </a:r>
          </a:p>
          <a:p>
            <a:pPr marL="457200" indent="-457200" algn="l">
              <a:buFont typeface="Arial" panose="020B0604020202020204" pitchFamily="34" charset="0"/>
              <a:buChar char="•"/>
            </a:pPr>
            <a:endParaRPr lang="en-US"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dirty="0">
              <a:solidFill>
                <a:schemeClr val="tx1"/>
              </a:solidFill>
              <a:latin typeface="Book Antiqua" panose="02040602050305030304" pitchFamily="18" charset="0"/>
            </a:endParaRPr>
          </a:p>
        </p:txBody>
      </p:sp>
    </p:spTree>
    <p:extLst>
      <p:ext uri="{BB962C8B-B14F-4D97-AF65-F5344CB8AC3E}">
        <p14:creationId xmlns:p14="http://schemas.microsoft.com/office/powerpoint/2010/main" val="372326056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Switched WAN and P2P WAN</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a:bodyPr>
          <a:lstStyle/>
          <a:p>
            <a:pPr algn="l"/>
            <a:endParaRPr lang="en-US" dirty="0">
              <a:solidFill>
                <a:schemeClr val="tx1"/>
              </a:solidFill>
              <a:latin typeface="Book Antiqua" panose="020406020503050303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762000"/>
            <a:ext cx="8686800" cy="609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717993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a:latin typeface="Book Antiqua" panose="02040602050305030304" pitchFamily="18" charset="0"/>
              </a:rPr>
              <a:t>Metropolitan Area Networks</a:t>
            </a:r>
          </a:p>
        </p:txBody>
      </p:sp>
      <p:sp>
        <p:nvSpPr>
          <p:cNvPr id="3" name="Subtitle 2"/>
          <p:cNvSpPr>
            <a:spLocks noGrp="1"/>
          </p:cNvSpPr>
          <p:nvPr>
            <p:ph type="subTitle" idx="1"/>
          </p:nvPr>
        </p:nvSpPr>
        <p:spPr>
          <a:xfrm>
            <a:off x="0" y="685800"/>
            <a:ext cx="9144000" cy="6172200"/>
          </a:xfrm>
        </p:spPr>
        <p:txBody>
          <a:bodyPr>
            <a:normAutofit/>
          </a:bodyPr>
          <a:lstStyle/>
          <a:p>
            <a:pPr marL="457200" indent="-457200" algn="l">
              <a:buFont typeface="Arial" panose="020B0604020202020204" pitchFamily="34" charset="0"/>
              <a:buChar char="•"/>
            </a:pPr>
            <a:r>
              <a:rPr lang="en-US" dirty="0" smtClean="0">
                <a:solidFill>
                  <a:schemeClr val="tx1"/>
                </a:solidFill>
                <a:latin typeface="Book Antiqua" panose="02040602050305030304" pitchFamily="18" charset="0"/>
              </a:rPr>
              <a:t>MAN </a:t>
            </a:r>
            <a:r>
              <a:rPr lang="en-US" dirty="0">
                <a:solidFill>
                  <a:schemeClr val="tx1"/>
                </a:solidFill>
                <a:latin typeface="Book Antiqua" panose="02040602050305030304" pitchFamily="18" charset="0"/>
              </a:rPr>
              <a:t>is a network with a size between a LAN and </a:t>
            </a:r>
            <a:r>
              <a:rPr lang="en-US" dirty="0" smtClean="0">
                <a:solidFill>
                  <a:schemeClr val="tx1"/>
                </a:solidFill>
                <a:latin typeface="Book Antiqua" panose="02040602050305030304" pitchFamily="18" charset="0"/>
              </a:rPr>
              <a:t>a WAN.</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It normally covers the area inside a town or a city</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It is designed for </a:t>
            </a:r>
            <a:r>
              <a:rPr lang="en-US" dirty="0" smtClean="0">
                <a:solidFill>
                  <a:schemeClr val="tx1"/>
                </a:solidFill>
                <a:latin typeface="Book Antiqua" panose="02040602050305030304" pitchFamily="18" charset="0"/>
              </a:rPr>
              <a:t>customers who </a:t>
            </a:r>
            <a:r>
              <a:rPr lang="en-US" dirty="0">
                <a:solidFill>
                  <a:schemeClr val="tx1"/>
                </a:solidFill>
                <a:latin typeface="Book Antiqua" panose="02040602050305030304" pitchFamily="18" charset="0"/>
              </a:rPr>
              <a:t>need a high-speed connectivity, normally to the </a:t>
            </a:r>
            <a:r>
              <a:rPr lang="en-US" dirty="0" smtClean="0">
                <a:solidFill>
                  <a:schemeClr val="tx1"/>
                </a:solidFill>
                <a:latin typeface="Book Antiqua" panose="02040602050305030304" pitchFamily="18" charset="0"/>
              </a:rPr>
              <a:t>Internet.</a:t>
            </a:r>
            <a:endParaRPr lang="en-US" dirty="0">
              <a:solidFill>
                <a:schemeClr val="tx1"/>
              </a:solidFill>
              <a:latin typeface="Book Antiqua" panose="02040602050305030304" pitchFamily="18" charset="0"/>
            </a:endParaRPr>
          </a:p>
        </p:txBody>
      </p:sp>
    </p:spTree>
    <p:extLst>
      <p:ext uri="{BB962C8B-B14F-4D97-AF65-F5344CB8AC3E}">
        <p14:creationId xmlns:p14="http://schemas.microsoft.com/office/powerpoint/2010/main" val="399536678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Switched Networks</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a:bodyPr>
          <a:lstStyle/>
          <a:p>
            <a:pPr marL="457200" indent="-457200" algn="l">
              <a:buFont typeface="Arial" panose="020B0604020202020204" pitchFamily="34" charset="0"/>
              <a:buChar char="•"/>
            </a:pPr>
            <a:r>
              <a:rPr lang="en-US" dirty="0" smtClean="0">
                <a:solidFill>
                  <a:schemeClr val="tx1"/>
                </a:solidFill>
                <a:latin typeface="Book Antiqua" panose="02040602050305030304" pitchFamily="18" charset="0"/>
              </a:rPr>
              <a:t>2 Types</a:t>
            </a:r>
          </a:p>
          <a:p>
            <a:pPr marL="914400" lvl="1" indent="-457200" algn="l">
              <a:buFont typeface="Arial" panose="020B0604020202020204" pitchFamily="34" charset="0"/>
              <a:buChar char="•"/>
            </a:pPr>
            <a:r>
              <a:rPr lang="en-US" dirty="0" smtClean="0">
                <a:solidFill>
                  <a:schemeClr val="tx1"/>
                </a:solidFill>
                <a:latin typeface="Book Antiqua" panose="02040602050305030304" pitchFamily="18" charset="0"/>
              </a:rPr>
              <a:t>Circuit switched networks.</a:t>
            </a:r>
          </a:p>
          <a:p>
            <a:pPr marL="914400" lvl="1" indent="-457200" algn="l">
              <a:buFont typeface="Arial" panose="020B0604020202020204" pitchFamily="34" charset="0"/>
              <a:buChar char="•"/>
            </a:pPr>
            <a:r>
              <a:rPr lang="en-US" dirty="0" smtClean="0">
                <a:solidFill>
                  <a:schemeClr val="tx1"/>
                </a:solidFill>
                <a:latin typeface="Book Antiqua" panose="02040602050305030304" pitchFamily="18" charset="0"/>
              </a:rPr>
              <a:t>Packet switched Networks.</a:t>
            </a:r>
            <a:endParaRPr lang="en-US" dirty="0">
              <a:solidFill>
                <a:schemeClr val="tx1"/>
              </a:solidFill>
              <a:latin typeface="Book Antiqua" panose="02040602050305030304" pitchFamily="18" charset="0"/>
            </a:endParaRPr>
          </a:p>
          <a:p>
            <a:pPr marL="457200" indent="-457200" algn="l">
              <a:buFont typeface="Arial" panose="020B0604020202020204" pitchFamily="34" charset="0"/>
              <a:buChar char="•"/>
            </a:pPr>
            <a:r>
              <a:rPr lang="en-US" dirty="0" smtClean="0">
                <a:solidFill>
                  <a:schemeClr val="tx1"/>
                </a:solidFill>
                <a:latin typeface="Book Antiqua" panose="02040602050305030304" pitchFamily="18" charset="0"/>
              </a:rPr>
              <a:t>Circuit Switched Network:</a:t>
            </a:r>
          </a:p>
          <a:p>
            <a:pPr marL="457200" indent="-457200" algn="l">
              <a:buFont typeface="Arial" panose="020B0604020202020204" pitchFamily="34" charset="0"/>
              <a:buChar char="•"/>
            </a:pPr>
            <a:endParaRPr lang="en-US" dirty="0" smtClean="0">
              <a:solidFill>
                <a:schemeClr val="tx1"/>
              </a:solidFill>
              <a:latin typeface="Book Antiqua" panose="020406020503050303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790825"/>
            <a:ext cx="9144000" cy="4067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561636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Circuit Switching Network</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lnSpcReduction="10000"/>
          </a:bodyPr>
          <a:lstStyle/>
          <a:p>
            <a:pPr marL="457200" indent="-457200" algn="l">
              <a:buFont typeface="Arial" panose="020B0604020202020204" pitchFamily="34" charset="0"/>
              <a:buChar char="•"/>
            </a:pPr>
            <a:r>
              <a:rPr lang="en-US" dirty="0" smtClean="0">
                <a:solidFill>
                  <a:schemeClr val="tx1"/>
                </a:solidFill>
                <a:latin typeface="Book Antiqua" panose="02040602050305030304" pitchFamily="18" charset="0"/>
              </a:rPr>
              <a:t>A dedicated connection called circuit is always available between two end system.</a:t>
            </a:r>
          </a:p>
          <a:p>
            <a:pPr marL="457200" indent="-457200" algn="l">
              <a:buFont typeface="Arial" panose="020B0604020202020204" pitchFamily="34" charset="0"/>
              <a:buChar char="•"/>
            </a:pPr>
            <a:r>
              <a:rPr lang="en-US" dirty="0" smtClean="0">
                <a:solidFill>
                  <a:schemeClr val="tx1"/>
                </a:solidFill>
                <a:latin typeface="Book Antiqua" panose="02040602050305030304" pitchFamily="18" charset="0"/>
              </a:rPr>
              <a:t>CSN is very common in telephone networks.</a:t>
            </a:r>
          </a:p>
          <a:p>
            <a:pPr marL="457200" indent="-457200" algn="l">
              <a:buFont typeface="Arial" panose="020B0604020202020204" pitchFamily="34" charset="0"/>
              <a:buChar char="•"/>
            </a:pPr>
            <a:r>
              <a:rPr lang="en-US" dirty="0" smtClean="0">
                <a:solidFill>
                  <a:schemeClr val="tx1"/>
                </a:solidFill>
                <a:latin typeface="Book Antiqua" panose="02040602050305030304" pitchFamily="18" charset="0"/>
              </a:rPr>
              <a:t>The capacity of the link is shared between all the devices in the network.</a:t>
            </a:r>
          </a:p>
          <a:p>
            <a:pPr marL="457200" indent="-457200" algn="l">
              <a:buFont typeface="Arial" panose="020B0604020202020204" pitchFamily="34" charset="0"/>
              <a:buChar char="•"/>
            </a:pPr>
            <a:r>
              <a:rPr lang="en-US" dirty="0" smtClean="0">
                <a:solidFill>
                  <a:schemeClr val="tx1"/>
                </a:solidFill>
                <a:latin typeface="Book Antiqua" panose="02040602050305030304" pitchFamily="18" charset="0"/>
              </a:rPr>
              <a:t>The switches have forwarding task but no storing capacity.</a:t>
            </a:r>
          </a:p>
          <a:p>
            <a:pPr marL="457200" indent="-457200" algn="l">
              <a:buFont typeface="Arial" panose="020B0604020202020204" pitchFamily="34" charset="0"/>
              <a:buChar char="•"/>
            </a:pPr>
            <a:r>
              <a:rPr lang="en-US" dirty="0" smtClean="0">
                <a:solidFill>
                  <a:schemeClr val="tx1"/>
                </a:solidFill>
                <a:latin typeface="Book Antiqua" panose="02040602050305030304" pitchFamily="18" charset="0"/>
              </a:rPr>
              <a:t>Either all the devices can utilize the bandwidth of the link, means the bandwidth is fully utilized.</a:t>
            </a:r>
          </a:p>
          <a:p>
            <a:pPr marL="457200" indent="-457200" algn="l">
              <a:buFont typeface="Arial" panose="020B0604020202020204" pitchFamily="34" charset="0"/>
              <a:buChar char="•"/>
            </a:pPr>
            <a:r>
              <a:rPr lang="en-US" dirty="0" smtClean="0">
                <a:solidFill>
                  <a:schemeClr val="tx1"/>
                </a:solidFill>
                <a:latin typeface="Book Antiqua" panose="02040602050305030304" pitchFamily="18" charset="0"/>
              </a:rPr>
              <a:t>During the idle time, complete bandwidth is unutilized for the dedicated link.</a:t>
            </a:r>
          </a:p>
          <a:p>
            <a:pPr algn="l"/>
            <a:endParaRPr lang="en-US"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dirty="0" smtClean="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dirty="0">
              <a:solidFill>
                <a:schemeClr val="tx1"/>
              </a:solidFill>
              <a:latin typeface="Book Antiqua" panose="02040602050305030304" pitchFamily="18" charset="0"/>
            </a:endParaRPr>
          </a:p>
        </p:txBody>
      </p:sp>
    </p:spTree>
    <p:extLst>
      <p:ext uri="{BB962C8B-B14F-4D97-AF65-F5344CB8AC3E}">
        <p14:creationId xmlns:p14="http://schemas.microsoft.com/office/powerpoint/2010/main" val="216124738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Packet Switched network</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a:bodyPr>
          <a:lstStyle/>
          <a:p>
            <a:pPr marL="457200" indent="-457200" algn="l">
              <a:buFont typeface="Arial" panose="020B0604020202020204" pitchFamily="34" charset="0"/>
              <a:buChar char="•"/>
            </a:pPr>
            <a:endParaRPr lang="en-US" dirty="0">
              <a:solidFill>
                <a:schemeClr val="tx1"/>
              </a:solidFill>
              <a:latin typeface="Book Antiqua" panose="02040602050305030304"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66800"/>
            <a:ext cx="9144000" cy="49529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5166156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Packet Switching</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a:bodyPr>
          <a:lstStyle/>
          <a:p>
            <a:pPr marL="457200" indent="-457200" algn="l">
              <a:buFont typeface="Arial" panose="020B0604020202020204" pitchFamily="34" charset="0"/>
              <a:buChar char="•"/>
            </a:pPr>
            <a:r>
              <a:rPr lang="en-US" dirty="0" smtClean="0">
                <a:solidFill>
                  <a:schemeClr val="tx1"/>
                </a:solidFill>
                <a:latin typeface="Book Antiqua" panose="02040602050305030304" pitchFamily="18" charset="0"/>
              </a:rPr>
              <a:t>Communication between the devices is done in blocks of data called packets.</a:t>
            </a:r>
          </a:p>
          <a:p>
            <a:pPr marL="457200" indent="-457200" algn="l">
              <a:buFont typeface="Arial" panose="020B0604020202020204" pitchFamily="34" charset="0"/>
              <a:buChar char="•"/>
            </a:pPr>
            <a:r>
              <a:rPr lang="en-US" dirty="0" smtClean="0">
                <a:solidFill>
                  <a:schemeClr val="tx1"/>
                </a:solidFill>
                <a:latin typeface="Book Antiqua" panose="02040602050305030304" pitchFamily="18" charset="0"/>
              </a:rPr>
              <a:t>We will exchange the packets with the help of switches/router. Switches support both storing and forwarding capacity.</a:t>
            </a:r>
          </a:p>
          <a:p>
            <a:pPr marL="457200" indent="-457200" algn="l">
              <a:buFont typeface="Arial" panose="020B0604020202020204" pitchFamily="34" charset="0"/>
              <a:buChar char="•"/>
            </a:pPr>
            <a:r>
              <a:rPr lang="en-US" dirty="0" smtClean="0">
                <a:solidFill>
                  <a:schemeClr val="tx1"/>
                </a:solidFill>
                <a:latin typeface="Book Antiqua" panose="02040602050305030304" pitchFamily="18" charset="0"/>
              </a:rPr>
              <a:t>The router has a queue that can store and forward the packets.</a:t>
            </a:r>
          </a:p>
          <a:p>
            <a:pPr marL="457200" indent="-457200" algn="l">
              <a:buFont typeface="Arial" panose="020B0604020202020204" pitchFamily="34" charset="0"/>
              <a:buChar char="•"/>
            </a:pPr>
            <a:r>
              <a:rPr lang="en-US" dirty="0" smtClean="0">
                <a:solidFill>
                  <a:schemeClr val="tx1"/>
                </a:solidFill>
                <a:latin typeface="Book Antiqua" panose="02040602050305030304" pitchFamily="18" charset="0"/>
              </a:rPr>
              <a:t>There is no dedicated path for packet to transfer. Hence packets may take different path.</a:t>
            </a:r>
          </a:p>
          <a:p>
            <a:pPr marL="457200" indent="-457200" algn="l">
              <a:buFont typeface="Arial" panose="020B0604020202020204" pitchFamily="34" charset="0"/>
              <a:buChar char="•"/>
            </a:pPr>
            <a:r>
              <a:rPr lang="en-US" dirty="0" smtClean="0">
                <a:solidFill>
                  <a:schemeClr val="tx1"/>
                </a:solidFill>
                <a:latin typeface="Book Antiqua" panose="02040602050305030304" pitchFamily="18" charset="0"/>
              </a:rPr>
              <a:t>Hence all the links can be effectively utilized.</a:t>
            </a:r>
          </a:p>
          <a:p>
            <a:pPr marL="457200" indent="-457200" algn="l">
              <a:buFont typeface="Arial" panose="020B0604020202020204" pitchFamily="34" charset="0"/>
              <a:buChar char="•"/>
            </a:pPr>
            <a:endParaRPr lang="en-US" dirty="0" smtClean="0">
              <a:solidFill>
                <a:schemeClr val="tx1"/>
              </a:solidFill>
              <a:latin typeface="Book Antiqua" panose="02040602050305030304" pitchFamily="18" charset="0"/>
            </a:endParaRPr>
          </a:p>
        </p:txBody>
      </p:sp>
    </p:spTree>
    <p:extLst>
      <p:ext uri="{BB962C8B-B14F-4D97-AF65-F5344CB8AC3E}">
        <p14:creationId xmlns:p14="http://schemas.microsoft.com/office/powerpoint/2010/main" val="263326410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Differences</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a:bodyPr>
          <a:lstStyle/>
          <a:p>
            <a:pPr marL="457200" indent="-457200" algn="l">
              <a:buFont typeface="Arial" panose="020B0604020202020204" pitchFamily="34" charset="0"/>
              <a:buChar char="•"/>
            </a:pPr>
            <a:endParaRPr lang="en-US" dirty="0">
              <a:solidFill>
                <a:schemeClr val="tx1"/>
              </a:solidFill>
              <a:latin typeface="Book Antiqua" panose="02040602050305030304"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742950"/>
            <a:ext cx="8153400" cy="6115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0894220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pPr algn="just"/>
            <a:r>
              <a:rPr lang="en-US" dirty="0" smtClean="0">
                <a:latin typeface="Book Antiqua" pitchFamily="18" charset="0"/>
              </a:rPr>
              <a:t>Protocol which is synonymous with rule.</a:t>
            </a:r>
          </a:p>
          <a:p>
            <a:pPr algn="just"/>
            <a:r>
              <a:rPr lang="en-US" dirty="0" smtClean="0">
                <a:latin typeface="Book Antiqua" pitchFamily="18" charset="0"/>
              </a:rPr>
              <a:t>Standards, which are agreed-upon rules.</a:t>
            </a:r>
          </a:p>
          <a:p>
            <a:pPr algn="just">
              <a:buNone/>
            </a:pPr>
            <a:r>
              <a:rPr lang="en-US" sz="4100" b="1" dirty="0" smtClean="0">
                <a:latin typeface="Book Antiqua" pitchFamily="18" charset="0"/>
              </a:rPr>
              <a:t>Protocols</a:t>
            </a:r>
          </a:p>
          <a:p>
            <a:pPr algn="just"/>
            <a:r>
              <a:rPr lang="en-US" dirty="0" smtClean="0">
                <a:latin typeface="Book Antiqua" pitchFamily="18" charset="0"/>
              </a:rPr>
              <a:t>In computer networks, communication occurs between entities in different systems. </a:t>
            </a:r>
          </a:p>
          <a:p>
            <a:pPr algn="just"/>
            <a:r>
              <a:rPr lang="en-US" dirty="0" smtClean="0">
                <a:latin typeface="Book Antiqua" pitchFamily="18" charset="0"/>
              </a:rPr>
              <a:t>An entity is anything capable of sending or receiving information. However, two entities cannot simply send bit streams to each other and expect to be understood. </a:t>
            </a:r>
          </a:p>
          <a:p>
            <a:pPr algn="just"/>
            <a:r>
              <a:rPr lang="en-US" dirty="0" smtClean="0">
                <a:latin typeface="Book Antiqua" pitchFamily="18" charset="0"/>
              </a:rPr>
              <a:t>For communication to occur, the entities must agree on a protocol. </a:t>
            </a:r>
          </a:p>
          <a:p>
            <a:pPr algn="just"/>
            <a:endParaRPr lang="en-US" dirty="0">
              <a:latin typeface="Book Antiqua" pitchFamily="18" charset="0"/>
            </a:endParaRPr>
          </a:p>
        </p:txBody>
      </p:sp>
      <p:sp>
        <p:nvSpPr>
          <p:cNvPr id="5" name="Title 1"/>
          <p:cNvSpPr>
            <a:spLocks noGrp="1"/>
          </p:cNvSpPr>
          <p:nvPr>
            <p:ph type="title"/>
          </p:nvPr>
        </p:nvSpPr>
        <p:spPr>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Protocols and Standards</a:t>
            </a:r>
            <a:endParaRPr lang="en-US" sz="3600" b="1" dirty="0">
              <a:latin typeface="Book Antiqua" panose="02040602050305030304" pitchFamily="18" charset="0"/>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14400"/>
            <a:ext cx="8458200" cy="5211763"/>
          </a:xfrm>
        </p:spPr>
        <p:txBody>
          <a:bodyPr>
            <a:normAutofit fontScale="92500" lnSpcReduction="20000"/>
          </a:bodyPr>
          <a:lstStyle/>
          <a:p>
            <a:pPr algn="just"/>
            <a:r>
              <a:rPr lang="en-US" dirty="0" smtClean="0">
                <a:latin typeface="Book Antiqua" pitchFamily="18" charset="0"/>
              </a:rPr>
              <a:t>A protocol is a set of rules that govern data communications. A protocol defines what is communicated, how it is communicated, and when it is communicated. The key elements of a protocol are syntax, semantics, and timing.</a:t>
            </a:r>
          </a:p>
          <a:p>
            <a:pPr algn="just"/>
            <a:r>
              <a:rPr lang="en-US" b="1" dirty="0" smtClean="0">
                <a:latin typeface="Book Antiqua" pitchFamily="18" charset="0"/>
              </a:rPr>
              <a:t>Syntax:</a:t>
            </a:r>
            <a:r>
              <a:rPr lang="en-US" dirty="0" smtClean="0">
                <a:latin typeface="Book Antiqua" pitchFamily="18" charset="0"/>
              </a:rPr>
              <a:t> The term syntax refers to the structure or format of the data, meaning the order in which they are presented. </a:t>
            </a:r>
          </a:p>
          <a:p>
            <a:pPr algn="just"/>
            <a:r>
              <a:rPr lang="en-US" dirty="0" smtClean="0">
                <a:latin typeface="Book Antiqua" pitchFamily="18" charset="0"/>
              </a:rPr>
              <a:t>For example, a simple protocol might expect the first 8 bits of data to be the address of the sender, the second 8 bits to be the address of the receiver, and the rest of the stream to be the message itself.</a:t>
            </a:r>
            <a:endParaRPr lang="en-US" dirty="0">
              <a:latin typeface="Book Antiqua" pitchFamily="18" charset="0"/>
            </a:endParaRPr>
          </a:p>
        </p:txBody>
      </p:sp>
      <p:sp>
        <p:nvSpPr>
          <p:cNvPr id="4" name="Title 1"/>
          <p:cNvSpPr txBox="1">
            <a:spLocks/>
          </p:cNvSpPr>
          <p:nvPr/>
        </p:nvSpPr>
        <p:spPr>
          <a:xfrm>
            <a:off x="-20782" y="0"/>
            <a:ext cx="9164782" cy="699655"/>
          </a:xfrm>
          <a:prstGeom prst="rect">
            <a:avLst/>
          </a:prstGeo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smtClean="0">
                <a:ln>
                  <a:noFill/>
                </a:ln>
                <a:solidFill>
                  <a:schemeClr val="tx1"/>
                </a:solidFill>
                <a:effectLst/>
                <a:uLnTx/>
                <a:uFillTx/>
                <a:latin typeface="Book Antiqua" panose="02040602050305030304" pitchFamily="18" charset="0"/>
                <a:ea typeface="+mj-ea"/>
                <a:cs typeface="+mj-cs"/>
              </a:rPr>
              <a:t>Protocols</a:t>
            </a:r>
            <a:endParaRPr kumimoji="0" lang="en-US" sz="3600" b="1" i="0" u="none" strike="noStrike" kern="1200" cap="none" spc="0" normalizeH="0" baseline="0" noProof="0" dirty="0">
              <a:ln>
                <a:noFill/>
              </a:ln>
              <a:solidFill>
                <a:schemeClr val="tx1"/>
              </a:solidFill>
              <a:effectLst/>
              <a:uLnTx/>
              <a:uFillTx/>
              <a:latin typeface="Book Antiqua" panose="02040602050305030304" pitchFamily="18" charset="0"/>
              <a:ea typeface="+mj-ea"/>
              <a:cs typeface="+mj-cs"/>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81000"/>
            <a:ext cx="8382000" cy="5745163"/>
          </a:xfrm>
        </p:spPr>
        <p:txBody>
          <a:bodyPr>
            <a:normAutofit fontScale="85000" lnSpcReduction="10000"/>
          </a:bodyPr>
          <a:lstStyle/>
          <a:p>
            <a:pPr algn="just"/>
            <a:r>
              <a:rPr lang="en-US" b="1" dirty="0" smtClean="0">
                <a:latin typeface="Book Antiqua" pitchFamily="18" charset="0"/>
              </a:rPr>
              <a:t>Semantics.</a:t>
            </a:r>
            <a:r>
              <a:rPr lang="en-US" dirty="0" smtClean="0">
                <a:latin typeface="Book Antiqua" pitchFamily="18" charset="0"/>
              </a:rPr>
              <a:t> The word semantics refers to the meaning of each section of bits. How is a particular pattern to be interpreted, and what action is to be taken based on that interpretation?</a:t>
            </a:r>
          </a:p>
          <a:p>
            <a:pPr algn="just"/>
            <a:r>
              <a:rPr lang="en-US" dirty="0" smtClean="0">
                <a:latin typeface="Book Antiqua" pitchFamily="18" charset="0"/>
              </a:rPr>
              <a:t> For example, does an address identify the route to be taken or the final destination of the message?</a:t>
            </a:r>
          </a:p>
          <a:p>
            <a:pPr algn="just"/>
            <a:r>
              <a:rPr lang="en-US" b="1" dirty="0" smtClean="0">
                <a:latin typeface="Book Antiqua" pitchFamily="18" charset="0"/>
              </a:rPr>
              <a:t>Timing.</a:t>
            </a:r>
            <a:r>
              <a:rPr lang="en-US" dirty="0" smtClean="0">
                <a:latin typeface="Book Antiqua" pitchFamily="18" charset="0"/>
              </a:rPr>
              <a:t> The term timing refers to two characteristics: when data should be sent and how fast they can be sent. </a:t>
            </a:r>
          </a:p>
          <a:p>
            <a:pPr algn="just"/>
            <a:r>
              <a:rPr lang="en-US" dirty="0" smtClean="0">
                <a:latin typeface="Book Antiqua" pitchFamily="18" charset="0"/>
              </a:rPr>
              <a:t>For example, if a sender produces data at 100 Mbps but the receiver can process data at only 1Mbps, the transmission will overload the receiver and some data will be lost.</a:t>
            </a:r>
          </a:p>
          <a:p>
            <a:pPr algn="just"/>
            <a:endParaRPr lang="en-US" dirty="0">
              <a:latin typeface="Book Antiqua" pitchFamily="18" charset="0"/>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5059363"/>
          </a:xfrm>
        </p:spPr>
        <p:txBody>
          <a:bodyPr>
            <a:normAutofit fontScale="92500" lnSpcReduction="10000"/>
          </a:bodyPr>
          <a:lstStyle/>
          <a:p>
            <a:pPr algn="just"/>
            <a:r>
              <a:rPr lang="en-US" dirty="0" smtClean="0">
                <a:latin typeface="Book Antiqua" pitchFamily="18" charset="0"/>
              </a:rPr>
              <a:t>Standards are essential in creating and maintaining an open and competitive market for equipment manufacturers and in guaranteeing national and international interoperability of data and telecommunications technology and processes. Standards provide guidelines</a:t>
            </a:r>
          </a:p>
          <a:p>
            <a:pPr algn="just"/>
            <a:r>
              <a:rPr lang="en-US" dirty="0" smtClean="0">
                <a:latin typeface="Book Antiqua" pitchFamily="18" charset="0"/>
              </a:rPr>
              <a:t> Data communication standards fall into two categories: de facto (meaning "by fact" or "by convention") and de jure (meaning "by law" or "by regulation"). </a:t>
            </a:r>
            <a:endParaRPr lang="en-US" dirty="0">
              <a:latin typeface="Book Antiqua" pitchFamily="18" charset="0"/>
            </a:endParaRPr>
          </a:p>
        </p:txBody>
      </p:sp>
      <p:sp>
        <p:nvSpPr>
          <p:cNvPr id="4" name="Title 1"/>
          <p:cNvSpPr>
            <a:spLocks noGrp="1"/>
          </p:cNvSpPr>
          <p:nvPr>
            <p:ph type="title"/>
          </p:nvPr>
        </p:nvSpPr>
        <p:spPr>
          <a:xfrm>
            <a:off x="381000" y="0"/>
            <a:ext cx="8534400" cy="9144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Standards</a:t>
            </a:r>
            <a:endParaRPr lang="en-US" sz="3600" b="1" dirty="0">
              <a:latin typeface="Book Antiqua" panose="02040602050305030304" pitchFamily="18" charset="0"/>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fontScale="92500" lnSpcReduction="10000"/>
          </a:bodyPr>
          <a:lstStyle/>
          <a:p>
            <a:pPr algn="just"/>
            <a:r>
              <a:rPr lang="en-US" dirty="0" smtClean="0">
                <a:latin typeface="Book Antiqua" pitchFamily="18" charset="0"/>
              </a:rPr>
              <a:t> De facto meaning ("by fact" or "by convention") : Standards that have not been approved by an organized body but have been adopted as standards through widespread use are de facto standards. De facto standards are often established originally by manufacturers who seek to define the functionality of a new product or technology.</a:t>
            </a:r>
          </a:p>
          <a:p>
            <a:pPr algn="just"/>
            <a:r>
              <a:rPr lang="en-US" dirty="0" smtClean="0">
                <a:latin typeface="Book Antiqua" pitchFamily="18" charset="0"/>
              </a:rPr>
              <a:t>De jure (meaning "by law" or "by regulation"). Those standards that have been legislated by an officially recognized body are de jure standards.</a:t>
            </a:r>
            <a:endParaRPr lang="en-US" dirty="0">
              <a:latin typeface="Book Antiqua" pitchFamily="18" charset="0"/>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219200"/>
            <a:ext cx="8305800" cy="4906963"/>
          </a:xfrm>
        </p:spPr>
        <p:txBody>
          <a:bodyPr>
            <a:normAutofit lnSpcReduction="10000"/>
          </a:bodyPr>
          <a:lstStyle/>
          <a:p>
            <a:pPr algn="just"/>
            <a:r>
              <a:rPr lang="en-US" dirty="0" smtClean="0">
                <a:latin typeface="Book Antiqua" pitchFamily="18" charset="0"/>
              </a:rPr>
              <a:t>Standards are developed through the cooperation of standards creation committees, forums, and government regulatory agencies.</a:t>
            </a:r>
          </a:p>
          <a:p>
            <a:pPr algn="just">
              <a:buNone/>
            </a:pPr>
            <a:r>
              <a:rPr lang="en-US" b="1" dirty="0" smtClean="0">
                <a:latin typeface="Book Antiqua" pitchFamily="18" charset="0"/>
              </a:rPr>
              <a:t>Standards Creation Committees</a:t>
            </a:r>
          </a:p>
          <a:p>
            <a:pPr algn="just"/>
            <a:r>
              <a:rPr lang="en-US" dirty="0" smtClean="0">
                <a:latin typeface="Book Antiqua" pitchFamily="18" charset="0"/>
              </a:rPr>
              <a:t>While many organizations are dedicated to the establishment of standards, data telecommunications in North America rely primarily on those published by the following:</a:t>
            </a:r>
            <a:endParaRPr lang="en-US" dirty="0">
              <a:latin typeface="Book Antiqua" pitchFamily="18" charset="0"/>
            </a:endParaRPr>
          </a:p>
        </p:txBody>
      </p:sp>
      <p:sp>
        <p:nvSpPr>
          <p:cNvPr id="4" name="Title 1"/>
          <p:cNvSpPr>
            <a:spLocks noGrp="1"/>
          </p:cNvSpPr>
          <p:nvPr>
            <p:ph type="title"/>
          </p:nvPr>
        </p:nvSpPr>
        <p:spPr>
          <a:xfrm>
            <a:off x="381000" y="0"/>
            <a:ext cx="8229600" cy="11430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Standards Organization</a:t>
            </a:r>
            <a:endParaRPr lang="en-US" sz="3600" b="1" dirty="0">
              <a:latin typeface="Book Antiqua" panose="02040602050305030304" pitchFamily="18" charset="0"/>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382000" cy="5821363"/>
          </a:xfrm>
        </p:spPr>
        <p:txBody>
          <a:bodyPr>
            <a:normAutofit fontScale="92500" lnSpcReduction="20000"/>
          </a:bodyPr>
          <a:lstStyle/>
          <a:p>
            <a:pPr algn="just"/>
            <a:r>
              <a:rPr lang="en-US" dirty="0" smtClean="0">
                <a:latin typeface="Book Antiqua" pitchFamily="18" charset="0"/>
              </a:rPr>
              <a:t>International Organization for Standardization (ISO). The ISO is a multinational body whose membership is drawn mainly from the standards creation committees of various governments throughout the world. The ISO is active in developing cooperation in the realms of scientific, technological, and economic activity.</a:t>
            </a:r>
          </a:p>
          <a:p>
            <a:pPr algn="just"/>
            <a:r>
              <a:rPr lang="en-US" dirty="0" smtClean="0">
                <a:latin typeface="Book Antiqua" pitchFamily="18" charset="0"/>
              </a:rPr>
              <a:t>International Telecommunication Union-Telecommunication Standards Sector (ITU-T). By the early 1970s, a number of countries were defining national standards for telecommunications, but there was still little international compatibility. </a:t>
            </a:r>
          </a:p>
          <a:p>
            <a:pPr algn="just"/>
            <a:endParaRPr lang="en-US"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5973763"/>
          </a:xfrm>
        </p:spPr>
        <p:txBody>
          <a:bodyPr>
            <a:normAutofit fontScale="92500" lnSpcReduction="10000"/>
          </a:bodyPr>
          <a:lstStyle/>
          <a:p>
            <a:pPr algn="just"/>
            <a:r>
              <a:rPr lang="en-US" dirty="0" smtClean="0">
                <a:latin typeface="Book Antiqua" pitchFamily="18" charset="0"/>
              </a:rPr>
              <a:t>The United Nations responded by forming, as part of its International Telecommunication Union (ITU), a committee, the Consultative Committee for International Telegraphy and Telephony (CCITT). </a:t>
            </a:r>
          </a:p>
          <a:p>
            <a:pPr algn="just"/>
            <a:r>
              <a:rPr lang="en-US" dirty="0" smtClean="0">
                <a:latin typeface="Book Antiqua" pitchFamily="18" charset="0"/>
              </a:rPr>
              <a:t>This committee was devoted to the research and establishment of standards for telecommunications in general and for phone and data systems in particular. On March 1, 1993, the name of this committee was changed to the International </a:t>
            </a:r>
            <a:r>
              <a:rPr lang="en-US" dirty="0" err="1" smtClean="0">
                <a:latin typeface="Book Antiqua" pitchFamily="18" charset="0"/>
              </a:rPr>
              <a:t>TelecommunicationUnionTelecommunication</a:t>
            </a:r>
            <a:r>
              <a:rPr lang="en-US" dirty="0" smtClean="0">
                <a:latin typeface="Book Antiqua" pitchFamily="18" charset="0"/>
              </a:rPr>
              <a:t> Standards Sector (ITU-T).</a:t>
            </a:r>
            <a:endParaRPr lang="en-US" dirty="0">
              <a:latin typeface="Book Antiqua" pitchFamily="18" charset="0"/>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81000"/>
            <a:ext cx="8305800" cy="5745163"/>
          </a:xfrm>
        </p:spPr>
        <p:txBody>
          <a:bodyPr>
            <a:noAutofit/>
          </a:bodyPr>
          <a:lstStyle/>
          <a:p>
            <a:pPr algn="just"/>
            <a:r>
              <a:rPr lang="en-US" sz="2400" dirty="0" smtClean="0">
                <a:latin typeface="Book Antiqua" pitchFamily="18" charset="0"/>
              </a:rPr>
              <a:t>American National Standards Institute (ANSI). Despite its name, the American National Standards Institute is a completely private, nonprofit corporation not affiliated with the U.S. federal government. However, all ANSI activities are undertaken with the welfare of the United States and its citizens occupying primary importance</a:t>
            </a:r>
          </a:p>
          <a:p>
            <a:pPr algn="just"/>
            <a:r>
              <a:rPr lang="en-US" sz="2400" dirty="0" smtClean="0">
                <a:latin typeface="Book Antiqua" pitchFamily="18" charset="0"/>
              </a:rPr>
              <a:t>Institute of Electrical and Electronics Engineers (IEEE). The Institute of Electrical and Electronics Engineers is the largest professional engineering society in the world. International in scope, it aims to advance theory, creativity, and product quality in the fields of electrical engineering, electronics, and radio as well as in all related branches of engineering. As one of its goals, the IEEE oversees the development and adoption of international standards for computing and communications</a:t>
            </a:r>
            <a:endParaRPr lang="en-US" sz="2400" dirty="0">
              <a:latin typeface="Book Antiqua" pitchFamily="18" charset="0"/>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92500"/>
          </a:bodyPr>
          <a:lstStyle/>
          <a:p>
            <a:pPr algn="just"/>
            <a:r>
              <a:rPr lang="en-US" dirty="0" smtClean="0">
                <a:latin typeface="Book Antiqua" pitchFamily="18" charset="0"/>
              </a:rPr>
              <a:t>Electronic Industries Association (EIA). Aligned with ANSI, the Electronic Industries Association is a nonprofit organization devoted to the promotion of electronics manufacturing concerns. Its activities include public awareness education and lobbying efforts in addition to standards development. In the field of information technology, the EIA has made significant contributions by defining physical connection interfaces and electronic signaling specifications for data communication</a:t>
            </a:r>
            <a:endParaRPr lang="en-US" dirty="0">
              <a:latin typeface="Book Antiqua" pitchFamily="18" charset="0"/>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897563"/>
          </a:xfrm>
        </p:spPr>
        <p:txBody>
          <a:bodyPr>
            <a:normAutofit fontScale="77500" lnSpcReduction="20000"/>
          </a:bodyPr>
          <a:lstStyle/>
          <a:p>
            <a:pPr algn="just">
              <a:buNone/>
            </a:pPr>
            <a:endParaRPr lang="en-US" dirty="0" smtClean="0">
              <a:latin typeface="Book Antiqua" pitchFamily="18" charset="0"/>
            </a:endParaRPr>
          </a:p>
          <a:p>
            <a:pPr algn="just"/>
            <a:r>
              <a:rPr lang="en-US" dirty="0" smtClean="0">
                <a:latin typeface="Book Antiqua" pitchFamily="18" charset="0"/>
              </a:rPr>
              <a:t>Telecommunications technology development is moving faster than the ability of standards committees to ratify standards. Standards committees are procedural bodies and by nature slow-moving. </a:t>
            </a:r>
          </a:p>
          <a:p>
            <a:pPr algn="just"/>
            <a:r>
              <a:rPr lang="en-US" dirty="0" smtClean="0">
                <a:latin typeface="Book Antiqua" pitchFamily="18" charset="0"/>
              </a:rPr>
              <a:t>To accommodate the need for working models and agreements and to facilitate the standardization process, many special-interest groups have developed forums made up of representatives from interested corporations. </a:t>
            </a:r>
          </a:p>
          <a:p>
            <a:pPr algn="just"/>
            <a:r>
              <a:rPr lang="en-US" dirty="0" smtClean="0">
                <a:latin typeface="Book Antiqua" pitchFamily="18" charset="0"/>
              </a:rPr>
              <a:t>The forums work with universities and users to test, evaluate, and standardize new technologies. By concentrating their efforts on a particular technology, the forums are able to speed acceptance and use of those technologies in the telecommunications community. The forums present their conclusions to the standards bodies</a:t>
            </a:r>
            <a:endParaRPr lang="en-US" dirty="0">
              <a:latin typeface="Book Antiqua" pitchFamily="18" charset="0"/>
            </a:endParaRPr>
          </a:p>
        </p:txBody>
      </p:sp>
      <p:sp>
        <p:nvSpPr>
          <p:cNvPr id="4" name="Title 1"/>
          <p:cNvSpPr txBox="1">
            <a:spLocks/>
          </p:cNvSpPr>
          <p:nvPr/>
        </p:nvSpPr>
        <p:spPr>
          <a:xfrm>
            <a:off x="0" y="0"/>
            <a:ext cx="9164782" cy="699655"/>
          </a:xfrm>
          <a:prstGeom prst="rect">
            <a:avLst/>
          </a:prstGeo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600" b="1" dirty="0" smtClean="0">
                <a:latin typeface="Book Antiqua" panose="02040602050305030304" pitchFamily="18" charset="0"/>
                <a:ea typeface="+mj-ea"/>
                <a:cs typeface="+mj-cs"/>
              </a:rPr>
              <a:t>FORUMS</a:t>
            </a:r>
            <a:endParaRPr kumimoji="0" lang="en-US" sz="3600" b="1" i="0" u="none" strike="noStrike" kern="1200" cap="none" spc="0" normalizeH="0" baseline="0" noProof="0" dirty="0">
              <a:ln>
                <a:noFill/>
              </a:ln>
              <a:solidFill>
                <a:schemeClr val="tx1"/>
              </a:solidFill>
              <a:effectLst/>
              <a:uLnTx/>
              <a:uFillTx/>
              <a:latin typeface="Book Antiqua" panose="02040602050305030304" pitchFamily="18" charset="0"/>
              <a:ea typeface="+mj-ea"/>
              <a:cs typeface="+mj-cs"/>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pPr algn="just"/>
            <a:endParaRPr lang="en-US" dirty="0" smtClean="0">
              <a:latin typeface="Book Antiqua" pitchFamily="18" charset="0"/>
            </a:endParaRPr>
          </a:p>
          <a:p>
            <a:pPr algn="just"/>
            <a:r>
              <a:rPr lang="en-US" dirty="0" smtClean="0">
                <a:latin typeface="Book Antiqua" pitchFamily="18" charset="0"/>
              </a:rPr>
              <a:t>All communications technology is subject to regulation by government agencies such as the Federal Communications Commission (FCC) in the United States.</a:t>
            </a:r>
          </a:p>
          <a:p>
            <a:pPr algn="just"/>
            <a:r>
              <a:rPr lang="en-US" dirty="0" smtClean="0">
                <a:latin typeface="Book Antiqua" pitchFamily="18" charset="0"/>
              </a:rPr>
              <a:t>The purpose of these agencies is to protect the public interest by regulating radio, television, and wire/cable communications. The FCC has authority over interstate and international commerce as it relates to communications</a:t>
            </a:r>
            <a:endParaRPr lang="en-US" dirty="0">
              <a:latin typeface="Book Antiqua" pitchFamily="18" charset="0"/>
            </a:endParaRPr>
          </a:p>
        </p:txBody>
      </p:sp>
      <p:sp>
        <p:nvSpPr>
          <p:cNvPr id="4" name="Title 1"/>
          <p:cNvSpPr txBox="1">
            <a:spLocks/>
          </p:cNvSpPr>
          <p:nvPr/>
        </p:nvSpPr>
        <p:spPr>
          <a:xfrm>
            <a:off x="0" y="0"/>
            <a:ext cx="9164782" cy="699655"/>
          </a:xfrm>
          <a:prstGeom prst="rect">
            <a:avLst/>
          </a:prstGeo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600" b="1" dirty="0" smtClean="0">
                <a:latin typeface="Book Antiqua" panose="02040602050305030304" pitchFamily="18" charset="0"/>
                <a:ea typeface="+mj-ea"/>
                <a:cs typeface="+mj-cs"/>
              </a:rPr>
              <a:t>REGULATORY AGENCIES</a:t>
            </a:r>
            <a:endParaRPr kumimoji="0" lang="en-US" sz="3600" b="1" i="0" u="none" strike="noStrike" kern="1200" cap="none" spc="0" normalizeH="0" baseline="0" noProof="0" dirty="0">
              <a:ln>
                <a:noFill/>
              </a:ln>
              <a:solidFill>
                <a:schemeClr val="tx1"/>
              </a:solidFill>
              <a:effectLst/>
              <a:uLnTx/>
              <a:uFillTx/>
              <a:latin typeface="Book Antiqua" panose="02040602050305030304" pitchFamily="18" charset="0"/>
              <a:ea typeface="+mj-ea"/>
              <a:cs typeface="+mj-cs"/>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Networks Model</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a:bodyPr>
          <a:lstStyle/>
          <a:p>
            <a:pPr marL="457200" indent="-457200" algn="l">
              <a:buFont typeface="Arial" panose="020B0604020202020204" pitchFamily="34" charset="0"/>
              <a:buChar char="•"/>
            </a:pPr>
            <a:r>
              <a:rPr lang="en-US" dirty="0">
                <a:solidFill>
                  <a:schemeClr val="tx1"/>
                </a:solidFill>
                <a:latin typeface="Book Antiqua" panose="02040602050305030304" pitchFamily="18" charset="0"/>
              </a:rPr>
              <a:t>A network is a combination of hardware and software that sends data from one </a:t>
            </a:r>
            <a:r>
              <a:rPr lang="en-US" dirty="0" smtClean="0">
                <a:solidFill>
                  <a:schemeClr val="tx1"/>
                </a:solidFill>
                <a:latin typeface="Book Antiqua" panose="02040602050305030304" pitchFamily="18" charset="0"/>
              </a:rPr>
              <a:t>location to </a:t>
            </a:r>
            <a:r>
              <a:rPr lang="en-US" dirty="0">
                <a:solidFill>
                  <a:schemeClr val="tx1"/>
                </a:solidFill>
                <a:latin typeface="Book Antiqua" panose="02040602050305030304" pitchFamily="18" charset="0"/>
              </a:rPr>
              <a:t>another</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The hardware consists of the physical equipment that carries signals </a:t>
            </a:r>
            <a:r>
              <a:rPr lang="en-US" dirty="0" smtClean="0">
                <a:solidFill>
                  <a:schemeClr val="tx1"/>
                </a:solidFill>
                <a:latin typeface="Book Antiqua" panose="02040602050305030304" pitchFamily="18" charset="0"/>
              </a:rPr>
              <a:t>from one </a:t>
            </a:r>
            <a:r>
              <a:rPr lang="en-US" dirty="0">
                <a:solidFill>
                  <a:schemeClr val="tx1"/>
                </a:solidFill>
                <a:latin typeface="Book Antiqua" panose="02040602050305030304" pitchFamily="18" charset="0"/>
              </a:rPr>
              <a:t>point of the network to another</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a:solidFill>
                  <a:schemeClr val="tx1"/>
                </a:solidFill>
                <a:latin typeface="Book Antiqua" panose="02040602050305030304" pitchFamily="18" charset="0"/>
              </a:rPr>
              <a:t>The software consists of instruction sets that </a:t>
            </a:r>
            <a:r>
              <a:rPr lang="en-US" dirty="0" smtClean="0">
                <a:solidFill>
                  <a:schemeClr val="tx1"/>
                </a:solidFill>
                <a:latin typeface="Book Antiqua" panose="02040602050305030304" pitchFamily="18" charset="0"/>
              </a:rPr>
              <a:t>make possible </a:t>
            </a:r>
            <a:r>
              <a:rPr lang="en-US" dirty="0">
                <a:solidFill>
                  <a:schemeClr val="tx1"/>
                </a:solidFill>
                <a:latin typeface="Book Antiqua" panose="02040602050305030304" pitchFamily="18" charset="0"/>
              </a:rPr>
              <a:t>the services that we expect from a network</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endParaRPr lang="en-US" dirty="0">
              <a:solidFill>
                <a:schemeClr val="tx1"/>
              </a:solidFill>
              <a:latin typeface="Book Antiqua" panose="02040602050305030304" pitchFamily="18" charset="0"/>
            </a:endParaRPr>
          </a:p>
        </p:txBody>
      </p:sp>
    </p:spTree>
    <p:extLst>
      <p:ext uri="{BB962C8B-B14F-4D97-AF65-F5344CB8AC3E}">
        <p14:creationId xmlns:p14="http://schemas.microsoft.com/office/powerpoint/2010/main" val="218370307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altLang="en-US" sz="3600" dirty="0">
                <a:effectLst>
                  <a:outerShdw blurRad="38100" dist="38100" dir="2700000" algn="tl">
                    <a:srgbClr val="C0C0C0"/>
                  </a:outerShdw>
                </a:effectLst>
                <a:latin typeface="Times" charset="0"/>
              </a:rPr>
              <a:t>LAYERED TASKS</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We use the concept of layers in our daily life</a:t>
            </a:r>
            <a:r>
              <a:rPr lang="en-US" sz="2800"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let us consider </a:t>
            </a:r>
            <a:r>
              <a:rPr lang="en-US" sz="2800" dirty="0" smtClean="0">
                <a:solidFill>
                  <a:schemeClr val="tx1"/>
                </a:solidFill>
                <a:latin typeface="Book Antiqua" panose="02040602050305030304" pitchFamily="18" charset="0"/>
              </a:rPr>
              <a:t>two friends </a:t>
            </a:r>
            <a:r>
              <a:rPr lang="en-US" sz="2800" dirty="0">
                <a:solidFill>
                  <a:schemeClr val="tx1"/>
                </a:solidFill>
                <a:latin typeface="Book Antiqua" panose="02040602050305030304" pitchFamily="18" charset="0"/>
              </a:rPr>
              <a:t>who communicate through postal </a:t>
            </a:r>
            <a:r>
              <a:rPr lang="en-US" sz="2800" dirty="0" smtClean="0">
                <a:solidFill>
                  <a:schemeClr val="tx1"/>
                </a:solidFill>
                <a:latin typeface="Book Antiqua" panose="02040602050305030304" pitchFamily="18" charset="0"/>
              </a:rPr>
              <a:t>mail.</a:t>
            </a:r>
          </a:p>
          <a:p>
            <a:pPr marL="457200" indent="-457200" algn="l">
              <a:buFont typeface="Arial" panose="020B0604020202020204" pitchFamily="34" charset="0"/>
              <a:buChar char="•"/>
            </a:pPr>
            <a:endParaRPr lang="en-US" dirty="0">
              <a:solidFill>
                <a:schemeClr val="tx1"/>
              </a:solidFill>
              <a:latin typeface="Book Antiqua" panose="02040602050305030304" pitchFamily="18" charset="0"/>
            </a:endParaRP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057400"/>
            <a:ext cx="7620000" cy="4793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20558593"/>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Sender Side</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fontScale="92500" lnSpcReduction="10000"/>
          </a:bodyPr>
          <a:lstStyle/>
          <a:p>
            <a:pPr marL="457200" indent="-457200" algn="l">
              <a:buFont typeface="Arial" panose="020B0604020202020204" pitchFamily="34" charset="0"/>
              <a:buChar char="•"/>
            </a:pPr>
            <a:r>
              <a:rPr lang="en-US" dirty="0" smtClean="0">
                <a:solidFill>
                  <a:schemeClr val="tx1"/>
                </a:solidFill>
                <a:latin typeface="Book Antiqua" panose="02040602050305030304" pitchFamily="18" charset="0"/>
              </a:rPr>
              <a:t>The </a:t>
            </a:r>
            <a:r>
              <a:rPr lang="en-US" dirty="0">
                <a:solidFill>
                  <a:schemeClr val="tx1"/>
                </a:solidFill>
                <a:latin typeface="Book Antiqua" panose="02040602050305030304" pitchFamily="18" charset="0"/>
              </a:rPr>
              <a:t>activities that take place at the sender site</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a:solidFill>
                  <a:srgbClr val="0070C0"/>
                </a:solidFill>
                <a:latin typeface="Book Antiqua" panose="02040602050305030304" pitchFamily="18" charset="0"/>
              </a:rPr>
              <a:t>Higher layer</a:t>
            </a:r>
            <a:r>
              <a:rPr lang="en-US" dirty="0">
                <a:solidFill>
                  <a:schemeClr val="tx1"/>
                </a:solidFill>
                <a:latin typeface="Book Antiqua" panose="02040602050305030304" pitchFamily="18" charset="0"/>
              </a:rPr>
              <a:t>. The sender writes the letter, inserts the letter in an envelope, </a:t>
            </a:r>
            <a:r>
              <a:rPr lang="en-US" dirty="0" smtClean="0">
                <a:solidFill>
                  <a:schemeClr val="tx1"/>
                </a:solidFill>
                <a:latin typeface="Book Antiqua" panose="02040602050305030304" pitchFamily="18" charset="0"/>
              </a:rPr>
              <a:t>writes the </a:t>
            </a:r>
            <a:r>
              <a:rPr lang="en-US" dirty="0">
                <a:solidFill>
                  <a:schemeClr val="tx1"/>
                </a:solidFill>
                <a:latin typeface="Book Antiqua" panose="02040602050305030304" pitchFamily="18" charset="0"/>
              </a:rPr>
              <a:t>sender and receiver addresses, and drops the letter in a mailbox</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a:solidFill>
                  <a:srgbClr val="0070C0"/>
                </a:solidFill>
                <a:latin typeface="Book Antiqua" panose="02040602050305030304" pitchFamily="18" charset="0"/>
              </a:rPr>
              <a:t>Middle layer. </a:t>
            </a:r>
            <a:r>
              <a:rPr lang="en-US" dirty="0">
                <a:solidFill>
                  <a:schemeClr val="tx1"/>
                </a:solidFill>
                <a:latin typeface="Book Antiqua" panose="02040602050305030304" pitchFamily="18" charset="0"/>
              </a:rPr>
              <a:t>The letter is picked up by a letter carrier and delivered to the </a:t>
            </a:r>
            <a:r>
              <a:rPr lang="en-US" dirty="0" smtClean="0">
                <a:solidFill>
                  <a:schemeClr val="tx1"/>
                </a:solidFill>
                <a:latin typeface="Book Antiqua" panose="02040602050305030304" pitchFamily="18" charset="0"/>
              </a:rPr>
              <a:t>post office.</a:t>
            </a:r>
          </a:p>
          <a:p>
            <a:pPr marL="457200" indent="-457200" algn="l">
              <a:buFont typeface="Arial" panose="020B0604020202020204" pitchFamily="34" charset="0"/>
              <a:buChar char="•"/>
            </a:pPr>
            <a:r>
              <a:rPr lang="en-US" dirty="0">
                <a:solidFill>
                  <a:srgbClr val="0070C0"/>
                </a:solidFill>
                <a:latin typeface="Book Antiqua" panose="02040602050305030304" pitchFamily="18" charset="0"/>
              </a:rPr>
              <a:t>Lower layer. </a:t>
            </a:r>
            <a:r>
              <a:rPr lang="en-US" dirty="0">
                <a:solidFill>
                  <a:schemeClr val="tx1"/>
                </a:solidFill>
                <a:latin typeface="Book Antiqua" panose="02040602050305030304" pitchFamily="18" charset="0"/>
              </a:rPr>
              <a:t>The letter is sorted at the post office; a carrier transports the letter</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a:solidFill>
                  <a:srgbClr val="0070C0"/>
                </a:solidFill>
                <a:latin typeface="Book Antiqua" panose="02040602050305030304" pitchFamily="18" charset="0"/>
              </a:rPr>
              <a:t>On the Way: </a:t>
            </a:r>
            <a:r>
              <a:rPr lang="en-US" dirty="0">
                <a:solidFill>
                  <a:schemeClr val="tx1"/>
                </a:solidFill>
                <a:latin typeface="Book Antiqua" panose="02040602050305030304" pitchFamily="18" charset="0"/>
              </a:rPr>
              <a:t>The letter is then on its way to the recipient. </a:t>
            </a:r>
            <a:r>
              <a:rPr lang="en-US" dirty="0" smtClean="0">
                <a:solidFill>
                  <a:schemeClr val="tx1"/>
                </a:solidFill>
                <a:latin typeface="Book Antiqua" panose="02040602050305030304" pitchFamily="18" charset="0"/>
              </a:rPr>
              <a:t>the </a:t>
            </a:r>
            <a:r>
              <a:rPr lang="en-US" dirty="0">
                <a:solidFill>
                  <a:schemeClr val="tx1"/>
                </a:solidFill>
                <a:latin typeface="Book Antiqua" panose="02040602050305030304" pitchFamily="18" charset="0"/>
              </a:rPr>
              <a:t>letter may actually go through a central office. </a:t>
            </a:r>
            <a:r>
              <a:rPr lang="en-US" dirty="0" smtClean="0">
                <a:solidFill>
                  <a:schemeClr val="tx1"/>
                </a:solidFill>
                <a:latin typeface="Book Antiqua" panose="02040602050305030304" pitchFamily="18" charset="0"/>
              </a:rPr>
              <a:t>it </a:t>
            </a:r>
            <a:r>
              <a:rPr lang="en-US" dirty="0">
                <a:solidFill>
                  <a:schemeClr val="tx1"/>
                </a:solidFill>
                <a:latin typeface="Book Antiqua" panose="02040602050305030304" pitchFamily="18" charset="0"/>
              </a:rPr>
              <a:t>may be </a:t>
            </a:r>
            <a:r>
              <a:rPr lang="en-US" dirty="0" smtClean="0">
                <a:solidFill>
                  <a:schemeClr val="tx1"/>
                </a:solidFill>
                <a:latin typeface="Book Antiqua" panose="02040602050305030304" pitchFamily="18" charset="0"/>
              </a:rPr>
              <a:t>transported by </a:t>
            </a:r>
            <a:r>
              <a:rPr lang="en-US" dirty="0">
                <a:solidFill>
                  <a:schemeClr val="tx1"/>
                </a:solidFill>
                <a:latin typeface="Book Antiqua" panose="02040602050305030304" pitchFamily="18" charset="0"/>
              </a:rPr>
              <a:t>truck, train, airplane, </a:t>
            </a:r>
            <a:r>
              <a:rPr lang="en-US" dirty="0" smtClean="0">
                <a:solidFill>
                  <a:schemeClr val="tx1"/>
                </a:solidFill>
                <a:latin typeface="Book Antiqua" panose="02040602050305030304" pitchFamily="18" charset="0"/>
              </a:rPr>
              <a:t>boat.</a:t>
            </a:r>
            <a:endParaRPr lang="en-US" dirty="0">
              <a:solidFill>
                <a:schemeClr val="tx1"/>
              </a:solidFill>
              <a:latin typeface="Book Antiqua" panose="02040602050305030304" pitchFamily="18" charset="0"/>
            </a:endParaRPr>
          </a:p>
        </p:txBody>
      </p:sp>
    </p:spTree>
    <p:extLst>
      <p:ext uri="{BB962C8B-B14F-4D97-AF65-F5344CB8AC3E}">
        <p14:creationId xmlns:p14="http://schemas.microsoft.com/office/powerpoint/2010/main" val="72723849"/>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Receiver Side</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a:bodyPr>
          <a:lstStyle/>
          <a:p>
            <a:pPr marL="457200" indent="-457200" algn="l">
              <a:buFont typeface="Arial" panose="020B0604020202020204" pitchFamily="34" charset="0"/>
              <a:buChar char="•"/>
            </a:pPr>
            <a:r>
              <a:rPr lang="en-US" dirty="0">
                <a:solidFill>
                  <a:srgbClr val="0070C0"/>
                </a:solidFill>
                <a:latin typeface="Book Antiqua" panose="02040602050305030304" pitchFamily="18" charset="0"/>
              </a:rPr>
              <a:t>Lower layer. </a:t>
            </a:r>
            <a:r>
              <a:rPr lang="en-US" dirty="0">
                <a:solidFill>
                  <a:schemeClr val="tx1"/>
                </a:solidFill>
                <a:latin typeface="Book Antiqua" panose="02040602050305030304" pitchFamily="18" charset="0"/>
              </a:rPr>
              <a:t>The carrier transports the letter to the post office</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dirty="0">
                <a:solidFill>
                  <a:srgbClr val="0070C0"/>
                </a:solidFill>
                <a:latin typeface="Book Antiqua" panose="02040602050305030304" pitchFamily="18" charset="0"/>
              </a:rPr>
              <a:t>Middle layer. </a:t>
            </a:r>
            <a:r>
              <a:rPr lang="en-US" dirty="0">
                <a:solidFill>
                  <a:schemeClr val="tx1"/>
                </a:solidFill>
                <a:latin typeface="Book Antiqua" panose="02040602050305030304" pitchFamily="18" charset="0"/>
              </a:rPr>
              <a:t>The letter is sorted and delivered to the recipient's </a:t>
            </a:r>
            <a:r>
              <a:rPr lang="en-US" dirty="0" smtClean="0">
                <a:solidFill>
                  <a:schemeClr val="tx1"/>
                </a:solidFill>
                <a:latin typeface="Book Antiqua" panose="02040602050305030304" pitchFamily="18" charset="0"/>
              </a:rPr>
              <a:t>mailbox.</a:t>
            </a:r>
          </a:p>
          <a:p>
            <a:pPr marL="457200" indent="-457200" algn="l">
              <a:buFont typeface="Arial" panose="020B0604020202020204" pitchFamily="34" charset="0"/>
              <a:buChar char="•"/>
            </a:pPr>
            <a:r>
              <a:rPr lang="en-US" dirty="0">
                <a:solidFill>
                  <a:srgbClr val="0070C0"/>
                </a:solidFill>
                <a:latin typeface="Book Antiqua" panose="02040602050305030304" pitchFamily="18" charset="0"/>
              </a:rPr>
              <a:t>Higher layer. </a:t>
            </a:r>
            <a:r>
              <a:rPr lang="en-US" dirty="0">
                <a:solidFill>
                  <a:schemeClr val="tx1"/>
                </a:solidFill>
                <a:latin typeface="Book Antiqua" panose="02040602050305030304" pitchFamily="18" charset="0"/>
              </a:rPr>
              <a:t>The receiver picks up the letter, opens the envelope, and reads </a:t>
            </a:r>
            <a:r>
              <a:rPr lang="en-US" dirty="0" smtClean="0">
                <a:solidFill>
                  <a:schemeClr val="tx1"/>
                </a:solidFill>
                <a:latin typeface="Book Antiqua" panose="02040602050305030304" pitchFamily="18" charset="0"/>
              </a:rPr>
              <a:t>it.</a:t>
            </a:r>
          </a:p>
          <a:p>
            <a:pPr marL="457200" indent="-457200" algn="l">
              <a:buFont typeface="Arial" panose="020B0604020202020204" pitchFamily="34" charset="0"/>
              <a:buChar char="•"/>
            </a:pPr>
            <a:r>
              <a:rPr lang="en-US" dirty="0" smtClean="0">
                <a:solidFill>
                  <a:schemeClr val="tx1"/>
                </a:solidFill>
                <a:latin typeface="Book Antiqua" panose="02040602050305030304" pitchFamily="18" charset="0"/>
              </a:rPr>
              <a:t>At sender side, Hierarchy goes from upper layer to lower layer.</a:t>
            </a:r>
          </a:p>
          <a:p>
            <a:pPr marL="457200" indent="-457200" algn="l">
              <a:buFont typeface="Arial" panose="020B0604020202020204" pitchFamily="34" charset="0"/>
              <a:buChar char="•"/>
            </a:pPr>
            <a:r>
              <a:rPr lang="en-US" dirty="0" smtClean="0">
                <a:solidFill>
                  <a:schemeClr val="tx1"/>
                </a:solidFill>
                <a:latin typeface="Book Antiqua" panose="02040602050305030304" pitchFamily="18" charset="0"/>
              </a:rPr>
              <a:t>Receiver side uses bottom to top approach.</a:t>
            </a:r>
          </a:p>
          <a:p>
            <a:pPr marL="457200" indent="-457200" algn="l">
              <a:buFont typeface="Arial" panose="020B0604020202020204" pitchFamily="34" charset="0"/>
              <a:buChar char="•"/>
            </a:pPr>
            <a:r>
              <a:rPr lang="en-US" dirty="0" smtClean="0">
                <a:solidFill>
                  <a:schemeClr val="tx1"/>
                </a:solidFill>
                <a:latin typeface="Book Antiqua" panose="02040602050305030304" pitchFamily="18" charset="0"/>
              </a:rPr>
              <a:t>Here at both side, Each layer uses upper or lower layer services.</a:t>
            </a:r>
          </a:p>
          <a:p>
            <a:pPr marL="457200" indent="-457200" algn="l">
              <a:buFont typeface="Arial" panose="020B0604020202020204" pitchFamily="34" charset="0"/>
              <a:buChar char="•"/>
            </a:pPr>
            <a:endParaRPr lang="en-US" dirty="0">
              <a:solidFill>
                <a:schemeClr val="tx1"/>
              </a:solidFill>
              <a:latin typeface="Book Antiqua" panose="02040602050305030304" pitchFamily="18" charset="0"/>
            </a:endParaRPr>
          </a:p>
        </p:txBody>
      </p:sp>
    </p:spTree>
    <p:extLst>
      <p:ext uri="{BB962C8B-B14F-4D97-AF65-F5344CB8AC3E}">
        <p14:creationId xmlns:p14="http://schemas.microsoft.com/office/powerpoint/2010/main" val="87547127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343105" y="457200"/>
            <a:ext cx="8294719" cy="5410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lnSpcReduction="10000"/>
          </a:bodyPr>
          <a:lstStyle/>
          <a:p>
            <a:r>
              <a:rPr lang="en-US" dirty="0" smtClean="0"/>
              <a:t>Assuming computer A wants to communicate with computer B. From fig, there are 5 communicating devices: </a:t>
            </a:r>
          </a:p>
          <a:p>
            <a:pPr marL="514350" indent="-514350">
              <a:buAutoNum type="alphaLcParenR"/>
            </a:pPr>
            <a:r>
              <a:rPr lang="en-US" dirty="0" smtClean="0"/>
              <a:t>source host(computer-A)</a:t>
            </a:r>
          </a:p>
          <a:p>
            <a:pPr marL="514350" indent="-514350">
              <a:buAutoNum type="alphaLcParenR"/>
            </a:pPr>
            <a:r>
              <a:rPr lang="en-US" dirty="0" smtClean="0"/>
              <a:t>Link layer switch in link-1</a:t>
            </a:r>
          </a:p>
          <a:p>
            <a:pPr marL="514350" indent="-514350">
              <a:buAutoNum type="alphaLcParenR"/>
            </a:pPr>
            <a:r>
              <a:rPr lang="en-US" dirty="0" smtClean="0"/>
              <a:t>Router</a:t>
            </a:r>
          </a:p>
          <a:p>
            <a:pPr marL="514350" indent="-514350">
              <a:buAutoNum type="alphaLcParenR"/>
            </a:pPr>
            <a:r>
              <a:rPr lang="en-US" dirty="0" smtClean="0"/>
              <a:t>Link layer switch in link-2</a:t>
            </a:r>
          </a:p>
          <a:p>
            <a:pPr marL="514350" indent="-514350">
              <a:buAutoNum type="alphaLcParenR"/>
            </a:pPr>
            <a:r>
              <a:rPr lang="en-US" dirty="0" smtClean="0"/>
              <a:t>Destination host(computer-B)</a:t>
            </a:r>
          </a:p>
          <a:p>
            <a:pPr marL="514350" indent="-514350"/>
            <a:r>
              <a:rPr lang="en-US" dirty="0" smtClean="0"/>
              <a:t>Each device is involved in set of layers depending on the role of the devices in the internet </a:t>
            </a:r>
            <a:endParaRPr lang="en-US" dirty="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srcRect/>
          <a:stretch>
            <a:fillRect/>
          </a:stretch>
        </p:blipFill>
        <p:spPr bwMode="auto">
          <a:xfrm>
            <a:off x="457200" y="304800"/>
            <a:ext cx="8352777" cy="5715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85000" lnSpcReduction="20000"/>
          </a:bodyPr>
          <a:lstStyle/>
          <a:p>
            <a:pPr algn="just"/>
            <a:r>
              <a:rPr lang="en-US" dirty="0" smtClean="0"/>
              <a:t>Using Logical connections it makes easier to think about the duty of each layer.</a:t>
            </a:r>
          </a:p>
          <a:p>
            <a:pPr algn="just"/>
            <a:r>
              <a:rPr lang="en-US" dirty="0" smtClean="0"/>
              <a:t>From fig, the duties of the application, transport and network layer is end to end .</a:t>
            </a:r>
          </a:p>
          <a:p>
            <a:pPr algn="just"/>
            <a:r>
              <a:rPr lang="en-US" dirty="0" smtClean="0"/>
              <a:t>However, duty of the data-link and physical layers is hop-hop, in which a hop is a host or router.</a:t>
            </a:r>
          </a:p>
          <a:p>
            <a:pPr algn="just"/>
            <a:r>
              <a:rPr lang="en-US" dirty="0" smtClean="0"/>
              <a:t>In other words, the domain of duty of the top three layers is the internet, and the next two layers is the link</a:t>
            </a:r>
          </a:p>
          <a:p>
            <a:pPr algn="just"/>
            <a:r>
              <a:rPr lang="en-US" dirty="0" smtClean="0"/>
              <a:t>Another way of thinking of the logical connection is in the top three layers, </a:t>
            </a:r>
          </a:p>
          <a:p>
            <a:pPr algn="just"/>
            <a:r>
              <a:rPr lang="en-US" dirty="0" smtClean="0"/>
              <a:t>data unit(packets) should not be changed by any router or links</a:t>
            </a:r>
          </a:p>
          <a:p>
            <a:pPr algn="just"/>
            <a:r>
              <a:rPr lang="en-US" dirty="0" smtClean="0"/>
              <a:t>Whereas, the next two layers , packet created by host is changed only by the routers not by link-layer switches.</a:t>
            </a:r>
            <a:endParaRPr lang="en-US" dirty="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a:srcRect/>
          <a:stretch>
            <a:fillRect/>
          </a:stretch>
        </p:blipFill>
        <p:spPr bwMode="auto">
          <a:xfrm>
            <a:off x="228600" y="457200"/>
            <a:ext cx="8915400" cy="6096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Description of Each Layer</a:t>
            </a:r>
            <a:endParaRPr lang="en-US" dirty="0"/>
          </a:p>
        </p:txBody>
      </p:sp>
      <p:pic>
        <p:nvPicPr>
          <p:cNvPr id="4098" name="Picture 2"/>
          <p:cNvPicPr>
            <a:picLocks noGrp="1" noChangeAspect="1" noChangeArrowheads="1"/>
          </p:cNvPicPr>
          <p:nvPr>
            <p:ph idx="1"/>
          </p:nvPr>
        </p:nvPicPr>
        <p:blipFill>
          <a:blip r:embed="rId2"/>
          <a:srcRect/>
          <a:stretch>
            <a:fillRect/>
          </a:stretch>
        </p:blipFill>
        <p:spPr bwMode="auto">
          <a:xfrm>
            <a:off x="266726" y="1371600"/>
            <a:ext cx="8666905" cy="4953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2"/>
          <a:srcRect/>
          <a:stretch>
            <a:fillRect/>
          </a:stretch>
        </p:blipFill>
        <p:spPr bwMode="auto">
          <a:xfrm>
            <a:off x="195450" y="838200"/>
            <a:ext cx="8796150" cy="5257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r>
              <a:rPr lang="en-US" dirty="0" smtClean="0"/>
              <a:t>Internet is made up of several links connected by routers</a:t>
            </a:r>
          </a:p>
          <a:p>
            <a:r>
              <a:rPr lang="en-US" dirty="0" smtClean="0"/>
              <a:t>It is responsible for choosing the best links</a:t>
            </a:r>
          </a:p>
          <a:p>
            <a:r>
              <a:rPr lang="en-US" dirty="0" smtClean="0"/>
              <a:t>Data link is responsible for carrying datagram across the link</a:t>
            </a:r>
          </a:p>
          <a:p>
            <a:r>
              <a:rPr lang="en-US" dirty="0" smtClean="0"/>
              <a:t>Link can be wired/wireless</a:t>
            </a:r>
          </a:p>
          <a:p>
            <a:r>
              <a:rPr lang="en-US" dirty="0" smtClean="0"/>
              <a:t>It doesn’t have specific protocol , it </a:t>
            </a:r>
            <a:r>
              <a:rPr lang="en-US" dirty="0" err="1" smtClean="0"/>
              <a:t>suppors</a:t>
            </a:r>
            <a:r>
              <a:rPr lang="en-US" dirty="0" smtClean="0"/>
              <a:t> all standard and proprietary protocol</a:t>
            </a:r>
          </a:p>
          <a:p>
            <a:r>
              <a:rPr lang="en-US" dirty="0" smtClean="0"/>
              <a:t>This layer takes the datagram ,encapsulates in a packet called frame</a:t>
            </a:r>
            <a:endParaRPr lang="en-US" dirty="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Grp="1" noChangeAspect="1" noChangeArrowheads="1"/>
          </p:cNvPicPr>
          <p:nvPr>
            <p:ph idx="1"/>
          </p:nvPr>
        </p:nvPicPr>
        <p:blipFill>
          <a:blip r:embed="rId2"/>
          <a:srcRect/>
          <a:stretch>
            <a:fillRect/>
          </a:stretch>
        </p:blipFill>
        <p:spPr bwMode="auto">
          <a:xfrm>
            <a:off x="228600" y="533400"/>
            <a:ext cx="8551209" cy="5562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92500" lnSpcReduction="10000"/>
          </a:bodyPr>
          <a:lstStyle/>
          <a:p>
            <a:r>
              <a:rPr lang="en-US" dirty="0" smtClean="0"/>
              <a:t>Responsible for creating the connection between the source and destination and the communication is Host to Host</a:t>
            </a:r>
          </a:p>
          <a:p>
            <a:r>
              <a:rPr lang="en-US" dirty="0" smtClean="0"/>
              <a:t>Routers- Best route</a:t>
            </a:r>
          </a:p>
          <a:p>
            <a:r>
              <a:rPr lang="en-US" dirty="0" smtClean="0"/>
              <a:t>Main protocol – IP</a:t>
            </a:r>
          </a:p>
          <a:p>
            <a:r>
              <a:rPr lang="en-US" dirty="0" smtClean="0"/>
              <a:t>IP defines the format  of packet called datagram</a:t>
            </a:r>
          </a:p>
          <a:p>
            <a:r>
              <a:rPr lang="en-US" dirty="0" smtClean="0"/>
              <a:t>IP- connectionless protocol</a:t>
            </a:r>
          </a:p>
          <a:p>
            <a:r>
              <a:rPr lang="en-US" dirty="0" smtClean="0"/>
              <a:t>It has no flow control, no error control , no congestion control services</a:t>
            </a:r>
          </a:p>
          <a:p>
            <a:r>
              <a:rPr lang="en-US" dirty="0" smtClean="0"/>
              <a:t>Network Layer includes </a:t>
            </a:r>
            <a:r>
              <a:rPr lang="en-US" dirty="0" err="1" smtClean="0"/>
              <a:t>Unicast</a:t>
            </a:r>
            <a:r>
              <a:rPr lang="en-US" dirty="0" smtClean="0"/>
              <a:t> and Multicast Routing protocol</a:t>
            </a:r>
          </a:p>
          <a:p>
            <a:endParaRPr lang="en-US" dirty="0"/>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r>
              <a:rPr lang="en-US" dirty="0" smtClean="0"/>
              <a:t>It has some of the </a:t>
            </a:r>
            <a:r>
              <a:rPr lang="en-US" dirty="0" err="1" smtClean="0"/>
              <a:t>Auxilary</a:t>
            </a:r>
            <a:r>
              <a:rPr lang="en-US" dirty="0" smtClean="0"/>
              <a:t> protocols</a:t>
            </a:r>
          </a:p>
          <a:p>
            <a:pPr marL="514350" indent="-514350">
              <a:buAutoNum type="alphaLcParenR"/>
            </a:pPr>
            <a:r>
              <a:rPr lang="en-US" dirty="0" smtClean="0"/>
              <a:t>ICMP – The internet control message protocol responsible for reporting problems while routing</a:t>
            </a:r>
          </a:p>
          <a:p>
            <a:pPr marL="514350" indent="-514350">
              <a:buAutoNum type="alphaLcParenR"/>
            </a:pPr>
            <a:r>
              <a:rPr lang="en-US" dirty="0" smtClean="0"/>
              <a:t>IGMP –The internet Group Management Protocol responsible for multitasking</a:t>
            </a:r>
          </a:p>
          <a:p>
            <a:pPr marL="514350" indent="-514350">
              <a:buAutoNum type="alphaLcParenR"/>
            </a:pPr>
            <a:r>
              <a:rPr lang="en-US" dirty="0" smtClean="0"/>
              <a:t>DHCP -  Helps IP to find the link layer address of a host or a router</a:t>
            </a:r>
            <a:endParaRPr lang="en-US" dirty="0"/>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Grp="1" noChangeAspect="1" noChangeArrowheads="1"/>
          </p:cNvPicPr>
          <p:nvPr>
            <p:ph idx="1"/>
          </p:nvPr>
        </p:nvPicPr>
        <p:blipFill>
          <a:blip r:embed="rId2"/>
          <a:srcRect/>
          <a:stretch>
            <a:fillRect/>
          </a:stretch>
        </p:blipFill>
        <p:spPr bwMode="auto">
          <a:xfrm>
            <a:off x="0" y="457200"/>
            <a:ext cx="8706000" cy="5257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92500" lnSpcReduction="10000"/>
          </a:bodyPr>
          <a:lstStyle/>
          <a:p>
            <a:r>
              <a:rPr lang="en-US" dirty="0" smtClean="0"/>
              <a:t>The transport layer at the source host gets the </a:t>
            </a:r>
            <a:r>
              <a:rPr lang="en-US" dirty="0" err="1" smtClean="0"/>
              <a:t>msg</a:t>
            </a:r>
            <a:r>
              <a:rPr lang="en-US" dirty="0" smtClean="0"/>
              <a:t> from the application layer, encapsulates it in a transport layer packet(segment/user datagram)and sends it to logical connection to </a:t>
            </a:r>
            <a:r>
              <a:rPr lang="en-US" dirty="0" err="1" smtClean="0"/>
              <a:t>T.Layer</a:t>
            </a:r>
            <a:r>
              <a:rPr lang="en-US" dirty="0" smtClean="0"/>
              <a:t> of destination host.</a:t>
            </a:r>
          </a:p>
          <a:p>
            <a:r>
              <a:rPr lang="en-US" dirty="0" smtClean="0"/>
              <a:t>In other words </a:t>
            </a:r>
            <a:r>
              <a:rPr lang="en-US" dirty="0" err="1" smtClean="0"/>
              <a:t>T.Layers</a:t>
            </a:r>
            <a:r>
              <a:rPr lang="en-US" dirty="0" smtClean="0"/>
              <a:t> is responsible for giving services to the </a:t>
            </a:r>
            <a:r>
              <a:rPr lang="en-US" dirty="0" err="1" smtClean="0"/>
              <a:t>A.Layer</a:t>
            </a:r>
            <a:endParaRPr lang="en-US" dirty="0" smtClean="0"/>
          </a:p>
          <a:p>
            <a:r>
              <a:rPr lang="en-US" dirty="0" smtClean="0"/>
              <a:t>The main protocol of </a:t>
            </a:r>
            <a:r>
              <a:rPr lang="en-US" dirty="0" err="1" smtClean="0"/>
              <a:t>T.Layer</a:t>
            </a:r>
            <a:r>
              <a:rPr lang="en-US" dirty="0" smtClean="0"/>
              <a:t> is TCP</a:t>
            </a:r>
          </a:p>
          <a:p>
            <a:r>
              <a:rPr lang="en-US" dirty="0" smtClean="0"/>
              <a:t>TCP- connection-oriented and establishes the logical connection between transport layer at two host before </a:t>
            </a:r>
            <a:r>
              <a:rPr lang="en-US" dirty="0" err="1" smtClean="0"/>
              <a:t>transfeering</a:t>
            </a:r>
            <a:r>
              <a:rPr lang="en-US" dirty="0" smtClean="0"/>
              <a:t> data</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5973763"/>
          </a:xfrm>
        </p:spPr>
        <p:txBody>
          <a:bodyPr>
            <a:normAutofit lnSpcReduction="10000"/>
          </a:bodyPr>
          <a:lstStyle/>
          <a:p>
            <a:r>
              <a:rPr lang="en-US" dirty="0" smtClean="0"/>
              <a:t>TCP provides  - flow </a:t>
            </a:r>
            <a:r>
              <a:rPr lang="en-US" dirty="0" err="1" smtClean="0"/>
              <a:t>control,error</a:t>
            </a:r>
            <a:r>
              <a:rPr lang="en-US" dirty="0" smtClean="0"/>
              <a:t> control and congestion control.</a:t>
            </a:r>
          </a:p>
          <a:p>
            <a:r>
              <a:rPr lang="en-US" dirty="0" smtClean="0"/>
              <a:t>The commonly used protocol is UDP- connectionless protocol that transmits user </a:t>
            </a:r>
            <a:r>
              <a:rPr lang="en-US" dirty="0" err="1" smtClean="0"/>
              <a:t>datagrams</a:t>
            </a:r>
            <a:r>
              <a:rPr lang="en-US" dirty="0" smtClean="0"/>
              <a:t> without first creating a logical connection.</a:t>
            </a:r>
          </a:p>
          <a:p>
            <a:r>
              <a:rPr lang="en-US" dirty="0" smtClean="0"/>
              <a:t>It doesn’t provide flow </a:t>
            </a:r>
            <a:r>
              <a:rPr lang="en-US" dirty="0" err="1" smtClean="0"/>
              <a:t>control,error</a:t>
            </a:r>
            <a:r>
              <a:rPr lang="en-US" dirty="0" smtClean="0"/>
              <a:t> control and congestion control</a:t>
            </a:r>
          </a:p>
          <a:p>
            <a:r>
              <a:rPr lang="en-US" dirty="0" smtClean="0"/>
              <a:t>A New protocol Stream Control </a:t>
            </a:r>
            <a:r>
              <a:rPr lang="en-US" dirty="0" err="1" smtClean="0"/>
              <a:t>Transimmision</a:t>
            </a:r>
            <a:r>
              <a:rPr lang="en-US" dirty="0" smtClean="0"/>
              <a:t> Protocol (SCTP) is designed to respond to new applications that are emerging in the multimedia.</a:t>
            </a:r>
            <a:endParaRPr lang="en-US" dirty="0"/>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Grp="1" noChangeAspect="1" noChangeArrowheads="1"/>
          </p:cNvPicPr>
          <p:nvPr>
            <p:ph idx="1"/>
          </p:nvPr>
        </p:nvPicPr>
        <p:blipFill>
          <a:blip r:embed="rId2"/>
          <a:srcRect/>
          <a:stretch>
            <a:fillRect/>
          </a:stretch>
        </p:blipFill>
        <p:spPr bwMode="auto">
          <a:xfrm>
            <a:off x="273559" y="457200"/>
            <a:ext cx="8870441" cy="5943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lnSpcReduction="10000"/>
          </a:bodyPr>
          <a:lstStyle/>
          <a:p>
            <a:r>
              <a:rPr lang="en-US" dirty="0" smtClean="0"/>
              <a:t>Logical connection between the two end system is end to end.</a:t>
            </a:r>
          </a:p>
          <a:p>
            <a:r>
              <a:rPr lang="en-US" dirty="0" smtClean="0"/>
              <a:t>Communication at this layer is between two processes .</a:t>
            </a:r>
          </a:p>
          <a:p>
            <a:r>
              <a:rPr lang="en-US" dirty="0" smtClean="0"/>
              <a:t>To communicate, a process sends a request to the other process and receive a response.</a:t>
            </a:r>
          </a:p>
          <a:p>
            <a:r>
              <a:rPr lang="en-US" dirty="0" smtClean="0"/>
              <a:t>Process-process communication is the duty of this layer.</a:t>
            </a:r>
          </a:p>
          <a:p>
            <a:r>
              <a:rPr lang="en-US" dirty="0" smtClean="0"/>
              <a:t>It has many predefined protocols but, a user can also create a pair of processes to run at the two hosts</a:t>
            </a:r>
          </a:p>
          <a:p>
            <a:endParaRPr lang="en-US" dirty="0"/>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92500" lnSpcReduction="20000"/>
          </a:bodyPr>
          <a:lstStyle/>
          <a:p>
            <a:r>
              <a:rPr lang="en-US" dirty="0" smtClean="0"/>
              <a:t>Hypertext transfer protocol (HTTP) is a vehicle for accessing the (WWW).</a:t>
            </a:r>
          </a:p>
          <a:p>
            <a:r>
              <a:rPr lang="en-US" dirty="0" smtClean="0"/>
              <a:t>SMTP is main protocol used in electronic mail .</a:t>
            </a:r>
          </a:p>
          <a:p>
            <a:r>
              <a:rPr lang="en-US" dirty="0" smtClean="0"/>
              <a:t>FTP used for transferring files from one host to another.</a:t>
            </a:r>
          </a:p>
          <a:p>
            <a:r>
              <a:rPr lang="en-US" dirty="0" smtClean="0"/>
              <a:t>TELNET ( Terminal N/w) and Secure Shell (SSH)used for accessing site remotely.</a:t>
            </a:r>
          </a:p>
          <a:p>
            <a:r>
              <a:rPr lang="en-US" dirty="0" smtClean="0"/>
              <a:t>SNMP –used by an administrator to manage the internet at global and local levels</a:t>
            </a:r>
          </a:p>
          <a:p>
            <a:r>
              <a:rPr lang="en-US" dirty="0" smtClean="0"/>
              <a:t>DNS – used to find network layer address of a computer</a:t>
            </a:r>
          </a:p>
          <a:p>
            <a:r>
              <a:rPr lang="en-US" dirty="0" smtClean="0"/>
              <a:t>IGMP  ( Internet group management protocol) used to collect membership in a group.</a:t>
            </a:r>
            <a:endParaRPr lang="en-US" dirty="0"/>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228600" y="609600"/>
            <a:ext cx="8728829" cy="5410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fontScale="85000" lnSpcReduction="20000"/>
          </a:bodyPr>
          <a:lstStyle/>
          <a:p>
            <a:pPr algn="just">
              <a:buNone/>
            </a:pPr>
            <a:r>
              <a:rPr lang="en-US" dirty="0" smtClean="0"/>
              <a:t>Encapsulation at source host</a:t>
            </a:r>
          </a:p>
          <a:p>
            <a:pPr algn="just"/>
            <a:r>
              <a:rPr lang="en-US" dirty="0" smtClean="0"/>
              <a:t>At the source , we have only encapsulation</a:t>
            </a:r>
          </a:p>
          <a:p>
            <a:pPr marL="514350" indent="-514350" algn="just">
              <a:buAutoNum type="alphaLcParenR"/>
            </a:pPr>
            <a:r>
              <a:rPr lang="en-US" dirty="0" smtClean="0"/>
              <a:t>At the application layer, the data to be exchanged is </a:t>
            </a:r>
            <a:r>
              <a:rPr lang="en-US" dirty="0" err="1" smtClean="0"/>
              <a:t>reffered</a:t>
            </a:r>
            <a:r>
              <a:rPr lang="en-US" dirty="0" smtClean="0"/>
              <a:t> as a </a:t>
            </a:r>
            <a:r>
              <a:rPr lang="en-US" b="1" dirty="0" smtClean="0"/>
              <a:t>message. </a:t>
            </a:r>
            <a:r>
              <a:rPr lang="en-US" dirty="0" smtClean="0"/>
              <a:t>Normally </a:t>
            </a:r>
            <a:r>
              <a:rPr lang="en-US" dirty="0" err="1" smtClean="0"/>
              <a:t>msg</a:t>
            </a:r>
            <a:r>
              <a:rPr lang="en-US" dirty="0" smtClean="0"/>
              <a:t> doesn’t contain any header or trailer if it does we refer to the whole as the message.</a:t>
            </a:r>
          </a:p>
          <a:p>
            <a:pPr marL="514350" indent="-514350" algn="just">
              <a:buAutoNum type="alphaLcParenR"/>
            </a:pPr>
            <a:r>
              <a:rPr lang="en-US" b="1" dirty="0" smtClean="0"/>
              <a:t> </a:t>
            </a:r>
            <a:r>
              <a:rPr lang="en-US" dirty="0" smtClean="0"/>
              <a:t>The transport layer takes the message as the </a:t>
            </a:r>
            <a:r>
              <a:rPr lang="en-US" b="1" dirty="0" smtClean="0"/>
              <a:t>payload</a:t>
            </a:r>
            <a:r>
              <a:rPr lang="en-US" dirty="0" smtClean="0"/>
              <a:t>, the load that the transport layer should take care of. It adds the header to the </a:t>
            </a:r>
            <a:r>
              <a:rPr lang="en-US" dirty="0" err="1" smtClean="0"/>
              <a:t>paylod</a:t>
            </a:r>
            <a:r>
              <a:rPr lang="en-US" dirty="0" smtClean="0"/>
              <a:t>, which contains the identifiers of the source and destination application programs that wants to communicate + some more info needed for end to end delivery of the msg. Such info is needed for </a:t>
            </a:r>
            <a:r>
              <a:rPr lang="en-US" dirty="0" err="1" smtClean="0"/>
              <a:t>flow,error</a:t>
            </a:r>
            <a:r>
              <a:rPr lang="en-US" dirty="0" smtClean="0"/>
              <a:t> and congestion control.</a:t>
            </a:r>
          </a:p>
          <a:p>
            <a:pPr marL="514350" indent="-514350" algn="just">
              <a:buNone/>
            </a:pPr>
            <a:r>
              <a:rPr lang="en-US" b="1" dirty="0" smtClean="0"/>
              <a:t>The result is the transport layer packet which is called the segment(in TCP) and the user datagram in UDP</a:t>
            </a:r>
          </a:p>
          <a:p>
            <a:pPr algn="just"/>
            <a:endParaRPr lang="en-US" dirty="0"/>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pPr>
              <a:buNone/>
            </a:pPr>
            <a:r>
              <a:rPr lang="en-US" dirty="0" smtClean="0"/>
              <a:t>c) The network layer takes the data/payload and adds its own header to the payload. The header contains the address of the source and destination hosts and some more info used for error checking of the header, fragmentation information and so on. The result is called a </a:t>
            </a:r>
            <a:r>
              <a:rPr lang="en-US" b="1" dirty="0" smtClean="0"/>
              <a:t>datagram</a:t>
            </a:r>
            <a:r>
              <a:rPr lang="en-US" dirty="0" smtClean="0"/>
              <a:t>.</a:t>
            </a:r>
          </a:p>
          <a:p>
            <a:pPr>
              <a:buNone/>
            </a:pPr>
            <a:r>
              <a:rPr lang="en-US" dirty="0" smtClean="0"/>
              <a:t>d) The data link layer takes the datagram and adds its own header which contains the link-layer address of the host or the next hop. The result is called as a </a:t>
            </a:r>
            <a:r>
              <a:rPr lang="en-US" b="1" dirty="0" smtClean="0"/>
              <a:t>frame</a:t>
            </a:r>
            <a:r>
              <a:rPr lang="en-US" dirty="0" smtClean="0"/>
              <a:t>.</a:t>
            </a:r>
            <a:endParaRPr lang="en-US" dirty="0"/>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Addressing</a:t>
            </a:r>
            <a:endParaRPr lang="en-US" dirty="0"/>
          </a:p>
        </p:txBody>
      </p:sp>
      <p:pic>
        <p:nvPicPr>
          <p:cNvPr id="2050" name="Picture 2"/>
          <p:cNvPicPr>
            <a:picLocks noGrp="1" noChangeAspect="1" noChangeArrowheads="1"/>
          </p:cNvPicPr>
          <p:nvPr>
            <p:ph idx="1"/>
          </p:nvPr>
        </p:nvPicPr>
        <p:blipFill>
          <a:blip r:embed="rId2"/>
          <a:srcRect/>
          <a:stretch>
            <a:fillRect/>
          </a:stretch>
        </p:blipFill>
        <p:spPr bwMode="auto">
          <a:xfrm>
            <a:off x="495859" y="1981200"/>
            <a:ext cx="8251991" cy="3810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Multiplexing and </a:t>
            </a:r>
            <a:r>
              <a:rPr lang="en-US" dirty="0" err="1" smtClean="0"/>
              <a:t>Demultiplexing</a:t>
            </a:r>
            <a:endParaRPr lang="en-US" dirty="0"/>
          </a:p>
        </p:txBody>
      </p:sp>
      <p:pic>
        <p:nvPicPr>
          <p:cNvPr id="3074" name="Picture 2"/>
          <p:cNvPicPr>
            <a:picLocks noGrp="1" noChangeAspect="1" noChangeArrowheads="1"/>
          </p:cNvPicPr>
          <p:nvPr>
            <p:ph idx="1"/>
          </p:nvPr>
        </p:nvPicPr>
        <p:blipFill>
          <a:blip r:embed="rId2"/>
          <a:srcRect/>
          <a:stretch>
            <a:fillRect/>
          </a:stretch>
        </p:blipFill>
        <p:spPr bwMode="auto">
          <a:xfrm>
            <a:off x="457200" y="2081053"/>
            <a:ext cx="8229600" cy="356425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altLang="en-US" sz="3600" dirty="0">
                <a:effectLst>
                  <a:outerShdw blurRad="38100" dist="38100" dir="2700000" algn="tl">
                    <a:srgbClr val="C0C0C0"/>
                  </a:outerShdw>
                </a:effectLst>
                <a:latin typeface="Times" charset="0"/>
              </a:rPr>
              <a:t>THE OSI </a:t>
            </a:r>
            <a:r>
              <a:rPr lang="en-US" altLang="en-US" sz="3600" dirty="0" smtClean="0">
                <a:effectLst>
                  <a:outerShdw blurRad="38100" dist="38100" dir="2700000" algn="tl">
                    <a:srgbClr val="C0C0C0"/>
                  </a:outerShdw>
                </a:effectLst>
                <a:latin typeface="Times" charset="0"/>
              </a:rPr>
              <a:t>MODEL</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fontScale="92500"/>
          </a:bodyPr>
          <a:lstStyle/>
          <a:p>
            <a:pPr marL="457200" indent="-457200" algn="just">
              <a:buFont typeface="Arial" panose="020B0604020202020204" pitchFamily="34" charset="0"/>
              <a:buChar char="•"/>
            </a:pPr>
            <a:r>
              <a:rPr lang="en-US" dirty="0">
                <a:solidFill>
                  <a:schemeClr val="tx1"/>
                </a:solidFill>
                <a:latin typeface="Book Antiqua" panose="02040602050305030304" pitchFamily="18" charset="0"/>
              </a:rPr>
              <a:t>International Standards Organization (ISO</a:t>
            </a:r>
            <a:r>
              <a:rPr lang="en-US" dirty="0" smtClean="0">
                <a:solidFill>
                  <a:schemeClr val="tx1"/>
                </a:solidFill>
                <a:latin typeface="Book Antiqua" panose="02040602050305030304" pitchFamily="18" charset="0"/>
              </a:rPr>
              <a:t>) established in 1947.</a:t>
            </a:r>
          </a:p>
          <a:p>
            <a:pPr marL="457200" indent="-457200" algn="just">
              <a:buFont typeface="Arial" panose="020B0604020202020204" pitchFamily="34" charset="0"/>
              <a:buChar char="•"/>
            </a:pPr>
            <a:r>
              <a:rPr lang="en-US" dirty="0" smtClean="0">
                <a:solidFill>
                  <a:schemeClr val="tx1"/>
                </a:solidFill>
                <a:latin typeface="Book Antiqua" panose="02040602050305030304" pitchFamily="18" charset="0"/>
              </a:rPr>
              <a:t>ISO is </a:t>
            </a:r>
            <a:r>
              <a:rPr lang="en-US" dirty="0">
                <a:solidFill>
                  <a:schemeClr val="tx1"/>
                </a:solidFill>
                <a:latin typeface="Book Antiqua" panose="02040602050305030304" pitchFamily="18" charset="0"/>
              </a:rPr>
              <a:t>a </a:t>
            </a:r>
            <a:r>
              <a:rPr lang="en-US" dirty="0" smtClean="0">
                <a:solidFill>
                  <a:schemeClr val="tx1"/>
                </a:solidFill>
                <a:latin typeface="Book Antiqua" panose="02040602050305030304" pitchFamily="18" charset="0"/>
              </a:rPr>
              <a:t>multinational body </a:t>
            </a:r>
            <a:r>
              <a:rPr lang="en-US" dirty="0">
                <a:solidFill>
                  <a:schemeClr val="tx1"/>
                </a:solidFill>
                <a:latin typeface="Book Antiqua" panose="02040602050305030304" pitchFamily="18" charset="0"/>
              </a:rPr>
              <a:t>dedicated to worldwide agreement on international standards</a:t>
            </a:r>
            <a:r>
              <a:rPr lang="en-US" dirty="0" smtClean="0">
                <a:solidFill>
                  <a:schemeClr val="tx1"/>
                </a:solidFill>
                <a:latin typeface="Book Antiqua" panose="02040602050305030304" pitchFamily="18" charset="0"/>
              </a:rPr>
              <a:t>.</a:t>
            </a:r>
          </a:p>
          <a:p>
            <a:pPr marL="457200" indent="-457200" algn="just">
              <a:buFont typeface="Arial" panose="020B0604020202020204" pitchFamily="34" charset="0"/>
              <a:buChar char="•"/>
            </a:pPr>
            <a:r>
              <a:rPr lang="en-US" dirty="0">
                <a:solidFill>
                  <a:schemeClr val="tx1"/>
                </a:solidFill>
                <a:latin typeface="Book Antiqua" panose="02040602050305030304" pitchFamily="18" charset="0"/>
              </a:rPr>
              <a:t>An ISO </a:t>
            </a:r>
            <a:r>
              <a:rPr lang="en-US" dirty="0" smtClean="0">
                <a:solidFill>
                  <a:schemeClr val="tx1"/>
                </a:solidFill>
                <a:latin typeface="Book Antiqua" panose="02040602050305030304" pitchFamily="18" charset="0"/>
              </a:rPr>
              <a:t>standard that </a:t>
            </a:r>
            <a:r>
              <a:rPr lang="en-US" dirty="0">
                <a:solidFill>
                  <a:schemeClr val="tx1"/>
                </a:solidFill>
                <a:latin typeface="Book Antiqua" panose="02040602050305030304" pitchFamily="18" charset="0"/>
              </a:rPr>
              <a:t>covers all aspects of network communications is the Open Systems </a:t>
            </a:r>
            <a:r>
              <a:rPr lang="en-US" dirty="0" smtClean="0">
                <a:solidFill>
                  <a:schemeClr val="tx1"/>
                </a:solidFill>
                <a:latin typeface="Book Antiqua" panose="02040602050305030304" pitchFamily="18" charset="0"/>
              </a:rPr>
              <a:t>Interconnection (OSI) model.</a:t>
            </a:r>
          </a:p>
          <a:p>
            <a:pPr marL="457200" indent="-457200" algn="just">
              <a:buFont typeface="Arial" panose="020B0604020202020204" pitchFamily="34" charset="0"/>
              <a:buChar char="•"/>
            </a:pPr>
            <a:r>
              <a:rPr lang="en-US" dirty="0">
                <a:solidFill>
                  <a:schemeClr val="tx1"/>
                </a:solidFill>
                <a:latin typeface="Book Antiqua" panose="02040602050305030304" pitchFamily="18" charset="0"/>
              </a:rPr>
              <a:t>An open system is a set of protocols </a:t>
            </a:r>
            <a:r>
              <a:rPr lang="en-US" dirty="0" smtClean="0">
                <a:solidFill>
                  <a:schemeClr val="tx1"/>
                </a:solidFill>
                <a:latin typeface="Book Antiqua" panose="02040602050305030304" pitchFamily="18" charset="0"/>
              </a:rPr>
              <a:t>that allows </a:t>
            </a:r>
            <a:r>
              <a:rPr lang="en-US" dirty="0">
                <a:solidFill>
                  <a:schemeClr val="tx1"/>
                </a:solidFill>
                <a:latin typeface="Book Antiqua" panose="02040602050305030304" pitchFamily="18" charset="0"/>
              </a:rPr>
              <a:t>any two different systems to communicate regardless of their underlying architecture</a:t>
            </a:r>
            <a:r>
              <a:rPr lang="en-US" dirty="0" smtClean="0">
                <a:solidFill>
                  <a:schemeClr val="tx1"/>
                </a:solidFill>
                <a:latin typeface="Book Antiqua" panose="02040602050305030304" pitchFamily="18" charset="0"/>
              </a:rPr>
              <a:t>.</a:t>
            </a:r>
          </a:p>
          <a:p>
            <a:pPr marL="457200" indent="-457200" algn="just">
              <a:buFont typeface="Arial" panose="020B0604020202020204" pitchFamily="34" charset="0"/>
              <a:buChar char="•"/>
            </a:pPr>
            <a:r>
              <a:rPr lang="en-US" dirty="0">
                <a:solidFill>
                  <a:schemeClr val="tx1"/>
                </a:solidFill>
                <a:latin typeface="Book Antiqua" panose="02040602050305030304" pitchFamily="18" charset="0"/>
              </a:rPr>
              <a:t>ISO is the organization. OSI is the </a:t>
            </a:r>
            <a:r>
              <a:rPr lang="en-US" dirty="0" smtClean="0">
                <a:solidFill>
                  <a:schemeClr val="tx1"/>
                </a:solidFill>
                <a:latin typeface="Book Antiqua" panose="02040602050305030304" pitchFamily="18" charset="0"/>
              </a:rPr>
              <a:t>model</a:t>
            </a:r>
            <a:r>
              <a:rPr lang="en-US" dirty="0">
                <a:solidFill>
                  <a:schemeClr val="tx1"/>
                </a:solidFill>
                <a:latin typeface="Book Antiqua" panose="02040602050305030304" pitchFamily="18" charset="0"/>
              </a:rPr>
              <a:t>.</a:t>
            </a:r>
          </a:p>
        </p:txBody>
      </p:sp>
    </p:spTree>
    <p:extLst>
      <p:ext uri="{BB962C8B-B14F-4D97-AF65-F5344CB8AC3E}">
        <p14:creationId xmlns:p14="http://schemas.microsoft.com/office/powerpoint/2010/main" val="281464930"/>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OSI Layer</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838200"/>
            <a:ext cx="8915400" cy="6019800"/>
          </a:xfrm>
        </p:spPr>
        <p:txBody>
          <a:bodyPr>
            <a:normAutofit fontScale="92500" lnSpcReduction="20000"/>
          </a:bodyPr>
          <a:lstStyle/>
          <a:p>
            <a:pPr marL="457200" indent="-457200" algn="just">
              <a:buFont typeface="Arial" panose="020B0604020202020204" pitchFamily="34" charset="0"/>
              <a:buChar char="•"/>
            </a:pPr>
            <a:r>
              <a:rPr lang="en-US" dirty="0" smtClean="0">
                <a:solidFill>
                  <a:schemeClr val="tx1"/>
                </a:solidFill>
                <a:latin typeface="Book Antiqua" panose="02040602050305030304" pitchFamily="18" charset="0"/>
              </a:rPr>
              <a:t>Purpose of the OSI model is to show how to facilitate communication between different system without requiring changes to the logic of the underlying hardware and software.</a:t>
            </a:r>
          </a:p>
          <a:p>
            <a:pPr marL="457200" indent="-457200" algn="just">
              <a:buFont typeface="Arial" panose="020B0604020202020204" pitchFamily="34" charset="0"/>
              <a:buChar char="•"/>
            </a:pPr>
            <a:r>
              <a:rPr lang="en-US" dirty="0" smtClean="0">
                <a:solidFill>
                  <a:schemeClr val="tx1"/>
                </a:solidFill>
                <a:latin typeface="Book Antiqua" panose="02040602050305030304" pitchFamily="18" charset="0"/>
              </a:rPr>
              <a:t>The </a:t>
            </a:r>
            <a:r>
              <a:rPr lang="en-US" dirty="0">
                <a:solidFill>
                  <a:schemeClr val="tx1"/>
                </a:solidFill>
                <a:latin typeface="Book Antiqua" panose="02040602050305030304" pitchFamily="18" charset="0"/>
              </a:rPr>
              <a:t>OSI model is a layered framework for the design of network systems </a:t>
            </a:r>
            <a:r>
              <a:rPr lang="en-US" dirty="0" smtClean="0">
                <a:solidFill>
                  <a:schemeClr val="tx1"/>
                </a:solidFill>
                <a:latin typeface="Book Antiqua" panose="02040602050305030304" pitchFamily="18" charset="0"/>
              </a:rPr>
              <a:t>that allows </a:t>
            </a:r>
            <a:r>
              <a:rPr lang="en-US" dirty="0">
                <a:solidFill>
                  <a:schemeClr val="tx1"/>
                </a:solidFill>
                <a:latin typeface="Book Antiqua" panose="02040602050305030304" pitchFamily="18" charset="0"/>
              </a:rPr>
              <a:t>communication between all types of computer systems</a:t>
            </a:r>
            <a:r>
              <a:rPr lang="en-US" dirty="0" smtClean="0">
                <a:solidFill>
                  <a:schemeClr val="tx1"/>
                </a:solidFill>
                <a:latin typeface="Book Antiqua" panose="02040602050305030304" pitchFamily="18" charset="0"/>
              </a:rPr>
              <a:t>.</a:t>
            </a:r>
          </a:p>
          <a:p>
            <a:pPr marL="457200" indent="-457200" algn="just">
              <a:buFont typeface="Arial" panose="020B0604020202020204" pitchFamily="34" charset="0"/>
              <a:buChar char="•"/>
            </a:pPr>
            <a:r>
              <a:rPr lang="en-US" dirty="0">
                <a:solidFill>
                  <a:schemeClr val="tx1"/>
                </a:solidFill>
                <a:latin typeface="Book Antiqua" panose="02040602050305030304" pitchFamily="18" charset="0"/>
              </a:rPr>
              <a:t>It consists of seven </a:t>
            </a:r>
            <a:r>
              <a:rPr lang="en-US" dirty="0" smtClean="0">
                <a:solidFill>
                  <a:schemeClr val="tx1"/>
                </a:solidFill>
                <a:latin typeface="Book Antiqua" panose="02040602050305030304" pitchFamily="18" charset="0"/>
              </a:rPr>
              <a:t>separate but </a:t>
            </a:r>
            <a:r>
              <a:rPr lang="en-US" dirty="0">
                <a:solidFill>
                  <a:schemeClr val="tx1"/>
                </a:solidFill>
                <a:latin typeface="Book Antiqua" panose="02040602050305030304" pitchFamily="18" charset="0"/>
              </a:rPr>
              <a:t>related </a:t>
            </a:r>
            <a:r>
              <a:rPr lang="en-US" dirty="0" smtClean="0">
                <a:solidFill>
                  <a:schemeClr val="tx1"/>
                </a:solidFill>
                <a:latin typeface="Book Antiqua" panose="02040602050305030304" pitchFamily="18" charset="0"/>
              </a:rPr>
              <a:t>layers.</a:t>
            </a:r>
          </a:p>
          <a:p>
            <a:pPr marL="457200" indent="-457200" algn="just">
              <a:buFont typeface="Arial" panose="020B0604020202020204" pitchFamily="34" charset="0"/>
              <a:buChar char="•"/>
            </a:pPr>
            <a:r>
              <a:rPr lang="en-US" dirty="0" smtClean="0">
                <a:solidFill>
                  <a:schemeClr val="tx1"/>
                </a:solidFill>
                <a:latin typeface="Book Antiqua" panose="02040602050305030304" pitchFamily="18" charset="0"/>
              </a:rPr>
              <a:t>Each layers defines </a:t>
            </a:r>
            <a:r>
              <a:rPr lang="en-US" dirty="0">
                <a:solidFill>
                  <a:schemeClr val="tx1"/>
                </a:solidFill>
                <a:latin typeface="Book Antiqua" panose="02040602050305030304" pitchFamily="18" charset="0"/>
              </a:rPr>
              <a:t>a part of the process of moving </a:t>
            </a:r>
            <a:r>
              <a:rPr lang="en-US" dirty="0" smtClean="0">
                <a:solidFill>
                  <a:schemeClr val="tx1"/>
                </a:solidFill>
                <a:latin typeface="Book Antiqua" panose="02040602050305030304" pitchFamily="18" charset="0"/>
              </a:rPr>
              <a:t>information across </a:t>
            </a:r>
            <a:r>
              <a:rPr lang="en-US" dirty="0">
                <a:solidFill>
                  <a:schemeClr val="tx1"/>
                </a:solidFill>
                <a:latin typeface="Book Antiqua" panose="02040602050305030304" pitchFamily="18" charset="0"/>
              </a:rPr>
              <a:t>a </a:t>
            </a:r>
            <a:r>
              <a:rPr lang="en-US" dirty="0" smtClean="0">
                <a:solidFill>
                  <a:schemeClr val="tx1"/>
                </a:solidFill>
                <a:latin typeface="Book Antiqua" panose="02040602050305030304" pitchFamily="18" charset="0"/>
              </a:rPr>
              <a:t>network.</a:t>
            </a:r>
          </a:p>
          <a:p>
            <a:pPr marL="457200" indent="-457200" algn="just">
              <a:buFont typeface="Arial" panose="020B0604020202020204" pitchFamily="34" charset="0"/>
              <a:buChar char="•"/>
            </a:pPr>
            <a:r>
              <a:rPr lang="en-US" dirty="0">
                <a:solidFill>
                  <a:schemeClr val="tx1"/>
                </a:solidFill>
                <a:latin typeface="Book Antiqua" panose="02040602050305030304" pitchFamily="18" charset="0"/>
              </a:rPr>
              <a:t>An understanding of the fundamentals of the </a:t>
            </a:r>
            <a:r>
              <a:rPr lang="en-US" dirty="0" smtClean="0">
                <a:solidFill>
                  <a:schemeClr val="tx1"/>
                </a:solidFill>
                <a:latin typeface="Book Antiqua" panose="02040602050305030304" pitchFamily="18" charset="0"/>
              </a:rPr>
              <a:t>OSI model </a:t>
            </a:r>
            <a:r>
              <a:rPr lang="en-US" dirty="0">
                <a:solidFill>
                  <a:schemeClr val="tx1"/>
                </a:solidFill>
                <a:latin typeface="Book Antiqua" panose="02040602050305030304" pitchFamily="18" charset="0"/>
              </a:rPr>
              <a:t>provides a solid basis for exploring data communications.</a:t>
            </a:r>
          </a:p>
        </p:txBody>
      </p:sp>
    </p:spTree>
    <p:extLst>
      <p:ext uri="{BB962C8B-B14F-4D97-AF65-F5344CB8AC3E}">
        <p14:creationId xmlns:p14="http://schemas.microsoft.com/office/powerpoint/2010/main" val="3780199744"/>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Layers of OSI model</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a:bodyPr>
          <a:lstStyle/>
          <a:p>
            <a:pPr marL="457200" indent="-457200" algn="l"/>
            <a:endParaRPr lang="en-US" dirty="0">
              <a:solidFill>
                <a:schemeClr val="tx1"/>
              </a:solidFill>
              <a:latin typeface="Book Antiqua" panose="02040602050305030304" pitchFamily="18" charset="0"/>
            </a:endParaRP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828099"/>
            <a:ext cx="5715000" cy="58665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30366214"/>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Organization of the layers</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a:bodyPr>
          <a:lstStyle/>
          <a:p>
            <a:pPr marL="457200" indent="-457200" algn="l">
              <a:buFont typeface="Arial" panose="020B0604020202020204" pitchFamily="34" charset="0"/>
              <a:buChar char="•"/>
            </a:pPr>
            <a:r>
              <a:rPr lang="en-US" sz="2800" dirty="0">
                <a:solidFill>
                  <a:schemeClr val="tx1"/>
                </a:solidFill>
                <a:latin typeface="Book Antiqua" panose="02040602050305030304" pitchFamily="18" charset="0"/>
              </a:rPr>
              <a:t>Upper layers deals with the application related issues, and they are implemented only in the software</a:t>
            </a:r>
            <a:r>
              <a:rPr lang="en-US" dirty="0" smtClean="0">
                <a:solidFill>
                  <a:schemeClr val="tx1"/>
                </a:solidFill>
                <a:latin typeface="Book Antiqua" panose="02040602050305030304" pitchFamily="18" charset="0"/>
              </a:rPr>
              <a:t>.</a:t>
            </a:r>
          </a:p>
          <a:p>
            <a:pPr marL="457200" indent="-457200" algn="l">
              <a:buFont typeface="Arial" panose="020B0604020202020204" pitchFamily="34" charset="0"/>
              <a:buChar char="•"/>
            </a:pPr>
            <a:r>
              <a:rPr lang="en-US" sz="2800" dirty="0" smtClean="0">
                <a:solidFill>
                  <a:schemeClr val="tx1"/>
                </a:solidFill>
                <a:latin typeface="Book Antiqua" panose="02040602050305030304" pitchFamily="18" charset="0"/>
              </a:rPr>
              <a:t>Lower layers deals </a:t>
            </a:r>
            <a:r>
              <a:rPr lang="en-US" sz="2800" dirty="0">
                <a:solidFill>
                  <a:schemeClr val="tx1"/>
                </a:solidFill>
                <a:latin typeface="Book Antiqua" panose="02040602050305030304" pitchFamily="18" charset="0"/>
              </a:rPr>
              <a:t>with the data transport issues. </a:t>
            </a:r>
            <a:r>
              <a:rPr lang="en-US" sz="2800" dirty="0" smtClean="0">
                <a:solidFill>
                  <a:schemeClr val="tx1"/>
                </a:solidFill>
                <a:latin typeface="Book Antiqua" panose="02040602050305030304" pitchFamily="18" charset="0"/>
              </a:rPr>
              <a:t>The last two layers are implemented </a:t>
            </a:r>
            <a:r>
              <a:rPr lang="en-US" sz="2800" dirty="0">
                <a:solidFill>
                  <a:schemeClr val="tx1"/>
                </a:solidFill>
                <a:latin typeface="Book Antiqua" panose="02040602050305030304" pitchFamily="18" charset="0"/>
              </a:rPr>
              <a:t>in hardware and software.</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2720429"/>
            <a:ext cx="5715000" cy="41306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9436186"/>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Functions of each layer-In Brief</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a:bodyPr>
          <a:lstStyle/>
          <a:p>
            <a:pPr marL="457200" indent="-457200" algn="l">
              <a:buFont typeface="Arial" panose="020B0604020202020204" pitchFamily="34" charset="0"/>
              <a:buChar char="•"/>
            </a:pPr>
            <a:endParaRPr lang="en-US" dirty="0">
              <a:solidFill>
                <a:schemeClr val="tx1"/>
              </a:solidFill>
              <a:latin typeface="Book Antiqua" panose="02040602050305030304"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330" y="789710"/>
            <a:ext cx="8776855" cy="59404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77678491"/>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Layers in the OSI model(Specific)</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a:bodyPr>
          <a:lstStyle/>
          <a:p>
            <a:pPr marL="457200" indent="-457200" algn="l">
              <a:buFont typeface="Arial" panose="020B0604020202020204" pitchFamily="34" charset="0"/>
              <a:buChar char="•"/>
            </a:pPr>
            <a:r>
              <a:rPr lang="en-US" sz="2800" dirty="0" smtClean="0">
                <a:solidFill>
                  <a:srgbClr val="FF0000"/>
                </a:solidFill>
                <a:latin typeface="Book Antiqua" panose="02040602050305030304" pitchFamily="18" charset="0"/>
              </a:rPr>
              <a:t>Physical Layer:  </a:t>
            </a:r>
            <a:r>
              <a:rPr lang="en-US" sz="2400" dirty="0">
                <a:solidFill>
                  <a:srgbClr val="002060"/>
                </a:solidFill>
                <a:latin typeface="Book Antiqua" panose="02040602050305030304" pitchFamily="18" charset="0"/>
              </a:rPr>
              <a:t>The </a:t>
            </a:r>
            <a:r>
              <a:rPr lang="en-US" sz="2400" dirty="0" smtClean="0">
                <a:solidFill>
                  <a:srgbClr val="002060"/>
                </a:solidFill>
                <a:latin typeface="Book Antiqua" panose="02040602050305030304" pitchFamily="18" charset="0"/>
              </a:rPr>
              <a:t>layer </a:t>
            </a:r>
            <a:r>
              <a:rPr lang="en-US" sz="2400" dirty="0">
                <a:solidFill>
                  <a:srgbClr val="002060"/>
                </a:solidFill>
                <a:latin typeface="Book Antiqua" panose="02040602050305030304" pitchFamily="18" charset="0"/>
              </a:rPr>
              <a:t>is responsible for movements </a:t>
            </a:r>
            <a:r>
              <a:rPr lang="en-US" sz="2400" dirty="0" smtClean="0">
                <a:solidFill>
                  <a:srgbClr val="002060"/>
                </a:solidFill>
                <a:latin typeface="Book Antiqua" panose="02040602050305030304" pitchFamily="18" charset="0"/>
              </a:rPr>
              <a:t>of individual </a:t>
            </a:r>
            <a:r>
              <a:rPr lang="en-US" sz="2400" dirty="0">
                <a:solidFill>
                  <a:srgbClr val="002060"/>
                </a:solidFill>
                <a:latin typeface="Book Antiqua" panose="02040602050305030304" pitchFamily="18" charset="0"/>
              </a:rPr>
              <a:t>bits from one hop (node) to the </a:t>
            </a:r>
            <a:r>
              <a:rPr lang="en-US" sz="2400" dirty="0" smtClean="0">
                <a:solidFill>
                  <a:srgbClr val="002060"/>
                </a:solidFill>
                <a:latin typeface="Book Antiqua" panose="02040602050305030304" pitchFamily="18" charset="0"/>
              </a:rPr>
              <a:t>next.</a:t>
            </a:r>
            <a:endParaRPr lang="en-US" sz="2400" dirty="0" smtClean="0">
              <a:solidFill>
                <a:srgbClr val="FF0000"/>
              </a:solidFill>
              <a:latin typeface="Book Antiqua" panose="02040602050305030304" pitchFamily="18" charset="0"/>
            </a:endParaRPr>
          </a:p>
          <a:p>
            <a:pPr marL="457200" indent="-457200" algn="l">
              <a:buFont typeface="Arial" panose="020B0604020202020204" pitchFamily="34" charset="0"/>
              <a:buChar char="•"/>
            </a:pPr>
            <a:r>
              <a:rPr lang="en-US" sz="2400" dirty="0" smtClean="0">
                <a:solidFill>
                  <a:srgbClr val="FF0000"/>
                </a:solidFill>
                <a:latin typeface="Book Antiqua" panose="02040602050305030304" pitchFamily="18" charset="0"/>
              </a:rPr>
              <a:t>Functions: </a:t>
            </a:r>
          </a:p>
          <a:p>
            <a:pPr marL="914400" lvl="1" indent="-457200" algn="l">
              <a:buFont typeface="Arial" panose="020B0604020202020204" pitchFamily="34" charset="0"/>
              <a:buChar char="•"/>
            </a:pPr>
            <a:r>
              <a:rPr lang="en-US" sz="2000" b="1" dirty="0" smtClean="0">
                <a:solidFill>
                  <a:srgbClr val="002060"/>
                </a:solidFill>
                <a:latin typeface="Book Antiqua" panose="02040602050305030304" pitchFamily="18" charset="0"/>
              </a:rPr>
              <a:t>Line Configuration</a:t>
            </a:r>
            <a:r>
              <a:rPr lang="en-US" sz="2000" dirty="0" smtClean="0">
                <a:solidFill>
                  <a:srgbClr val="002060"/>
                </a:solidFill>
                <a:latin typeface="Book Antiqua" panose="02040602050305030304" pitchFamily="18" charset="0"/>
              </a:rPr>
              <a:t>: Defines how two or more systems connected.</a:t>
            </a:r>
          </a:p>
          <a:p>
            <a:pPr marL="914400" lvl="1" indent="-457200" algn="l">
              <a:buFont typeface="Arial" panose="020B0604020202020204" pitchFamily="34" charset="0"/>
              <a:buChar char="•"/>
            </a:pPr>
            <a:r>
              <a:rPr lang="en-US" sz="2000" b="1" dirty="0" smtClean="0">
                <a:solidFill>
                  <a:srgbClr val="002060"/>
                </a:solidFill>
                <a:latin typeface="Book Antiqua" panose="02040602050305030304" pitchFamily="18" charset="0"/>
              </a:rPr>
              <a:t>Data Transmission</a:t>
            </a:r>
            <a:r>
              <a:rPr lang="en-US" sz="2000" dirty="0" smtClean="0">
                <a:solidFill>
                  <a:srgbClr val="002060"/>
                </a:solidFill>
                <a:latin typeface="Book Antiqua" panose="02040602050305030304" pitchFamily="18" charset="0"/>
              </a:rPr>
              <a:t>: Transfer of bits from sender to receiver.</a:t>
            </a:r>
          </a:p>
          <a:p>
            <a:pPr marL="914400" lvl="1" indent="-457200" algn="l">
              <a:buFont typeface="Arial" panose="020B0604020202020204" pitchFamily="34" charset="0"/>
              <a:buChar char="•"/>
            </a:pPr>
            <a:r>
              <a:rPr lang="en-US" sz="2000" b="1" dirty="0" smtClean="0">
                <a:solidFill>
                  <a:srgbClr val="002060"/>
                </a:solidFill>
                <a:latin typeface="Book Antiqua" panose="02040602050305030304" pitchFamily="18" charset="0"/>
              </a:rPr>
              <a:t>Signals</a:t>
            </a:r>
            <a:r>
              <a:rPr lang="en-US" sz="2000" dirty="0" smtClean="0">
                <a:solidFill>
                  <a:srgbClr val="002060"/>
                </a:solidFill>
                <a:latin typeface="Book Antiqua" panose="02040602050305030304" pitchFamily="18" charset="0"/>
              </a:rPr>
              <a:t>: Determines the type of signal used for transmission.</a:t>
            </a:r>
            <a:r>
              <a:rPr lang="en-US" sz="2000" dirty="0" smtClean="0">
                <a:solidFill>
                  <a:srgbClr val="FF0000"/>
                </a:solidFill>
                <a:latin typeface="Book Antiqua" panose="02040602050305030304" pitchFamily="18" charset="0"/>
              </a:rPr>
              <a:t> </a:t>
            </a:r>
          </a:p>
          <a:p>
            <a:pPr marL="914400" lvl="1" indent="-457200" algn="l">
              <a:buFont typeface="Arial" panose="020B0604020202020204" pitchFamily="34" charset="0"/>
              <a:buChar char="•"/>
            </a:pPr>
            <a:endParaRPr lang="en-US" sz="2400" dirty="0" smtClean="0">
              <a:solidFill>
                <a:srgbClr val="FF0000"/>
              </a:solidFill>
              <a:latin typeface="Book Antiqua" panose="02040602050305030304" pitchFamily="18" charset="0"/>
            </a:endParaRPr>
          </a:p>
          <a:p>
            <a:pPr marL="457200" indent="-457200" algn="l">
              <a:buFont typeface="Arial" panose="020B0604020202020204" pitchFamily="34" charset="0"/>
              <a:buChar char="•"/>
            </a:pPr>
            <a:endParaRPr lang="en-US" sz="2400" dirty="0">
              <a:solidFill>
                <a:srgbClr val="0070C0"/>
              </a:solidFill>
              <a:latin typeface="Book Antiqua" panose="02040602050305030304" pitchFamily="18" charset="0"/>
            </a:endParaRP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699" y="3318165"/>
            <a:ext cx="8629650" cy="32269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52165529"/>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64782" cy="533400"/>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fontScale="90000"/>
          </a:bodyPr>
          <a:lstStyle/>
          <a:p>
            <a:r>
              <a:rPr lang="en-US" sz="3600" b="1" dirty="0" smtClean="0">
                <a:latin typeface="Book Antiqua" panose="02040602050305030304" pitchFamily="18" charset="0"/>
              </a:rPr>
              <a:t>Data Link Layer</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533400"/>
            <a:ext cx="9144000" cy="6324600"/>
          </a:xfrm>
        </p:spPr>
        <p:txBody>
          <a:bodyPr>
            <a:normAutofit/>
          </a:bodyPr>
          <a:lstStyle/>
          <a:p>
            <a:pPr marL="457200" indent="-457200" algn="l">
              <a:spcBef>
                <a:spcPts val="300"/>
              </a:spcBef>
              <a:buFont typeface="Arial" panose="020B0604020202020204" pitchFamily="34" charset="0"/>
              <a:buChar char="•"/>
            </a:pPr>
            <a:r>
              <a:rPr lang="en-US" sz="2400" dirty="0" smtClean="0">
                <a:solidFill>
                  <a:srgbClr val="002060"/>
                </a:solidFill>
                <a:latin typeface="Book Antiqua" panose="02040602050305030304" pitchFamily="18" charset="0"/>
              </a:rPr>
              <a:t>It is mainly responsible for the unique identification of each device that resides on a local network.</a:t>
            </a:r>
          </a:p>
          <a:p>
            <a:pPr marL="457200" indent="-457200" algn="l">
              <a:spcBef>
                <a:spcPts val="300"/>
              </a:spcBef>
              <a:buFont typeface="Arial" panose="020B0604020202020204" pitchFamily="34" charset="0"/>
              <a:buChar char="•"/>
            </a:pPr>
            <a:r>
              <a:rPr lang="en-US" sz="2400" dirty="0">
                <a:solidFill>
                  <a:srgbClr val="002060"/>
                </a:solidFill>
                <a:latin typeface="Book Antiqua" panose="02040602050305030304" pitchFamily="18" charset="0"/>
              </a:rPr>
              <a:t>The data link layer is responsible for </a:t>
            </a:r>
            <a:r>
              <a:rPr lang="en-US" sz="2400" dirty="0" smtClean="0">
                <a:solidFill>
                  <a:srgbClr val="002060"/>
                </a:solidFill>
                <a:latin typeface="Book Antiqua" panose="02040602050305030304" pitchFamily="18" charset="0"/>
              </a:rPr>
              <a:t>moving frames </a:t>
            </a:r>
            <a:r>
              <a:rPr lang="en-US" sz="2400" dirty="0">
                <a:solidFill>
                  <a:srgbClr val="002060"/>
                </a:solidFill>
                <a:latin typeface="Book Antiqua" panose="02040602050305030304" pitchFamily="18" charset="0"/>
              </a:rPr>
              <a:t>from one hop (node) to the next</a:t>
            </a:r>
            <a:r>
              <a:rPr lang="en-US" sz="2400" dirty="0" smtClean="0">
                <a:solidFill>
                  <a:srgbClr val="002060"/>
                </a:solidFill>
                <a:latin typeface="Book Antiqua" panose="02040602050305030304" pitchFamily="18" charset="0"/>
              </a:rPr>
              <a:t>.</a:t>
            </a:r>
          </a:p>
          <a:p>
            <a:pPr marL="914400" lvl="1" indent="-457200" algn="l">
              <a:spcBef>
                <a:spcPts val="300"/>
              </a:spcBef>
              <a:buFont typeface="Arial" panose="020B0604020202020204" pitchFamily="34" charset="0"/>
              <a:buChar char="•"/>
            </a:pPr>
            <a:r>
              <a:rPr lang="en-US" sz="2000" dirty="0" smtClean="0">
                <a:solidFill>
                  <a:srgbClr val="FF0000"/>
                </a:solidFill>
                <a:latin typeface="Book Antiqua" panose="02040602050305030304" pitchFamily="18" charset="0"/>
              </a:rPr>
              <a:t>Framing-</a:t>
            </a:r>
            <a:r>
              <a:rPr lang="en-US" sz="2000" dirty="0" smtClean="0">
                <a:solidFill>
                  <a:srgbClr val="002060"/>
                </a:solidFill>
                <a:latin typeface="Book Antiqua" panose="02040602050305030304" pitchFamily="18" charset="0"/>
              </a:rPr>
              <a:t> </a:t>
            </a:r>
            <a:r>
              <a:rPr lang="en-US" sz="2000" dirty="0" smtClean="0">
                <a:solidFill>
                  <a:schemeClr val="tx1"/>
                </a:solidFill>
                <a:latin typeface="Book Antiqua" panose="02040602050305030304" pitchFamily="18" charset="0"/>
              </a:rPr>
              <a:t>Adds header(S&amp;D MAC address) and trailer(CRC)</a:t>
            </a:r>
          </a:p>
          <a:p>
            <a:pPr marL="914400" lvl="1" indent="-457200" algn="l">
              <a:buFont typeface="Arial" panose="020B0604020202020204" pitchFamily="34" charset="0"/>
              <a:buChar char="•"/>
            </a:pPr>
            <a:r>
              <a:rPr lang="en-US" sz="2000" dirty="0">
                <a:solidFill>
                  <a:srgbClr val="FF0000"/>
                </a:solidFill>
                <a:latin typeface="Book Antiqua" panose="02040602050305030304" pitchFamily="18" charset="0"/>
              </a:rPr>
              <a:t>Physical Addressing- </a:t>
            </a:r>
            <a:r>
              <a:rPr lang="en-US" sz="2000" dirty="0" smtClean="0">
                <a:solidFill>
                  <a:schemeClr val="tx1"/>
                </a:solidFill>
                <a:latin typeface="Book Antiqua" panose="02040602050305030304" pitchFamily="18" charset="0"/>
              </a:rPr>
              <a:t>Destination address</a:t>
            </a:r>
          </a:p>
          <a:p>
            <a:pPr marL="914400" lvl="1" indent="-457200" algn="l">
              <a:buFont typeface="Arial" panose="020B0604020202020204" pitchFamily="34" charset="0"/>
              <a:buChar char="•"/>
            </a:pPr>
            <a:r>
              <a:rPr lang="en-US" sz="2000" dirty="0">
                <a:solidFill>
                  <a:srgbClr val="FF0000"/>
                </a:solidFill>
                <a:latin typeface="Book Antiqua" panose="02040602050305030304" pitchFamily="18" charset="0"/>
              </a:rPr>
              <a:t>Flow Control- </a:t>
            </a:r>
            <a:r>
              <a:rPr lang="en-US" sz="2000" dirty="0" smtClean="0">
                <a:solidFill>
                  <a:schemeClr val="tx1"/>
                </a:solidFill>
                <a:latin typeface="Book Antiqua" panose="02040602050305030304" pitchFamily="18" charset="0"/>
              </a:rPr>
              <a:t>Constant data rate between sender and receiver. </a:t>
            </a:r>
          </a:p>
          <a:p>
            <a:pPr marL="914400" lvl="1" indent="-457200" algn="l">
              <a:buFont typeface="Arial" panose="020B0604020202020204" pitchFamily="34" charset="0"/>
              <a:buChar char="•"/>
            </a:pPr>
            <a:r>
              <a:rPr lang="en-US" sz="2000" dirty="0">
                <a:solidFill>
                  <a:srgbClr val="FF0000"/>
                </a:solidFill>
                <a:latin typeface="Book Antiqua" panose="02040602050305030304" pitchFamily="18" charset="0"/>
              </a:rPr>
              <a:t>Error Control- </a:t>
            </a:r>
            <a:r>
              <a:rPr lang="en-US" sz="2000" dirty="0" smtClean="0">
                <a:solidFill>
                  <a:schemeClr val="tx1"/>
                </a:solidFill>
                <a:latin typeface="Book Antiqua" panose="02040602050305030304" pitchFamily="18" charset="0"/>
              </a:rPr>
              <a:t>CRC added to the trailer.</a:t>
            </a:r>
          </a:p>
          <a:p>
            <a:pPr marL="914400" lvl="1" indent="-457200" algn="l">
              <a:buFont typeface="Arial" panose="020B0604020202020204" pitchFamily="34" charset="0"/>
              <a:buChar char="•"/>
            </a:pPr>
            <a:r>
              <a:rPr lang="en-US" sz="2000" dirty="0">
                <a:solidFill>
                  <a:srgbClr val="FF0000"/>
                </a:solidFill>
                <a:latin typeface="Book Antiqua" panose="02040602050305030304" pitchFamily="18" charset="0"/>
              </a:rPr>
              <a:t>Access Control</a:t>
            </a:r>
            <a:r>
              <a:rPr lang="en-US" sz="2000" dirty="0" smtClean="0">
                <a:solidFill>
                  <a:srgbClr val="002060"/>
                </a:solidFill>
                <a:latin typeface="Book Antiqua" panose="02040602050305030304" pitchFamily="18" charset="0"/>
              </a:rPr>
              <a:t>- </a:t>
            </a:r>
            <a:r>
              <a:rPr lang="en-US" sz="2000" dirty="0" smtClean="0">
                <a:solidFill>
                  <a:schemeClr val="tx1"/>
                </a:solidFill>
                <a:latin typeface="Book Antiqua" panose="02040602050305030304" pitchFamily="18" charset="0"/>
              </a:rPr>
              <a:t>Defines which device has a control over the link if two or more devices connected to the same link.</a:t>
            </a:r>
          </a:p>
          <a:p>
            <a:pPr marL="914400" lvl="1" indent="-457200" algn="l">
              <a:buFont typeface="Arial" panose="020B0604020202020204" pitchFamily="34" charset="0"/>
              <a:buChar char="•"/>
            </a:pPr>
            <a:endParaRPr lang="en-US" dirty="0" smtClean="0">
              <a:solidFill>
                <a:schemeClr val="tx1"/>
              </a:solidFill>
              <a:latin typeface="Book Antiqua" panose="02040602050305030304" pitchFamily="18" charset="0"/>
            </a:endParaRPr>
          </a:p>
          <a:p>
            <a:pPr marL="914400" lvl="1" indent="-457200" algn="l">
              <a:buFont typeface="Arial" panose="020B0604020202020204" pitchFamily="34" charset="0"/>
              <a:buChar char="•"/>
            </a:pPr>
            <a:endParaRPr lang="en-US" dirty="0">
              <a:solidFill>
                <a:schemeClr val="tx1"/>
              </a:solidFill>
              <a:latin typeface="Book Antiqua" panose="02040602050305030304" pitchFamily="18" charset="0"/>
            </a:endParaRPr>
          </a:p>
          <a:p>
            <a:pPr marL="457200" indent="-457200" algn="l">
              <a:buFont typeface="Arial" panose="020B0604020202020204" pitchFamily="34" charset="0"/>
              <a:buChar char="•"/>
            </a:pPr>
            <a:endParaRPr lang="en-US" dirty="0">
              <a:solidFill>
                <a:schemeClr val="tx1"/>
              </a:solidFill>
              <a:latin typeface="Book Antiqua" panose="02040602050305030304" pitchFamily="18" charset="0"/>
            </a:endParaRP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670" y="4343400"/>
            <a:ext cx="8723312" cy="24907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74135174"/>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Hop-to-Hop Delivery</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a:bodyPr>
          <a:lstStyle/>
          <a:p>
            <a:pPr marL="457200" indent="-457200" algn="l">
              <a:buFont typeface="Arial" panose="020B0604020202020204" pitchFamily="34" charset="0"/>
              <a:buChar char="•"/>
            </a:pPr>
            <a:endParaRPr lang="en-US" dirty="0">
              <a:solidFill>
                <a:schemeClr val="tx1"/>
              </a:solidFill>
              <a:latin typeface="Book Antiqua" panose="02040602050305030304" pitchFamily="18" charset="0"/>
            </a:endParaRP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076" y="838201"/>
            <a:ext cx="7805124" cy="5750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6913415"/>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Network Layer</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a:bodyPr>
          <a:lstStyle/>
          <a:p>
            <a:pPr marL="457200" indent="-457200" algn="l">
              <a:buFont typeface="Arial" panose="020B0604020202020204" pitchFamily="34" charset="0"/>
              <a:buChar char="•"/>
            </a:pPr>
            <a:r>
              <a:rPr lang="en-US" sz="2400" dirty="0">
                <a:solidFill>
                  <a:srgbClr val="002060"/>
                </a:solidFill>
                <a:latin typeface="Book Antiqua" panose="02040602050305030304" pitchFamily="18" charset="0"/>
              </a:rPr>
              <a:t>It determines the best path to move data from source to the </a:t>
            </a:r>
            <a:r>
              <a:rPr lang="en-US" sz="2400" dirty="0" smtClean="0">
                <a:solidFill>
                  <a:srgbClr val="002060"/>
                </a:solidFill>
                <a:latin typeface="Book Antiqua" panose="02040602050305030304" pitchFamily="18" charset="0"/>
              </a:rPr>
              <a:t>destination.</a:t>
            </a:r>
          </a:p>
          <a:p>
            <a:pPr marL="457200" indent="-457200" algn="l">
              <a:buFont typeface="Arial" panose="020B0604020202020204" pitchFamily="34" charset="0"/>
              <a:buChar char="•"/>
            </a:pPr>
            <a:r>
              <a:rPr lang="en-US" sz="2400" dirty="0">
                <a:solidFill>
                  <a:srgbClr val="002060"/>
                </a:solidFill>
                <a:latin typeface="Book Antiqua" panose="02040602050305030304" pitchFamily="18" charset="0"/>
              </a:rPr>
              <a:t>The </a:t>
            </a:r>
            <a:r>
              <a:rPr lang="en-US" sz="2400" dirty="0" smtClean="0">
                <a:solidFill>
                  <a:srgbClr val="002060"/>
                </a:solidFill>
                <a:latin typeface="Book Antiqua" panose="02040602050305030304" pitchFamily="18" charset="0"/>
              </a:rPr>
              <a:t>network layer </a:t>
            </a:r>
            <a:r>
              <a:rPr lang="en-US" sz="2400" dirty="0">
                <a:solidFill>
                  <a:srgbClr val="002060"/>
                </a:solidFill>
                <a:latin typeface="Book Antiqua" panose="02040602050305030304" pitchFamily="18" charset="0"/>
              </a:rPr>
              <a:t>is responsible for routing and </a:t>
            </a:r>
            <a:r>
              <a:rPr lang="en-US" sz="2400" dirty="0" smtClean="0">
                <a:solidFill>
                  <a:srgbClr val="002060"/>
                </a:solidFill>
                <a:latin typeface="Book Antiqua" panose="02040602050305030304" pitchFamily="18" charset="0"/>
              </a:rPr>
              <a:t>addressing (IP) </a:t>
            </a:r>
            <a:r>
              <a:rPr lang="en-US" sz="2400" dirty="0">
                <a:solidFill>
                  <a:srgbClr val="002060"/>
                </a:solidFill>
                <a:latin typeface="Book Antiqua" panose="02040602050305030304" pitchFamily="18" charset="0"/>
              </a:rPr>
              <a:t>the packets</a:t>
            </a:r>
            <a:r>
              <a:rPr lang="en-US" sz="2400" dirty="0" smtClean="0">
                <a:solidFill>
                  <a:srgbClr val="002060"/>
                </a:solidFill>
                <a:latin typeface="Book Antiqua" panose="02040602050305030304" pitchFamily="18" charset="0"/>
              </a:rPr>
              <a:t>.</a:t>
            </a:r>
          </a:p>
          <a:p>
            <a:pPr marL="457200" indent="-457200" algn="l">
              <a:buFont typeface="Arial" panose="020B0604020202020204" pitchFamily="34" charset="0"/>
              <a:buChar char="•"/>
            </a:pPr>
            <a:r>
              <a:rPr lang="en-US" sz="2400" dirty="0" smtClean="0">
                <a:solidFill>
                  <a:srgbClr val="002060"/>
                </a:solidFill>
                <a:latin typeface="Book Antiqua" panose="02040602050305030304" pitchFamily="18" charset="0"/>
              </a:rPr>
              <a:t>Responsible </a:t>
            </a:r>
            <a:r>
              <a:rPr lang="en-US" sz="2400" dirty="0">
                <a:solidFill>
                  <a:srgbClr val="002060"/>
                </a:solidFill>
                <a:latin typeface="Book Antiqua" panose="02040602050305030304" pitchFamily="18" charset="0"/>
              </a:rPr>
              <a:t>for </a:t>
            </a:r>
            <a:r>
              <a:rPr lang="en-US" sz="2400" dirty="0" smtClean="0">
                <a:solidFill>
                  <a:srgbClr val="002060"/>
                </a:solidFill>
                <a:latin typeface="Book Antiqua" panose="02040602050305030304" pitchFamily="18" charset="0"/>
              </a:rPr>
              <a:t>the delivery </a:t>
            </a:r>
            <a:r>
              <a:rPr lang="en-US" sz="2400" dirty="0">
                <a:solidFill>
                  <a:srgbClr val="002060"/>
                </a:solidFill>
                <a:latin typeface="Book Antiqua" panose="02040602050305030304" pitchFamily="18" charset="0"/>
              </a:rPr>
              <a:t>of individual packets from </a:t>
            </a:r>
            <a:r>
              <a:rPr lang="en-US" sz="2400" dirty="0" smtClean="0">
                <a:solidFill>
                  <a:srgbClr val="002060"/>
                </a:solidFill>
                <a:latin typeface="Book Antiqua" panose="02040602050305030304" pitchFamily="18" charset="0"/>
              </a:rPr>
              <a:t>the </a:t>
            </a:r>
            <a:r>
              <a:rPr lang="en-US" sz="2400" dirty="0">
                <a:solidFill>
                  <a:srgbClr val="002060"/>
                </a:solidFill>
                <a:latin typeface="Book Antiqua" panose="02040602050305030304" pitchFamily="18" charset="0"/>
              </a:rPr>
              <a:t>source host to the destination host.</a:t>
            </a:r>
          </a:p>
          <a:p>
            <a:pPr marL="457200" indent="-457200" algn="l">
              <a:buFont typeface="Arial" panose="020B0604020202020204" pitchFamily="34" charset="0"/>
              <a:buChar char="•"/>
            </a:pPr>
            <a:endParaRPr lang="en-US" sz="2800" dirty="0" smtClean="0">
              <a:solidFill>
                <a:srgbClr val="002060"/>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rgbClr val="002060"/>
              </a:solidFill>
              <a:latin typeface="Book Antiqua" panose="02040602050305030304" pitchFamily="18" charset="0"/>
            </a:endParaRP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712" y="3276600"/>
            <a:ext cx="8675687" cy="3294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39013382"/>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fontScale="90000"/>
          </a:bodyPr>
          <a:lstStyle/>
          <a:p>
            <a:r>
              <a:rPr lang="en-US" sz="3600" b="1" dirty="0" smtClean="0">
                <a:latin typeface="Book Antiqua" panose="02040602050305030304" pitchFamily="18" charset="0"/>
              </a:rPr>
              <a:t>Network Layer- Source to destination delivery</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a:bodyPr>
          <a:lstStyle/>
          <a:p>
            <a:pPr marL="457200" indent="-457200" algn="l">
              <a:buFont typeface="Arial" panose="020B0604020202020204" pitchFamily="34" charset="0"/>
              <a:buChar char="•"/>
            </a:pPr>
            <a:endParaRPr lang="en-US" sz="2800" dirty="0" smtClean="0">
              <a:solidFill>
                <a:srgbClr val="002060"/>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rgbClr val="002060"/>
              </a:solidFill>
              <a:latin typeface="Book Antiqua" panose="02040602050305030304" pitchFamily="18" charset="0"/>
            </a:endParaRPr>
          </a:p>
        </p:txBody>
      </p:sp>
      <p:pic>
        <p:nvPicPr>
          <p:cNvPr id="5"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789697"/>
            <a:ext cx="7848600" cy="5930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05320807"/>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Functions of Network layer</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a:bodyPr>
          <a:lstStyle/>
          <a:p>
            <a:pPr marL="457200" indent="-457200" algn="l">
              <a:buFont typeface="Arial" panose="020B0604020202020204" pitchFamily="34" charset="0"/>
              <a:buChar char="•"/>
            </a:pPr>
            <a:r>
              <a:rPr lang="en-US" sz="2800" dirty="0">
                <a:solidFill>
                  <a:srgbClr val="FF0000"/>
                </a:solidFill>
                <a:latin typeface="Book Antiqua" panose="02040602050305030304" pitchFamily="18" charset="0"/>
              </a:rPr>
              <a:t>Addressing: </a:t>
            </a:r>
            <a:r>
              <a:rPr lang="en-US" sz="2800" dirty="0">
                <a:solidFill>
                  <a:srgbClr val="002060"/>
                </a:solidFill>
                <a:latin typeface="Book Antiqua" panose="02040602050305030304" pitchFamily="18" charset="0"/>
              </a:rPr>
              <a:t>adds the source and destination </a:t>
            </a:r>
            <a:r>
              <a:rPr lang="en-US" sz="2800" dirty="0" smtClean="0">
                <a:solidFill>
                  <a:srgbClr val="002060"/>
                </a:solidFill>
                <a:latin typeface="Book Antiqua" panose="02040602050305030304" pitchFamily="18" charset="0"/>
              </a:rPr>
              <a:t>IP address </a:t>
            </a:r>
            <a:r>
              <a:rPr lang="en-US" sz="2800" dirty="0">
                <a:solidFill>
                  <a:srgbClr val="002060"/>
                </a:solidFill>
                <a:latin typeface="Book Antiqua" panose="02040602050305030304" pitchFamily="18" charset="0"/>
              </a:rPr>
              <a:t>to the header of the frame. </a:t>
            </a:r>
            <a:endParaRPr lang="en-US" sz="2800" dirty="0" smtClean="0">
              <a:solidFill>
                <a:srgbClr val="002060"/>
              </a:solidFill>
              <a:latin typeface="Book Antiqua" panose="02040602050305030304" pitchFamily="18" charset="0"/>
            </a:endParaRPr>
          </a:p>
          <a:p>
            <a:pPr marL="457200" indent="-457200" algn="l">
              <a:buFont typeface="Arial" panose="020B0604020202020204" pitchFamily="34" charset="0"/>
              <a:buChar char="•"/>
            </a:pPr>
            <a:r>
              <a:rPr lang="en-US" sz="2800" dirty="0">
                <a:solidFill>
                  <a:srgbClr val="002060"/>
                </a:solidFill>
                <a:latin typeface="Book Antiqua" panose="02040602050305030304" pitchFamily="18" charset="0"/>
              </a:rPr>
              <a:t>Addressing is used to identify the device on the internet.</a:t>
            </a:r>
          </a:p>
          <a:p>
            <a:pPr marL="457200" indent="-457200" algn="l">
              <a:buFont typeface="Arial" panose="020B0604020202020204" pitchFamily="34" charset="0"/>
              <a:buChar char="•"/>
            </a:pPr>
            <a:r>
              <a:rPr lang="en-US" sz="2800" dirty="0">
                <a:solidFill>
                  <a:srgbClr val="FF0000"/>
                </a:solidFill>
                <a:latin typeface="Book Antiqua" panose="02040602050305030304" pitchFamily="18" charset="0"/>
              </a:rPr>
              <a:t>Routing:  </a:t>
            </a:r>
            <a:r>
              <a:rPr lang="en-US" sz="2800" dirty="0" smtClean="0">
                <a:solidFill>
                  <a:srgbClr val="002060"/>
                </a:solidFill>
                <a:latin typeface="Book Antiqua" panose="02040602050305030304" pitchFamily="18" charset="0"/>
              </a:rPr>
              <a:t>It </a:t>
            </a:r>
            <a:r>
              <a:rPr lang="en-US" sz="2800" dirty="0">
                <a:solidFill>
                  <a:srgbClr val="002060"/>
                </a:solidFill>
                <a:latin typeface="Book Antiqua" panose="02040602050305030304" pitchFamily="18" charset="0"/>
              </a:rPr>
              <a:t>determines the best optimal path out of the multiple paths from source to the destination</a:t>
            </a:r>
            <a:r>
              <a:rPr lang="en-US" sz="2800" dirty="0" smtClean="0">
                <a:solidFill>
                  <a:srgbClr val="002060"/>
                </a:solidFill>
                <a:latin typeface="Book Antiqua" panose="02040602050305030304" pitchFamily="18" charset="0"/>
              </a:rPr>
              <a:t>.</a:t>
            </a:r>
          </a:p>
          <a:p>
            <a:pPr marL="457200" indent="-457200" algn="l">
              <a:buFont typeface="Arial" panose="020B0604020202020204" pitchFamily="34" charset="0"/>
              <a:buChar char="•"/>
            </a:pPr>
            <a:r>
              <a:rPr lang="en-US" sz="2800" dirty="0">
                <a:solidFill>
                  <a:srgbClr val="FF0000"/>
                </a:solidFill>
                <a:latin typeface="Book Antiqua" panose="02040602050305030304" pitchFamily="18" charset="0"/>
              </a:rPr>
              <a:t>Packetizing: </a:t>
            </a:r>
            <a:r>
              <a:rPr lang="en-US" sz="2800" dirty="0" smtClean="0">
                <a:solidFill>
                  <a:srgbClr val="002060"/>
                </a:solidFill>
                <a:latin typeface="Book Antiqua" panose="02040602050305030304" pitchFamily="18" charset="0"/>
              </a:rPr>
              <a:t>A Network Layer receives the packets from the upper layer and converts them into packets.</a:t>
            </a:r>
            <a:endParaRPr lang="en-US" sz="2800" dirty="0">
              <a:solidFill>
                <a:srgbClr val="002060"/>
              </a:solidFill>
              <a:latin typeface="Book Antiqua" panose="02040602050305030304" pitchFamily="18" charset="0"/>
            </a:endParaRPr>
          </a:p>
        </p:txBody>
      </p:sp>
    </p:spTree>
    <p:extLst>
      <p:ext uri="{BB962C8B-B14F-4D97-AF65-F5344CB8AC3E}">
        <p14:creationId xmlns:p14="http://schemas.microsoft.com/office/powerpoint/2010/main" val="3320185100"/>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Transport Layer</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a:bodyPr>
          <a:lstStyle/>
          <a:p>
            <a:pPr marL="457200" indent="-457200" algn="l">
              <a:buFont typeface="Arial" panose="020B0604020202020204" pitchFamily="34" charset="0"/>
              <a:buChar char="•"/>
            </a:pPr>
            <a:r>
              <a:rPr lang="en-US" sz="2400" dirty="0">
                <a:solidFill>
                  <a:srgbClr val="002060"/>
                </a:solidFill>
                <a:latin typeface="Book Antiqua" panose="02040602050305030304" pitchFamily="18" charset="0"/>
              </a:rPr>
              <a:t>The transport layer is responsible for the delivery </a:t>
            </a:r>
            <a:r>
              <a:rPr lang="en-US" sz="2400" dirty="0" smtClean="0">
                <a:solidFill>
                  <a:srgbClr val="002060"/>
                </a:solidFill>
                <a:latin typeface="Book Antiqua" panose="02040602050305030304" pitchFamily="18" charset="0"/>
              </a:rPr>
              <a:t> of </a:t>
            </a:r>
            <a:r>
              <a:rPr lang="en-US" sz="2400" dirty="0">
                <a:solidFill>
                  <a:srgbClr val="002060"/>
                </a:solidFill>
                <a:latin typeface="Book Antiqua" panose="02040602050305030304" pitchFamily="18" charset="0"/>
              </a:rPr>
              <a:t>a message from one process to another</a:t>
            </a:r>
            <a:r>
              <a:rPr lang="en-US" sz="2400" dirty="0" smtClean="0">
                <a:solidFill>
                  <a:srgbClr val="002060"/>
                </a:solidFill>
                <a:latin typeface="Book Antiqua" panose="02040602050305030304" pitchFamily="18" charset="0"/>
              </a:rPr>
              <a:t>.</a:t>
            </a:r>
          </a:p>
          <a:p>
            <a:pPr marL="457200" indent="-457200" algn="l">
              <a:buFont typeface="Arial" panose="020B0604020202020204" pitchFamily="34" charset="0"/>
              <a:buChar char="•"/>
            </a:pPr>
            <a:r>
              <a:rPr lang="en-US" sz="2400" dirty="0" smtClean="0">
                <a:solidFill>
                  <a:srgbClr val="002060"/>
                </a:solidFill>
                <a:latin typeface="Book Antiqua" panose="02040602050305030304" pitchFamily="18" charset="0"/>
              </a:rPr>
              <a:t>Ensures </a:t>
            </a:r>
            <a:r>
              <a:rPr lang="en-US" sz="2400" dirty="0">
                <a:solidFill>
                  <a:srgbClr val="002060"/>
                </a:solidFill>
                <a:latin typeface="Book Antiqua" panose="02040602050305030304" pitchFamily="18" charset="0"/>
              </a:rPr>
              <a:t>that messages are transmitted in the order in which they are sent and there is no duplication of data</a:t>
            </a:r>
            <a:r>
              <a:rPr lang="en-US" sz="2400" dirty="0" smtClean="0">
                <a:solidFill>
                  <a:srgbClr val="002060"/>
                </a:solidFill>
                <a:latin typeface="Book Antiqua" panose="02040602050305030304" pitchFamily="18" charset="0"/>
              </a:rPr>
              <a:t>.</a:t>
            </a:r>
          </a:p>
          <a:p>
            <a:pPr marL="457200" indent="-457200" algn="l">
              <a:buFont typeface="Arial" panose="020B0604020202020204" pitchFamily="34" charset="0"/>
              <a:buChar char="•"/>
            </a:pPr>
            <a:r>
              <a:rPr lang="en-US" sz="2400" dirty="0">
                <a:solidFill>
                  <a:srgbClr val="002060"/>
                </a:solidFill>
                <a:latin typeface="Book Antiqua" panose="02040602050305030304" pitchFamily="18" charset="0"/>
              </a:rPr>
              <a:t>It receives the data from the upper layer and converts them into smaller units known as segments</a:t>
            </a:r>
            <a:r>
              <a:rPr lang="en-US" sz="2400" dirty="0" smtClean="0">
                <a:solidFill>
                  <a:srgbClr val="002060"/>
                </a:solidFill>
                <a:latin typeface="Book Antiqua" panose="02040602050305030304" pitchFamily="18" charset="0"/>
              </a:rPr>
              <a:t>.</a:t>
            </a:r>
          </a:p>
          <a:p>
            <a:pPr marL="457200" indent="-457200" algn="l">
              <a:buFont typeface="Arial" panose="020B0604020202020204" pitchFamily="34" charset="0"/>
              <a:buChar char="•"/>
            </a:pPr>
            <a:r>
              <a:rPr lang="en-US" sz="2400" dirty="0" smtClean="0">
                <a:solidFill>
                  <a:srgbClr val="002060"/>
                </a:solidFill>
                <a:latin typeface="Book Antiqua" panose="02040602050305030304" pitchFamily="18" charset="0"/>
              </a:rPr>
              <a:t>Two protocols are used: TCP and UDP</a:t>
            </a:r>
          </a:p>
          <a:p>
            <a:pPr marL="457200" indent="-457200" algn="l">
              <a:buFont typeface="Arial" panose="020B0604020202020204" pitchFamily="34" charset="0"/>
              <a:buChar char="•"/>
            </a:pPr>
            <a:endParaRPr lang="en-US" sz="2800" dirty="0">
              <a:solidFill>
                <a:srgbClr val="002060"/>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rgbClr val="002060"/>
              </a:solidFill>
              <a:latin typeface="Book Antiqua" panose="02040602050305030304" pitchFamily="18" charset="0"/>
            </a:endParaRP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473" y="3657600"/>
            <a:ext cx="8693150" cy="302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00332484"/>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Functions of transport layer</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762000"/>
            <a:ext cx="9144000" cy="6096000"/>
          </a:xfrm>
        </p:spPr>
        <p:txBody>
          <a:bodyPr>
            <a:normAutofit/>
          </a:bodyPr>
          <a:lstStyle/>
          <a:p>
            <a:pPr marL="457200" indent="-457200" algn="l">
              <a:buFont typeface="Arial" panose="020B0604020202020204" pitchFamily="34" charset="0"/>
              <a:buChar char="•"/>
            </a:pPr>
            <a:r>
              <a:rPr lang="en-US" sz="2800" dirty="0">
                <a:solidFill>
                  <a:srgbClr val="FF0000"/>
                </a:solidFill>
                <a:latin typeface="Book Antiqua" panose="02040602050305030304" pitchFamily="18" charset="0"/>
              </a:rPr>
              <a:t>Service-point addressing: </a:t>
            </a:r>
            <a:r>
              <a:rPr lang="en-US" sz="2800" dirty="0" smtClean="0">
                <a:solidFill>
                  <a:srgbClr val="002060"/>
                </a:solidFill>
                <a:latin typeface="Book Antiqua" panose="02040602050305030304" pitchFamily="18" charset="0"/>
              </a:rPr>
              <a:t>Port address. </a:t>
            </a:r>
            <a:r>
              <a:rPr lang="en-US" sz="2800" dirty="0" err="1" smtClean="0">
                <a:solidFill>
                  <a:srgbClr val="002060"/>
                </a:solidFill>
                <a:latin typeface="Book Antiqua" panose="02040602050305030304" pitchFamily="18" charset="0"/>
              </a:rPr>
              <a:t>i.e</a:t>
            </a:r>
            <a:r>
              <a:rPr lang="en-US" sz="2800" dirty="0" smtClean="0">
                <a:solidFill>
                  <a:srgbClr val="002060"/>
                </a:solidFill>
                <a:latin typeface="Book Antiqua" panose="02040602050305030304" pitchFamily="18" charset="0"/>
              </a:rPr>
              <a:t> process to process delivery.</a:t>
            </a:r>
          </a:p>
          <a:p>
            <a:pPr marL="457200" indent="-457200" algn="l">
              <a:buFont typeface="Arial" panose="020B0604020202020204" pitchFamily="34" charset="0"/>
              <a:buChar char="•"/>
            </a:pPr>
            <a:r>
              <a:rPr lang="en-US" sz="2800" dirty="0">
                <a:solidFill>
                  <a:srgbClr val="FF0000"/>
                </a:solidFill>
                <a:latin typeface="Book Antiqua" panose="02040602050305030304" pitchFamily="18" charset="0"/>
              </a:rPr>
              <a:t>Segmentation and reassembly</a:t>
            </a:r>
            <a:r>
              <a:rPr lang="en-US" sz="2800" dirty="0" smtClean="0">
                <a:solidFill>
                  <a:srgbClr val="002060"/>
                </a:solidFill>
                <a:latin typeface="Book Antiqua" panose="02040602050305030304" pitchFamily="18" charset="0"/>
              </a:rPr>
              <a:t>: Sequence Numbering.</a:t>
            </a:r>
          </a:p>
          <a:p>
            <a:pPr marL="457200" indent="-457200" algn="l">
              <a:buFont typeface="Arial" panose="020B0604020202020204" pitchFamily="34" charset="0"/>
              <a:buChar char="•"/>
            </a:pPr>
            <a:r>
              <a:rPr lang="en-US" sz="2800" dirty="0">
                <a:solidFill>
                  <a:srgbClr val="FF0000"/>
                </a:solidFill>
                <a:latin typeface="Book Antiqua" panose="02040602050305030304" pitchFamily="18" charset="0"/>
              </a:rPr>
              <a:t>Connection control: </a:t>
            </a:r>
            <a:r>
              <a:rPr lang="en-US" sz="2800" dirty="0" smtClean="0">
                <a:solidFill>
                  <a:srgbClr val="002060"/>
                </a:solidFill>
                <a:latin typeface="Book Antiqua" panose="02040602050305030304" pitchFamily="18" charset="0"/>
              </a:rPr>
              <a:t>Single route or different route.</a:t>
            </a:r>
          </a:p>
          <a:p>
            <a:pPr marL="457200" indent="-457200" algn="l">
              <a:buFont typeface="Arial" panose="020B0604020202020204" pitchFamily="34" charset="0"/>
              <a:buChar char="•"/>
            </a:pPr>
            <a:r>
              <a:rPr lang="en-US" sz="2800" dirty="0" smtClean="0">
                <a:solidFill>
                  <a:srgbClr val="FF0000"/>
                </a:solidFill>
                <a:latin typeface="Book Antiqua" panose="02040602050305030304" pitchFamily="18" charset="0"/>
              </a:rPr>
              <a:t>Flow control and Error control</a:t>
            </a:r>
          </a:p>
          <a:p>
            <a:pPr marL="457200" indent="-457200" algn="l">
              <a:buFont typeface="Arial" panose="020B0604020202020204" pitchFamily="34" charset="0"/>
              <a:buChar char="•"/>
            </a:pPr>
            <a:endParaRPr lang="en-US" sz="2800" dirty="0">
              <a:solidFill>
                <a:srgbClr val="FF0000"/>
              </a:solidFill>
              <a:latin typeface="Book Antiqua" panose="02040602050305030304" pitchFamily="18" charset="0"/>
            </a:endParaRPr>
          </a:p>
          <a:p>
            <a:pPr algn="l"/>
            <a:endParaRPr lang="en-US" sz="2800" dirty="0">
              <a:solidFill>
                <a:srgbClr val="002060"/>
              </a:solidFill>
              <a:latin typeface="Book Antiqua" panose="02040602050305030304" pitchFamily="18" charset="0"/>
            </a:endParaRP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365" y="3283531"/>
            <a:ext cx="8518204"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37532827"/>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Session Layer</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a:bodyPr>
          <a:lstStyle/>
          <a:p>
            <a:pPr marL="457200" indent="-457200" algn="l">
              <a:buFont typeface="Arial" panose="020B0604020202020204" pitchFamily="34" charset="0"/>
              <a:buChar char="•"/>
            </a:pPr>
            <a:r>
              <a:rPr lang="en-US" sz="2400" dirty="0">
                <a:solidFill>
                  <a:srgbClr val="002060"/>
                </a:solidFill>
                <a:latin typeface="Book Antiqua" panose="02040602050305030304" pitchFamily="18" charset="0"/>
              </a:rPr>
              <a:t>Session layer is used to establish, maintain and synchronizes the interaction between communicating devices</a:t>
            </a:r>
            <a:r>
              <a:rPr lang="en-US" sz="2400" dirty="0" smtClean="0">
                <a:solidFill>
                  <a:srgbClr val="002060"/>
                </a:solidFill>
                <a:latin typeface="Book Antiqua" panose="02040602050305030304" pitchFamily="18" charset="0"/>
              </a:rPr>
              <a:t>.</a:t>
            </a:r>
          </a:p>
          <a:p>
            <a:pPr marL="457200" indent="-457200" algn="l">
              <a:buFont typeface="Arial" panose="020B0604020202020204" pitchFamily="34" charset="0"/>
              <a:buChar char="•"/>
            </a:pPr>
            <a:r>
              <a:rPr lang="en-US" sz="2400" dirty="0" smtClean="0">
                <a:solidFill>
                  <a:srgbClr val="FF0000"/>
                </a:solidFill>
                <a:latin typeface="Book Antiqua" panose="02040602050305030304" pitchFamily="18" charset="0"/>
              </a:rPr>
              <a:t>Functions: </a:t>
            </a:r>
          </a:p>
          <a:p>
            <a:pPr marL="914400" lvl="1" indent="-457200" algn="l">
              <a:buFont typeface="Arial" panose="020B0604020202020204" pitchFamily="34" charset="0"/>
              <a:buChar char="•"/>
            </a:pPr>
            <a:r>
              <a:rPr lang="en-US" sz="2200" dirty="0">
                <a:solidFill>
                  <a:srgbClr val="FF0000"/>
                </a:solidFill>
                <a:latin typeface="Book Antiqua" panose="02040602050305030304" pitchFamily="18" charset="0"/>
              </a:rPr>
              <a:t>Dialog control</a:t>
            </a:r>
            <a:r>
              <a:rPr lang="en-US" sz="2200" dirty="0" smtClean="0">
                <a:solidFill>
                  <a:srgbClr val="002060"/>
                </a:solidFill>
                <a:latin typeface="Book Antiqua" panose="02040602050305030304" pitchFamily="18" charset="0"/>
              </a:rPr>
              <a:t>: Half duplex or full duplex.</a:t>
            </a:r>
          </a:p>
          <a:p>
            <a:pPr marL="914400" lvl="1" indent="-457200" algn="l">
              <a:buFont typeface="Arial" panose="020B0604020202020204" pitchFamily="34" charset="0"/>
              <a:buChar char="•"/>
            </a:pPr>
            <a:r>
              <a:rPr lang="en-US" sz="2200" dirty="0">
                <a:solidFill>
                  <a:srgbClr val="FF0000"/>
                </a:solidFill>
                <a:latin typeface="Book Antiqua" panose="02040602050305030304" pitchFamily="18" charset="0"/>
              </a:rPr>
              <a:t>Synchronization: </a:t>
            </a:r>
            <a:r>
              <a:rPr lang="en-US" sz="2200" dirty="0">
                <a:solidFill>
                  <a:srgbClr val="002060"/>
                </a:solidFill>
                <a:latin typeface="Book Antiqua" panose="02040602050305030304" pitchFamily="18" charset="0"/>
              </a:rPr>
              <a:t>A</a:t>
            </a:r>
            <a:r>
              <a:rPr lang="en-US" sz="2200" dirty="0" smtClean="0">
                <a:solidFill>
                  <a:srgbClr val="002060"/>
                </a:solidFill>
                <a:latin typeface="Book Antiqua" panose="02040602050305030304" pitchFamily="18" charset="0"/>
              </a:rPr>
              <a:t>dds </a:t>
            </a:r>
            <a:r>
              <a:rPr lang="en-US" sz="2200" dirty="0">
                <a:solidFill>
                  <a:srgbClr val="002060"/>
                </a:solidFill>
                <a:latin typeface="Book Antiqua" panose="02040602050305030304" pitchFamily="18" charset="0"/>
              </a:rPr>
              <a:t>some checkpoints when transmitting the data in a sequence. </a:t>
            </a:r>
            <a:r>
              <a:rPr lang="en-US" sz="2200" dirty="0" smtClean="0">
                <a:solidFill>
                  <a:srgbClr val="002060"/>
                </a:solidFill>
                <a:latin typeface="Book Antiqua" panose="02040602050305030304" pitchFamily="18" charset="0"/>
              </a:rPr>
              <a:t>If error occurs, transmission take place again from the checkpoint.</a:t>
            </a:r>
          </a:p>
          <a:p>
            <a:pPr marL="914400" lvl="1" indent="-457200" algn="l">
              <a:buFont typeface="Arial" panose="020B0604020202020204" pitchFamily="34" charset="0"/>
              <a:buChar char="•"/>
            </a:pPr>
            <a:endParaRPr lang="en-US" sz="2400" dirty="0" smtClean="0">
              <a:solidFill>
                <a:srgbClr val="002060"/>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rgbClr val="002060"/>
              </a:solidFill>
              <a:latin typeface="Book Antiqua" panose="02040602050305030304" pitchFamily="18" charset="0"/>
            </a:endParaRP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4" y="3505200"/>
            <a:ext cx="8556625" cy="3235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15719056"/>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Presentation Layer</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762000"/>
            <a:ext cx="9144000" cy="6096000"/>
          </a:xfrm>
        </p:spPr>
        <p:txBody>
          <a:bodyPr>
            <a:normAutofit/>
          </a:bodyPr>
          <a:lstStyle/>
          <a:p>
            <a:pPr marL="457200" indent="-457200" algn="l">
              <a:buFont typeface="Arial" panose="020B0604020202020204" pitchFamily="34" charset="0"/>
              <a:buChar char="•"/>
            </a:pPr>
            <a:r>
              <a:rPr lang="en-US" sz="2400" dirty="0" smtClean="0">
                <a:solidFill>
                  <a:srgbClr val="002060"/>
                </a:solidFill>
                <a:latin typeface="Book Antiqua" panose="02040602050305030304" pitchFamily="18" charset="0"/>
              </a:rPr>
              <a:t>Mainly </a:t>
            </a:r>
            <a:r>
              <a:rPr lang="en-US" sz="2400" dirty="0">
                <a:solidFill>
                  <a:srgbClr val="002060"/>
                </a:solidFill>
                <a:latin typeface="Book Antiqua" panose="02040602050305030304" pitchFamily="18" charset="0"/>
              </a:rPr>
              <a:t>concerned with the syntax and semantics of the information exchanged between the two systems.</a:t>
            </a:r>
            <a:endParaRPr lang="en-US" sz="2400" dirty="0" smtClean="0">
              <a:solidFill>
                <a:srgbClr val="002060"/>
              </a:solidFill>
              <a:latin typeface="Book Antiqua" panose="02040602050305030304" pitchFamily="18" charset="0"/>
            </a:endParaRPr>
          </a:p>
          <a:p>
            <a:pPr marL="457200" indent="-457200" algn="l">
              <a:buFont typeface="Arial" panose="020B0604020202020204" pitchFamily="34" charset="0"/>
              <a:buChar char="•"/>
            </a:pPr>
            <a:r>
              <a:rPr lang="en-US" sz="2400" dirty="0" smtClean="0">
                <a:solidFill>
                  <a:srgbClr val="002060"/>
                </a:solidFill>
                <a:latin typeface="Book Antiqua" panose="02040602050305030304" pitchFamily="18" charset="0"/>
              </a:rPr>
              <a:t>It acts as a data translator between network and OS.</a:t>
            </a:r>
          </a:p>
          <a:p>
            <a:pPr marL="457200" indent="-457200" algn="l">
              <a:buFont typeface="Arial" panose="020B0604020202020204" pitchFamily="34" charset="0"/>
              <a:buChar char="•"/>
            </a:pPr>
            <a:r>
              <a:rPr lang="en-US" sz="2400" dirty="0" smtClean="0">
                <a:solidFill>
                  <a:srgbClr val="002060"/>
                </a:solidFill>
                <a:latin typeface="Book Antiqua" panose="02040602050305030304" pitchFamily="18" charset="0"/>
              </a:rPr>
              <a:t>Part </a:t>
            </a:r>
            <a:r>
              <a:rPr lang="en-US" sz="2400" dirty="0">
                <a:solidFill>
                  <a:srgbClr val="002060"/>
                </a:solidFill>
                <a:latin typeface="Book Antiqua" panose="02040602050305030304" pitchFamily="18" charset="0"/>
              </a:rPr>
              <a:t>of the operating system that converts the data from one presentation format to another format</a:t>
            </a:r>
            <a:r>
              <a:rPr lang="en-US" sz="2400" dirty="0" smtClean="0">
                <a:solidFill>
                  <a:srgbClr val="002060"/>
                </a:solidFill>
                <a:latin typeface="Book Antiqua" panose="02040602050305030304" pitchFamily="18" charset="0"/>
              </a:rPr>
              <a:t>.</a:t>
            </a:r>
          </a:p>
          <a:p>
            <a:pPr marL="457200" indent="-457200" algn="l">
              <a:buFont typeface="Arial" panose="020B0604020202020204" pitchFamily="34" charset="0"/>
              <a:buChar char="•"/>
            </a:pPr>
            <a:r>
              <a:rPr lang="en-US" sz="2400" dirty="0" smtClean="0">
                <a:solidFill>
                  <a:srgbClr val="FF0000"/>
                </a:solidFill>
                <a:latin typeface="Book Antiqua" panose="02040602050305030304" pitchFamily="18" charset="0"/>
              </a:rPr>
              <a:t>Functions:</a:t>
            </a:r>
            <a:r>
              <a:rPr lang="en-US" sz="2400" dirty="0" smtClean="0">
                <a:solidFill>
                  <a:srgbClr val="002060"/>
                </a:solidFill>
                <a:latin typeface="Book Antiqua" panose="02040602050305030304" pitchFamily="18" charset="0"/>
              </a:rPr>
              <a:t> </a:t>
            </a:r>
            <a:r>
              <a:rPr lang="en-US" sz="2400" b="1" dirty="0" smtClean="0">
                <a:solidFill>
                  <a:srgbClr val="002060"/>
                </a:solidFill>
                <a:latin typeface="Book Antiqua" panose="02040602050305030304" pitchFamily="18" charset="0"/>
              </a:rPr>
              <a:t>Translation, Encryption and Compression.</a:t>
            </a:r>
          </a:p>
          <a:p>
            <a:pPr marL="457200" indent="-457200" algn="l">
              <a:buFont typeface="Arial" panose="020B0604020202020204" pitchFamily="34" charset="0"/>
              <a:buChar char="•"/>
            </a:pPr>
            <a:endParaRPr lang="en-US" sz="2400" b="1" dirty="0">
              <a:solidFill>
                <a:srgbClr val="002060"/>
              </a:solidFill>
              <a:latin typeface="Book Antiqua" panose="02040602050305030304" pitchFamily="18" charset="0"/>
            </a:endParaRP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706" y="3429000"/>
            <a:ext cx="8418512" cy="3090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38227856"/>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Application Layer</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a:bodyPr>
          <a:lstStyle/>
          <a:p>
            <a:pPr marL="457200" indent="-457200" algn="l">
              <a:buFont typeface="Arial" panose="020B0604020202020204" pitchFamily="34" charset="0"/>
              <a:buChar char="•"/>
            </a:pPr>
            <a:r>
              <a:rPr lang="en-US" sz="2400" dirty="0">
                <a:solidFill>
                  <a:srgbClr val="002060"/>
                </a:solidFill>
                <a:latin typeface="Book Antiqua" panose="02040602050305030304" pitchFamily="18" charset="0"/>
              </a:rPr>
              <a:t>An application layer serves as a window for users and application processes to access network service</a:t>
            </a:r>
            <a:r>
              <a:rPr lang="en-US" sz="2400" dirty="0" smtClean="0">
                <a:solidFill>
                  <a:srgbClr val="002060"/>
                </a:solidFill>
                <a:latin typeface="Book Antiqua" panose="02040602050305030304" pitchFamily="18" charset="0"/>
              </a:rPr>
              <a:t>.</a:t>
            </a:r>
          </a:p>
          <a:p>
            <a:pPr marL="457200" indent="-457200" algn="l">
              <a:buFont typeface="Arial" panose="020B0604020202020204" pitchFamily="34" charset="0"/>
              <a:buChar char="•"/>
            </a:pPr>
            <a:r>
              <a:rPr lang="en-US" sz="2400" dirty="0">
                <a:solidFill>
                  <a:srgbClr val="002060"/>
                </a:solidFill>
                <a:latin typeface="Book Antiqua" panose="02040602050305030304" pitchFamily="18" charset="0"/>
              </a:rPr>
              <a:t>This layer provides the network services to the end-users</a:t>
            </a:r>
            <a:r>
              <a:rPr lang="en-US" sz="2400" dirty="0" smtClean="0">
                <a:solidFill>
                  <a:srgbClr val="002060"/>
                </a:solidFill>
                <a:latin typeface="Book Antiqua" panose="02040602050305030304" pitchFamily="18" charset="0"/>
              </a:rPr>
              <a:t>.</a:t>
            </a:r>
          </a:p>
          <a:p>
            <a:pPr marL="457200" indent="-457200" algn="l">
              <a:buFont typeface="Arial" panose="020B0604020202020204" pitchFamily="34" charset="0"/>
              <a:buChar char="•"/>
            </a:pPr>
            <a:r>
              <a:rPr lang="en-US" sz="2400" dirty="0" smtClean="0">
                <a:solidFill>
                  <a:srgbClr val="FF0000"/>
                </a:solidFill>
                <a:latin typeface="Book Antiqua" panose="02040602050305030304" pitchFamily="18" charset="0"/>
              </a:rPr>
              <a:t>Functions-</a:t>
            </a:r>
          </a:p>
          <a:p>
            <a:pPr marL="914400" lvl="1" indent="-457200" algn="l">
              <a:buFont typeface="Arial" panose="020B0604020202020204" pitchFamily="34" charset="0"/>
              <a:buChar char="•"/>
            </a:pPr>
            <a:r>
              <a:rPr lang="en-US" sz="2000" dirty="0" smtClean="0">
                <a:solidFill>
                  <a:srgbClr val="FF0000"/>
                </a:solidFill>
                <a:latin typeface="Book Antiqua" panose="02040602050305030304" pitchFamily="18" charset="0"/>
              </a:rPr>
              <a:t>File </a:t>
            </a:r>
            <a:r>
              <a:rPr lang="en-US" sz="2000" dirty="0">
                <a:solidFill>
                  <a:srgbClr val="FF0000"/>
                </a:solidFill>
                <a:latin typeface="Book Antiqua" panose="02040602050305030304" pitchFamily="18" charset="0"/>
              </a:rPr>
              <a:t>transfer, access, and management (FTAM</a:t>
            </a:r>
            <a:r>
              <a:rPr lang="en-US" sz="2000" dirty="0" smtClean="0">
                <a:solidFill>
                  <a:srgbClr val="FF0000"/>
                </a:solidFill>
                <a:latin typeface="Book Antiqua" panose="02040602050305030304" pitchFamily="18" charset="0"/>
              </a:rPr>
              <a:t>)</a:t>
            </a:r>
            <a:endParaRPr lang="en-US" sz="2000" dirty="0" smtClean="0">
              <a:solidFill>
                <a:srgbClr val="002060"/>
              </a:solidFill>
              <a:latin typeface="Book Antiqua" panose="02040602050305030304" pitchFamily="18" charset="0"/>
            </a:endParaRPr>
          </a:p>
          <a:p>
            <a:pPr marL="914400" lvl="1" indent="-457200" algn="l">
              <a:buFont typeface="Arial" panose="020B0604020202020204" pitchFamily="34" charset="0"/>
              <a:buChar char="•"/>
            </a:pPr>
            <a:r>
              <a:rPr lang="en-US" sz="2000" dirty="0">
                <a:solidFill>
                  <a:srgbClr val="FF0000"/>
                </a:solidFill>
                <a:latin typeface="Book Antiqua" panose="02040602050305030304" pitchFamily="18" charset="0"/>
              </a:rPr>
              <a:t>Mail </a:t>
            </a:r>
            <a:r>
              <a:rPr lang="en-US" sz="2000" dirty="0" smtClean="0">
                <a:solidFill>
                  <a:srgbClr val="FF0000"/>
                </a:solidFill>
                <a:latin typeface="Book Antiqua" panose="02040602050305030304" pitchFamily="18" charset="0"/>
              </a:rPr>
              <a:t>services</a:t>
            </a:r>
            <a:endParaRPr lang="en-US" sz="2000" dirty="0">
              <a:solidFill>
                <a:srgbClr val="002060"/>
              </a:solidFill>
              <a:latin typeface="Book Antiqua" panose="02040602050305030304" pitchFamily="18" charset="0"/>
            </a:endParaRP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442" y="3124200"/>
            <a:ext cx="8455025"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01882980"/>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64782" cy="699655"/>
          </a:xfr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b="1" dirty="0" smtClean="0">
                <a:latin typeface="Book Antiqua" panose="02040602050305030304" pitchFamily="18" charset="0"/>
              </a:rPr>
              <a:t>Summary of Layers</a:t>
            </a:r>
            <a:endParaRPr lang="en-US" sz="3600" b="1" dirty="0">
              <a:latin typeface="Book Antiqua" panose="02040602050305030304" pitchFamily="18" charset="0"/>
            </a:endParaRPr>
          </a:p>
        </p:txBody>
      </p:sp>
      <p:sp>
        <p:nvSpPr>
          <p:cNvPr id="3" name="Subtitle 2"/>
          <p:cNvSpPr>
            <a:spLocks noGrp="1"/>
          </p:cNvSpPr>
          <p:nvPr>
            <p:ph type="subTitle" idx="1"/>
          </p:nvPr>
        </p:nvSpPr>
        <p:spPr>
          <a:xfrm>
            <a:off x="0" y="685800"/>
            <a:ext cx="9144000" cy="6172200"/>
          </a:xfrm>
        </p:spPr>
        <p:txBody>
          <a:bodyPr>
            <a:normAutofit/>
          </a:bodyPr>
          <a:lstStyle/>
          <a:p>
            <a:pPr marL="457200" indent="-457200" algn="l">
              <a:buFont typeface="Arial" panose="020B0604020202020204" pitchFamily="34" charset="0"/>
              <a:buChar char="•"/>
            </a:pPr>
            <a:endParaRPr lang="en-US" sz="2800" dirty="0" smtClean="0">
              <a:solidFill>
                <a:srgbClr val="002060"/>
              </a:solidFill>
              <a:latin typeface="Book Antiqua" panose="02040602050305030304" pitchFamily="18" charset="0"/>
            </a:endParaRPr>
          </a:p>
          <a:p>
            <a:pPr marL="457200" indent="-457200" algn="l">
              <a:buFont typeface="Arial" panose="020B0604020202020204" pitchFamily="34" charset="0"/>
              <a:buChar char="•"/>
            </a:pPr>
            <a:endParaRPr lang="en-US" sz="2800" dirty="0">
              <a:solidFill>
                <a:srgbClr val="002060"/>
              </a:solidFill>
              <a:latin typeface="Book Antiqua" panose="02040602050305030304" pitchFamily="18" charset="0"/>
            </a:endParaRP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50" y="990600"/>
            <a:ext cx="8913835" cy="556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64519904"/>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Lack of OSI Model’s Success</a:t>
            </a:r>
            <a:endParaRPr lang="en-US" dirty="0"/>
          </a:p>
        </p:txBody>
      </p:sp>
      <p:sp>
        <p:nvSpPr>
          <p:cNvPr id="3" name="Content Placeholder 2"/>
          <p:cNvSpPr>
            <a:spLocks noGrp="1"/>
          </p:cNvSpPr>
          <p:nvPr>
            <p:ph idx="1"/>
          </p:nvPr>
        </p:nvSpPr>
        <p:spPr>
          <a:xfrm>
            <a:off x="457200" y="1219200"/>
            <a:ext cx="8229600" cy="4906963"/>
          </a:xfrm>
        </p:spPr>
        <p:txBody>
          <a:bodyPr>
            <a:normAutofit fontScale="92500" lnSpcReduction="20000"/>
          </a:bodyPr>
          <a:lstStyle/>
          <a:p>
            <a:pPr algn="just"/>
            <a:r>
              <a:rPr lang="en-US" dirty="0" smtClean="0"/>
              <a:t>OSI model was completed when TCP/IP was fully in place and </a:t>
            </a:r>
            <a:r>
              <a:rPr lang="en-US" b="1" dirty="0" smtClean="0"/>
              <a:t>a lot of time and money </a:t>
            </a:r>
            <a:r>
              <a:rPr lang="en-US" dirty="0" smtClean="0"/>
              <a:t>had been spent on the suite, changing it would cost a lot.</a:t>
            </a:r>
          </a:p>
          <a:p>
            <a:pPr algn="just"/>
            <a:r>
              <a:rPr lang="en-US" dirty="0" smtClean="0"/>
              <a:t>Some layers in OSI model were never fully defined for example, although the service provided by the presentation and session layers were listed in the document, </a:t>
            </a:r>
            <a:r>
              <a:rPr lang="en-US" b="1" dirty="0" smtClean="0"/>
              <a:t>actual protocols for these two layers were not fully defined</a:t>
            </a:r>
            <a:r>
              <a:rPr lang="en-US" dirty="0" smtClean="0"/>
              <a:t>.</a:t>
            </a:r>
          </a:p>
          <a:p>
            <a:pPr algn="just"/>
            <a:r>
              <a:rPr lang="en-US" dirty="0" smtClean="0"/>
              <a:t>When OSI was implemented by an organization in a different application, it </a:t>
            </a:r>
            <a:r>
              <a:rPr lang="en-US" b="1" dirty="0" smtClean="0"/>
              <a:t>did not show a high enough level of performance </a:t>
            </a:r>
            <a:r>
              <a:rPr lang="en-US" dirty="0" smtClean="0"/>
              <a:t>to switch from TCP/IP protocol suite to OSI model.</a:t>
            </a: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1955</TotalTime>
  <Words>6659</Words>
  <Application>Microsoft Office PowerPoint</Application>
  <PresentationFormat>On-screen Show (4:3)</PresentationFormat>
  <Paragraphs>490</Paragraphs>
  <Slides>107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107</vt:i4>
      </vt:variant>
    </vt:vector>
  </HeadingPairs>
  <TitlesOfParts>
    <vt:vector size="113" baseType="lpstr">
      <vt:lpstr>Arial</vt:lpstr>
      <vt:lpstr>Book Antiqua</vt:lpstr>
      <vt:lpstr>Calibri</vt:lpstr>
      <vt:lpstr>Times</vt:lpstr>
      <vt:lpstr>Times New Roman</vt:lpstr>
      <vt:lpstr>Office Theme</vt:lpstr>
      <vt:lpstr>Data Communication</vt:lpstr>
      <vt:lpstr>Syllabus Introduction</vt:lpstr>
      <vt:lpstr>Syllabus Introduction</vt:lpstr>
      <vt:lpstr>Course Outcomes</vt:lpstr>
      <vt:lpstr>Text books</vt:lpstr>
      <vt:lpstr>Data Communication-Introduction</vt:lpstr>
      <vt:lpstr>Data Communication</vt:lpstr>
      <vt:lpstr>Fundamental Characteristic of DC </vt:lpstr>
      <vt:lpstr>Fundamental Characteristic of DC </vt:lpstr>
      <vt:lpstr>Components</vt:lpstr>
      <vt:lpstr>PowerPoint Presentation</vt:lpstr>
      <vt:lpstr>Data Representation</vt:lpstr>
      <vt:lpstr>Data Representation</vt:lpstr>
      <vt:lpstr>Data Flow</vt:lpstr>
      <vt:lpstr>Simplex</vt:lpstr>
      <vt:lpstr>Half-Duplex</vt:lpstr>
      <vt:lpstr>Full-Duplex</vt:lpstr>
      <vt:lpstr>Networks</vt:lpstr>
      <vt:lpstr>Network Criteria</vt:lpstr>
      <vt:lpstr>Performance </vt:lpstr>
      <vt:lpstr>Network criteria- Reliability and security</vt:lpstr>
      <vt:lpstr>Physical Structure</vt:lpstr>
      <vt:lpstr>Point to point Connection</vt:lpstr>
      <vt:lpstr>Multipoint Connection</vt:lpstr>
      <vt:lpstr>Physical Topology</vt:lpstr>
      <vt:lpstr>Mesh Topology</vt:lpstr>
      <vt:lpstr>Mesh Topology</vt:lpstr>
      <vt:lpstr>Advantages of Mesh Networks</vt:lpstr>
      <vt:lpstr>Disadvantages of Mesh Topology</vt:lpstr>
      <vt:lpstr>Star Topology</vt:lpstr>
      <vt:lpstr>Advantages: Star topology</vt:lpstr>
      <vt:lpstr>Disadvantage- Star Topology</vt:lpstr>
      <vt:lpstr>Bus Topology</vt:lpstr>
      <vt:lpstr>Bus Topology</vt:lpstr>
      <vt:lpstr>Bus Topology-Advantages</vt:lpstr>
      <vt:lpstr>Bus Topology- Disadvantages</vt:lpstr>
      <vt:lpstr>Ring Topology </vt:lpstr>
      <vt:lpstr>Advantages- Disadvantages</vt:lpstr>
      <vt:lpstr>Hybrid Topology</vt:lpstr>
      <vt:lpstr>Categories of Network</vt:lpstr>
      <vt:lpstr>Local Area Network : LAN</vt:lpstr>
      <vt:lpstr>Local Area Network-LAN</vt:lpstr>
      <vt:lpstr>Local Area Network-LAN</vt:lpstr>
      <vt:lpstr>Wide Area Network-WAN</vt:lpstr>
      <vt:lpstr>Switched WAN and P2P WAN</vt:lpstr>
      <vt:lpstr>Metropolitan Area Networks</vt:lpstr>
      <vt:lpstr>Switched Networks</vt:lpstr>
      <vt:lpstr>Circuit Switching Network</vt:lpstr>
      <vt:lpstr>Packet Switched network</vt:lpstr>
      <vt:lpstr>Packet Switching</vt:lpstr>
      <vt:lpstr>Differences</vt:lpstr>
      <vt:lpstr>Protocols and Standards</vt:lpstr>
      <vt:lpstr>PowerPoint Presentation</vt:lpstr>
      <vt:lpstr>PowerPoint Presentation</vt:lpstr>
      <vt:lpstr>Standards</vt:lpstr>
      <vt:lpstr>PowerPoint Presentation</vt:lpstr>
      <vt:lpstr>Standards Organization</vt:lpstr>
      <vt:lpstr>PowerPoint Presentation</vt:lpstr>
      <vt:lpstr>PowerPoint Presentation</vt:lpstr>
      <vt:lpstr>PowerPoint Presentation</vt:lpstr>
      <vt:lpstr>PowerPoint Presentation</vt:lpstr>
      <vt:lpstr>PowerPoint Presentation</vt:lpstr>
      <vt:lpstr>PowerPoint Presentation</vt:lpstr>
      <vt:lpstr>Networks Model</vt:lpstr>
      <vt:lpstr>LAYERED TASKS</vt:lpstr>
      <vt:lpstr>Sender Side</vt:lpstr>
      <vt:lpstr>Receiver Side</vt:lpstr>
      <vt:lpstr>PowerPoint Presentation</vt:lpstr>
      <vt:lpstr>PowerPoint Presentation</vt:lpstr>
      <vt:lpstr>PowerPoint Presentation</vt:lpstr>
      <vt:lpstr>PowerPoint Presentation</vt:lpstr>
      <vt:lpstr>PowerPoint Presentation</vt:lpstr>
      <vt:lpstr>Description of Each Layer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Addressing</vt:lpstr>
      <vt:lpstr>Multiplexing and Demultiplexing</vt:lpstr>
      <vt:lpstr>THE OSI MODEL</vt:lpstr>
      <vt:lpstr>OSI Layer</vt:lpstr>
      <vt:lpstr>Layers of OSI model</vt:lpstr>
      <vt:lpstr>Organization of the layers</vt:lpstr>
      <vt:lpstr>Functions of each layer-In Brief</vt:lpstr>
      <vt:lpstr>Layers in the OSI model(Specific)</vt:lpstr>
      <vt:lpstr>Data Link Layer</vt:lpstr>
      <vt:lpstr>Hop-to-Hop Delivery</vt:lpstr>
      <vt:lpstr>Network Layer</vt:lpstr>
      <vt:lpstr>Network Layer- Source to destination delivery</vt:lpstr>
      <vt:lpstr>Functions of Network layer</vt:lpstr>
      <vt:lpstr>Transport Layer</vt:lpstr>
      <vt:lpstr>Functions of transport layer</vt:lpstr>
      <vt:lpstr>Session Layer</vt:lpstr>
      <vt:lpstr>Presentation Layer</vt:lpstr>
      <vt:lpstr>Application Layer</vt:lpstr>
      <vt:lpstr>Summary of Layers</vt:lpstr>
      <vt:lpstr>Lack of OSI Model’s Success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dc:title>
  <dc:creator>Prajna</dc:creator>
  <cp:lastModifiedBy>user</cp:lastModifiedBy>
  <cp:revision>150</cp:revision>
  <dcterms:created xsi:type="dcterms:W3CDTF">2006-08-16T00:00:00Z</dcterms:created>
  <dcterms:modified xsi:type="dcterms:W3CDTF">2026-03-12T09:14:09Z</dcterms:modified>
</cp:coreProperties>
</file>