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9" r:id="rId34"/>
    <p:sldId id="290" r:id="rId35"/>
    <p:sldId id="288"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8" r:id="rId53"/>
    <p:sldId id="307"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54" r:id="rId93"/>
    <p:sldId id="355" r:id="rId94"/>
    <p:sldId id="356" r:id="rId95"/>
    <p:sldId id="357" r:id="rId96"/>
    <p:sldId id="351" r:id="rId97"/>
    <p:sldId id="352" r:id="rId98"/>
    <p:sldId id="353" r:id="rId99"/>
    <p:sldId id="358" r:id="rId100"/>
    <p:sldId id="359" r:id="rId101"/>
    <p:sldId id="360" r:id="rId102"/>
    <p:sldId id="361" r:id="rId103"/>
    <p:sldId id="363" r:id="rId104"/>
    <p:sldId id="364" r:id="rId10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705" autoAdjust="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viewProps" Target="viewProp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5/15/2021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17.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 Id="rId4" Type="http://schemas.openxmlformats.org/officeDocument/2006/relationships/image" Target="../media/image33.wmf"/></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png"/><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53.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png"/><Relationship Id="rId1" Type="http://schemas.openxmlformats.org/officeDocument/2006/relationships/slideLayout" Target="../slideLayouts/slideLayout1.xml"/><Relationship Id="rId5" Type="http://schemas.openxmlformats.org/officeDocument/2006/relationships/image" Target="../media/image52.wmf"/><Relationship Id="rId4" Type="http://schemas.openxmlformats.org/officeDocument/2006/relationships/image" Target="../media/image51.png"/></Relationships>
</file>

<file path=ppt/slides/_rels/slide57.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png"/><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60.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png"/><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61.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png"/><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xml"/><Relationship Id="rId4" Type="http://schemas.openxmlformats.org/officeDocument/2006/relationships/image" Target="../media/image72.png"/></Relationships>
</file>

<file path=ppt/slides/_rels/slide70.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png"/><Relationship Id="rId1" Type="http://schemas.openxmlformats.org/officeDocument/2006/relationships/slideLayout" Target="../slideLayouts/slideLayout1.xml"/><Relationship Id="rId4" Type="http://schemas.openxmlformats.org/officeDocument/2006/relationships/image" Target="../media/image7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xml"/><Relationship Id="rId4" Type="http://schemas.openxmlformats.org/officeDocument/2006/relationships/image" Target="../media/image82.png"/></Relationships>
</file>

<file path=ppt/slides/_rels/slide8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Unit-02: Physical Layer</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b="1" dirty="0">
                <a:solidFill>
                  <a:schemeClr val="tx1"/>
                </a:solidFill>
                <a:latin typeface="Book Antiqua" panose="02040602050305030304" pitchFamily="18" charset="0"/>
              </a:rPr>
              <a:t>Introduction to Physical Layer-1</a:t>
            </a:r>
            <a:r>
              <a:rPr lang="en-US" sz="2800" dirty="0">
                <a:solidFill>
                  <a:schemeClr val="tx1"/>
                </a:solidFill>
                <a:latin typeface="Book Antiqua" panose="02040602050305030304" pitchFamily="18" charset="0"/>
              </a:rPr>
              <a:t>: Data and Signals, Digital Signals, Transmission Impairment, Data Rate Limits, Performance. </a:t>
            </a:r>
          </a:p>
          <a:p>
            <a:pPr marL="457200" indent="-457200" algn="l">
              <a:buFont typeface="Arial" panose="020B0604020202020204" pitchFamily="34" charset="0"/>
              <a:buChar char="•"/>
            </a:pPr>
            <a:r>
              <a:rPr lang="en-US" sz="2800" b="1" dirty="0">
                <a:solidFill>
                  <a:schemeClr val="tx1"/>
                </a:solidFill>
                <a:latin typeface="Book Antiqua" panose="02040602050305030304" pitchFamily="18" charset="0"/>
              </a:rPr>
              <a:t>Digital Transmission: </a:t>
            </a:r>
            <a:r>
              <a:rPr lang="en-US" sz="2800" dirty="0">
                <a:solidFill>
                  <a:schemeClr val="tx1"/>
                </a:solidFill>
                <a:latin typeface="Book Antiqua" panose="02040602050305030304" pitchFamily="18" charset="0"/>
              </a:rPr>
              <a:t>Digital to Digital Conversion (Only Line coding: Polar, Bipolar and Manchester coding), Analog to Digital conversion (only PCM), Transmission Modes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b="1" dirty="0" smtClean="0">
                <a:solidFill>
                  <a:srgbClr val="0070C0"/>
                </a:solidFill>
                <a:latin typeface="Book Antiqua" panose="02040602050305030304" pitchFamily="18" charset="0"/>
              </a:rPr>
              <a:t>08 hours of duration</a:t>
            </a:r>
            <a:endParaRPr lang="en-US" sz="2800" b="1" dirty="0">
              <a:solidFill>
                <a:srgbClr val="0070C0"/>
              </a:solidFill>
              <a:latin typeface="Book Antiqua" panose="02040602050305030304" pitchFamily="18" charset="0"/>
            </a:endParaRPr>
          </a:p>
        </p:txBody>
      </p:sp>
    </p:spTree>
    <p:extLst>
      <p:ext uri="{BB962C8B-B14F-4D97-AF65-F5344CB8AC3E}">
        <p14:creationId xmlns:p14="http://schemas.microsoft.com/office/powerpoint/2010/main" val="15901775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Physical Layer</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The physical layer </a:t>
            </a:r>
            <a:r>
              <a:rPr lang="en-US" sz="2800" dirty="0">
                <a:solidFill>
                  <a:schemeClr val="tx1"/>
                </a:solidFill>
                <a:latin typeface="Book Antiqua" panose="02040602050305030304" pitchFamily="18" charset="0"/>
              </a:rPr>
              <a:t>actually interacts with the transmission </a:t>
            </a:r>
            <a:r>
              <a:rPr lang="en-US" sz="2800" dirty="0" smtClean="0">
                <a:solidFill>
                  <a:schemeClr val="tx1"/>
                </a:solidFill>
                <a:latin typeface="Book Antiqua" panose="02040602050305030304" pitchFamily="18" charset="0"/>
              </a:rPr>
              <a:t>media.</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The </a:t>
            </a:r>
            <a:r>
              <a:rPr lang="en-US" sz="2800" dirty="0">
                <a:solidFill>
                  <a:schemeClr val="tx1"/>
                </a:solidFill>
                <a:latin typeface="Book Antiqua" panose="02040602050305030304" pitchFamily="18" charset="0"/>
              </a:rPr>
              <a:t>layer is involved </a:t>
            </a:r>
            <a:r>
              <a:rPr lang="en-US" sz="2800" dirty="0" smtClean="0">
                <a:solidFill>
                  <a:schemeClr val="tx1"/>
                </a:solidFill>
                <a:latin typeface="Book Antiqua" panose="02040602050305030304" pitchFamily="18" charset="0"/>
              </a:rPr>
              <a:t>in physically </a:t>
            </a:r>
            <a:r>
              <a:rPr lang="en-US" sz="2800" dirty="0">
                <a:solidFill>
                  <a:schemeClr val="tx1"/>
                </a:solidFill>
                <a:latin typeface="Book Antiqua" panose="02040602050305030304" pitchFamily="18" charset="0"/>
              </a:rPr>
              <a:t>carrying information from one node in the network to the next</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One major task is to </a:t>
            </a:r>
            <a:r>
              <a:rPr lang="en-US" sz="2800" dirty="0" smtClean="0">
                <a:solidFill>
                  <a:schemeClr val="tx1"/>
                </a:solidFill>
                <a:latin typeface="Book Antiqua" panose="02040602050305030304" pitchFamily="18" charset="0"/>
              </a:rPr>
              <a:t>provide services </a:t>
            </a:r>
            <a:r>
              <a:rPr lang="en-US" sz="2800" dirty="0">
                <a:solidFill>
                  <a:schemeClr val="tx1"/>
                </a:solidFill>
                <a:latin typeface="Book Antiqua" panose="02040602050305030304" pitchFamily="18" charset="0"/>
              </a:rPr>
              <a:t>for the data link layer</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data in the data link layer consists of </a:t>
            </a:r>
            <a:r>
              <a:rPr lang="en-US" sz="2800" dirty="0" err="1">
                <a:solidFill>
                  <a:schemeClr val="tx1"/>
                </a:solidFill>
                <a:latin typeface="Book Antiqua" panose="02040602050305030304" pitchFamily="18" charset="0"/>
              </a:rPr>
              <a:t>Os</a:t>
            </a:r>
            <a:r>
              <a:rPr lang="en-US" sz="2800" dirty="0">
                <a:solidFill>
                  <a:schemeClr val="tx1"/>
                </a:solidFill>
                <a:latin typeface="Book Antiqua" panose="02040602050305030304" pitchFamily="18" charset="0"/>
              </a:rPr>
              <a:t> and I s </a:t>
            </a:r>
            <a:r>
              <a:rPr lang="en-US" sz="2800" dirty="0" smtClean="0">
                <a:solidFill>
                  <a:schemeClr val="tx1"/>
                </a:solidFill>
                <a:latin typeface="Book Antiqua" panose="02040602050305030304" pitchFamily="18" charset="0"/>
              </a:rPr>
              <a:t>organized into </a:t>
            </a:r>
            <a:r>
              <a:rPr lang="en-US" sz="2800" dirty="0">
                <a:solidFill>
                  <a:schemeClr val="tx1"/>
                </a:solidFill>
                <a:latin typeface="Book Antiqua" panose="02040602050305030304" pitchFamily="18" charset="0"/>
              </a:rPr>
              <a:t>frames that are ready to be sent across the transmission medium</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This </a:t>
            </a:r>
            <a:r>
              <a:rPr lang="en-US" sz="2800" dirty="0" smtClean="0">
                <a:solidFill>
                  <a:schemeClr val="tx1"/>
                </a:solidFill>
                <a:latin typeface="Book Antiqua" panose="02040602050305030304" pitchFamily="18" charset="0"/>
              </a:rPr>
              <a:t>stream of </a:t>
            </a:r>
            <a:r>
              <a:rPr lang="en-US" sz="2800" dirty="0" err="1">
                <a:solidFill>
                  <a:schemeClr val="tx1"/>
                </a:solidFill>
                <a:latin typeface="Book Antiqua" panose="02040602050305030304" pitchFamily="18" charset="0"/>
              </a:rPr>
              <a:t>Os</a:t>
            </a:r>
            <a:r>
              <a:rPr lang="en-US" sz="2800" dirty="0">
                <a:solidFill>
                  <a:schemeClr val="tx1"/>
                </a:solidFill>
                <a:latin typeface="Book Antiqua" panose="02040602050305030304" pitchFamily="18" charset="0"/>
              </a:rPr>
              <a:t> and I s must first be converted into another entity: signals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One of the services </a:t>
            </a:r>
            <a:r>
              <a:rPr lang="en-US" sz="2800" dirty="0" smtClean="0">
                <a:solidFill>
                  <a:schemeClr val="tx1"/>
                </a:solidFill>
                <a:latin typeface="Book Antiqua" panose="02040602050305030304" pitchFamily="18" charset="0"/>
              </a:rPr>
              <a:t>provided by </a:t>
            </a:r>
            <a:r>
              <a:rPr lang="en-US" sz="2800" dirty="0">
                <a:solidFill>
                  <a:schemeClr val="tx1"/>
                </a:solidFill>
                <a:latin typeface="Book Antiqua" panose="02040602050305030304" pitchFamily="18" charset="0"/>
              </a:rPr>
              <a:t>the physical layer is to create a signal that represents this stream of bits.</a:t>
            </a:r>
          </a:p>
        </p:txBody>
      </p:sp>
    </p:spTree>
    <p:extLst>
      <p:ext uri="{BB962C8B-B14F-4D97-AF65-F5344CB8AC3E}">
        <p14:creationId xmlns:p14="http://schemas.microsoft.com/office/powerpoint/2010/main" val="18246312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Data and Signals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Function: Move </a:t>
            </a:r>
            <a:r>
              <a:rPr lang="en-US" sz="2800" dirty="0">
                <a:solidFill>
                  <a:schemeClr val="tx1"/>
                </a:solidFill>
                <a:latin typeface="Book Antiqua" panose="02040602050305030304" pitchFamily="18" charset="0"/>
              </a:rPr>
              <a:t>data in the form of </a:t>
            </a:r>
            <a:r>
              <a:rPr lang="en-US" sz="2800" dirty="0" smtClean="0">
                <a:solidFill>
                  <a:schemeClr val="tx1"/>
                </a:solidFill>
                <a:latin typeface="Book Antiqua" panose="02040602050305030304" pitchFamily="18" charset="0"/>
              </a:rPr>
              <a:t>electromagnetic signals </a:t>
            </a:r>
            <a:r>
              <a:rPr lang="en-US" sz="2800" dirty="0">
                <a:solidFill>
                  <a:schemeClr val="tx1"/>
                </a:solidFill>
                <a:latin typeface="Book Antiqua" panose="02040602050305030304" pitchFamily="18" charset="0"/>
              </a:rPr>
              <a:t>across a transmission medium</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Data can be in any form, you are working with the </a:t>
            </a:r>
            <a:r>
              <a:rPr lang="en-US" sz="2800" dirty="0" smtClean="0">
                <a:solidFill>
                  <a:schemeClr val="tx1"/>
                </a:solidFill>
                <a:latin typeface="Book Antiqua" panose="02040602050305030304" pitchFamily="18" charset="0"/>
              </a:rPr>
              <a:t>transmission of </a:t>
            </a:r>
            <a:r>
              <a:rPr lang="en-US" sz="2800" dirty="0">
                <a:solidFill>
                  <a:schemeClr val="tx1"/>
                </a:solidFill>
                <a:latin typeface="Book Antiqua" panose="02040602050305030304" pitchFamily="18" charset="0"/>
              </a:rPr>
              <a:t>data across network connections</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Data </a:t>
            </a:r>
            <a:r>
              <a:rPr lang="en-US" sz="2800" dirty="0">
                <a:solidFill>
                  <a:schemeClr val="tx1"/>
                </a:solidFill>
                <a:latin typeface="Book Antiqua" panose="02040602050305030304" pitchFamily="18" charset="0"/>
              </a:rPr>
              <a:t>usable to a person or application are not in a form that can </a:t>
            </a:r>
            <a:r>
              <a:rPr lang="en-US" sz="2800" dirty="0" smtClean="0">
                <a:solidFill>
                  <a:schemeClr val="tx1"/>
                </a:solidFill>
                <a:latin typeface="Book Antiqua" panose="02040602050305030304" pitchFamily="18" charset="0"/>
              </a:rPr>
              <a:t>be transmitted </a:t>
            </a:r>
            <a:r>
              <a:rPr lang="en-US" sz="2800" dirty="0">
                <a:solidFill>
                  <a:schemeClr val="tx1"/>
                </a:solidFill>
                <a:latin typeface="Book Antiqua" panose="02040602050305030304" pitchFamily="18" charset="0"/>
              </a:rPr>
              <a:t>over a network</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For example, a photograph must first be changed to a </a:t>
            </a:r>
            <a:r>
              <a:rPr lang="en-US" sz="2800" dirty="0" smtClean="0">
                <a:solidFill>
                  <a:schemeClr val="tx1"/>
                </a:solidFill>
                <a:latin typeface="Book Antiqua" panose="02040602050305030304" pitchFamily="18" charset="0"/>
              </a:rPr>
              <a:t>form that </a:t>
            </a:r>
            <a:r>
              <a:rPr lang="en-US" sz="2800" dirty="0">
                <a:solidFill>
                  <a:schemeClr val="tx1"/>
                </a:solidFill>
                <a:latin typeface="Book Antiqua" panose="02040602050305030304" pitchFamily="18" charset="0"/>
              </a:rPr>
              <a:t>transmission media can accept</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To be transmitted, data must be transformed to electromagnetic signals.</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Both data and the signals that represent them can be either analog or digital in form</a:t>
            </a: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p:txBody>
      </p:sp>
    </p:spTree>
    <p:extLst>
      <p:ext uri="{BB962C8B-B14F-4D97-AF65-F5344CB8AC3E}">
        <p14:creationId xmlns:p14="http://schemas.microsoft.com/office/powerpoint/2010/main" val="23993285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Analog and digital data</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Data can be analog or </a:t>
            </a:r>
            <a:r>
              <a:rPr lang="en-US" sz="2800" dirty="0" smtClean="0">
                <a:solidFill>
                  <a:schemeClr val="tx1"/>
                </a:solidFill>
                <a:latin typeface="Book Antiqua" panose="02040602050305030304" pitchFamily="18" charset="0"/>
              </a:rPr>
              <a:t>digital.</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term analog data refers to information that is </a:t>
            </a:r>
            <a:r>
              <a:rPr lang="en-US" sz="2800" dirty="0" smtClean="0">
                <a:solidFill>
                  <a:schemeClr val="tx1"/>
                </a:solidFill>
                <a:latin typeface="Book Antiqua" panose="02040602050305030304" pitchFamily="18" charset="0"/>
              </a:rPr>
              <a:t>continuous.</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digital data refers to information that has discrete states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For example, an </a:t>
            </a:r>
            <a:r>
              <a:rPr lang="en-US" sz="2800" dirty="0" smtClean="0">
                <a:solidFill>
                  <a:schemeClr val="tx1"/>
                </a:solidFill>
                <a:latin typeface="Book Antiqua" panose="02040602050305030304" pitchFamily="18" charset="0"/>
              </a:rPr>
              <a:t>analog clock </a:t>
            </a:r>
            <a:r>
              <a:rPr lang="en-US" sz="2800" dirty="0">
                <a:solidFill>
                  <a:schemeClr val="tx1"/>
                </a:solidFill>
                <a:latin typeface="Book Antiqua" panose="02040602050305030304" pitchFamily="18" charset="0"/>
              </a:rPr>
              <a:t>that has hour, minute, and second hands gives information in a continuous </a:t>
            </a:r>
            <a:r>
              <a:rPr lang="en-US" sz="2800" dirty="0" smtClean="0">
                <a:solidFill>
                  <a:schemeClr val="tx1"/>
                </a:solidFill>
                <a:latin typeface="Book Antiqua" panose="02040602050305030304" pitchFamily="18" charset="0"/>
              </a:rPr>
              <a:t>form.</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Here the </a:t>
            </a:r>
            <a:r>
              <a:rPr lang="en-US" sz="2800" dirty="0">
                <a:solidFill>
                  <a:schemeClr val="tx1"/>
                </a:solidFill>
                <a:latin typeface="Book Antiqua" panose="02040602050305030304" pitchFamily="18" charset="0"/>
              </a:rPr>
              <a:t>movements of the hands are continuous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A </a:t>
            </a:r>
            <a:r>
              <a:rPr lang="en-US" sz="2800" dirty="0">
                <a:solidFill>
                  <a:schemeClr val="tx1"/>
                </a:solidFill>
                <a:latin typeface="Book Antiqua" panose="02040602050305030304" pitchFamily="18" charset="0"/>
              </a:rPr>
              <a:t>digital clock </a:t>
            </a:r>
            <a:r>
              <a:rPr lang="en-US" sz="2800" dirty="0" smtClean="0">
                <a:solidFill>
                  <a:schemeClr val="tx1"/>
                </a:solidFill>
                <a:latin typeface="Book Antiqua" panose="02040602050305030304" pitchFamily="18" charset="0"/>
              </a:rPr>
              <a:t>that reports </a:t>
            </a:r>
            <a:r>
              <a:rPr lang="en-US" sz="2800" dirty="0">
                <a:solidFill>
                  <a:schemeClr val="tx1"/>
                </a:solidFill>
                <a:latin typeface="Book Antiqua" panose="02040602050305030304" pitchFamily="18" charset="0"/>
              </a:rPr>
              <a:t>the hours and the minutes will change suddenly from 8:05 to 8:06</a:t>
            </a:r>
          </a:p>
        </p:txBody>
      </p:sp>
    </p:spTree>
    <p:extLst>
      <p:ext uri="{BB962C8B-B14F-4D97-AF65-F5344CB8AC3E}">
        <p14:creationId xmlns:p14="http://schemas.microsoft.com/office/powerpoint/2010/main" val="19230301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Cont..</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Analog data, such as the sounds made by a human voice, take on continuous values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someone speaks, an analog wave is created and captured by a microphone and converted to an analog </a:t>
            </a:r>
            <a:r>
              <a:rPr lang="en-US" sz="2800" dirty="0" smtClean="0">
                <a:solidFill>
                  <a:schemeClr val="tx1"/>
                </a:solidFill>
                <a:latin typeface="Book Antiqua" panose="02040602050305030304" pitchFamily="18" charset="0"/>
              </a:rPr>
              <a:t>signal.</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Digital data take on discrete values. For example, data are stored in </a:t>
            </a:r>
            <a:r>
              <a:rPr lang="en-US" sz="2800" dirty="0" smtClean="0">
                <a:solidFill>
                  <a:schemeClr val="tx1"/>
                </a:solidFill>
                <a:latin typeface="Book Antiqua" panose="02040602050305030304" pitchFamily="18" charset="0"/>
              </a:rPr>
              <a:t>computer memory </a:t>
            </a:r>
            <a:r>
              <a:rPr lang="en-US" sz="2800" dirty="0">
                <a:solidFill>
                  <a:schemeClr val="tx1"/>
                </a:solidFill>
                <a:latin typeface="Book Antiqua" panose="02040602050305030304" pitchFamily="18" charset="0"/>
              </a:rPr>
              <a:t>in the form of </a:t>
            </a:r>
            <a:r>
              <a:rPr lang="en-US" sz="2800" dirty="0" err="1">
                <a:solidFill>
                  <a:schemeClr val="tx1"/>
                </a:solidFill>
                <a:latin typeface="Book Antiqua" panose="02040602050305030304" pitchFamily="18" charset="0"/>
              </a:rPr>
              <a:t>Os</a:t>
            </a:r>
            <a:r>
              <a:rPr lang="en-US" sz="2800" dirty="0">
                <a:solidFill>
                  <a:schemeClr val="tx1"/>
                </a:solidFill>
                <a:latin typeface="Book Antiqua" panose="02040602050305030304" pitchFamily="18" charset="0"/>
              </a:rPr>
              <a:t> and 1s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They can be converted to a digital </a:t>
            </a:r>
            <a:r>
              <a:rPr lang="en-US" sz="2800" dirty="0" smtClean="0">
                <a:solidFill>
                  <a:schemeClr val="tx1"/>
                </a:solidFill>
                <a:latin typeface="Book Antiqua" panose="02040602050305030304" pitchFamily="18" charset="0"/>
              </a:rPr>
              <a:t>signal.</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Analog data are continuous and take continuous values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Digital data have discrete states and take discrete values.</a:t>
            </a:r>
          </a:p>
        </p:txBody>
      </p:sp>
    </p:spTree>
    <p:extLst>
      <p:ext uri="{BB962C8B-B14F-4D97-AF65-F5344CB8AC3E}">
        <p14:creationId xmlns:p14="http://schemas.microsoft.com/office/powerpoint/2010/main" val="30105274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Analog and digital signals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Like the data they represent, signals can be either analog or digital</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An analog </a:t>
            </a:r>
            <a:r>
              <a:rPr lang="en-US" sz="2800" dirty="0" smtClean="0">
                <a:solidFill>
                  <a:schemeClr val="tx1"/>
                </a:solidFill>
                <a:latin typeface="Book Antiqua" panose="02040602050305030304" pitchFamily="18" charset="0"/>
              </a:rPr>
              <a:t>signal has </a:t>
            </a:r>
            <a:r>
              <a:rPr lang="en-US" sz="2800" dirty="0">
                <a:solidFill>
                  <a:schemeClr val="tx1"/>
                </a:solidFill>
                <a:latin typeface="Book Antiqua" panose="02040602050305030304" pitchFamily="18" charset="0"/>
              </a:rPr>
              <a:t>infinitely many levels of intensity over a period of time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 digital signal, on the other hand, can have only a limited number of </a:t>
            </a:r>
            <a:r>
              <a:rPr lang="en-US" sz="2800" dirty="0" smtClean="0">
                <a:solidFill>
                  <a:schemeClr val="tx1"/>
                </a:solidFill>
                <a:latin typeface="Book Antiqua" panose="02040602050305030304" pitchFamily="18" charset="0"/>
              </a:rPr>
              <a:t>defined values.</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Although each value can be any number, it is often as simple as 1 and O</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simplest way to show signals is by plotting them on a pair of </a:t>
            </a:r>
            <a:r>
              <a:rPr lang="en-US" sz="2800" dirty="0" smtClean="0">
                <a:solidFill>
                  <a:schemeClr val="tx1"/>
                </a:solidFill>
                <a:latin typeface="Book Antiqua" panose="02040602050305030304" pitchFamily="18" charset="0"/>
              </a:rPr>
              <a:t>perpendicular axes</a:t>
            </a: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The </a:t>
            </a:r>
            <a:r>
              <a:rPr lang="en-US" sz="2800" dirty="0">
                <a:solidFill>
                  <a:schemeClr val="tx1"/>
                </a:solidFill>
                <a:latin typeface="Book Antiqua" panose="02040602050305030304" pitchFamily="18" charset="0"/>
              </a:rPr>
              <a:t>vertical axis represents the value or strength of a signal. The horizontal </a:t>
            </a:r>
            <a:r>
              <a:rPr lang="en-US" sz="2800" dirty="0" smtClean="0">
                <a:solidFill>
                  <a:schemeClr val="tx1"/>
                </a:solidFill>
                <a:latin typeface="Book Antiqua" panose="02040602050305030304" pitchFamily="18" charset="0"/>
              </a:rPr>
              <a:t>axis represents </a:t>
            </a:r>
            <a:r>
              <a:rPr lang="en-US" sz="2800" dirty="0">
                <a:solidFill>
                  <a:schemeClr val="tx1"/>
                </a:solidFill>
                <a:latin typeface="Book Antiqua" panose="02040602050305030304" pitchFamily="18" charset="0"/>
              </a:rPr>
              <a:t>time.</a:t>
            </a:r>
          </a:p>
        </p:txBody>
      </p:sp>
    </p:spTree>
    <p:extLst>
      <p:ext uri="{BB962C8B-B14F-4D97-AF65-F5344CB8AC3E}">
        <p14:creationId xmlns:p14="http://schemas.microsoft.com/office/powerpoint/2010/main" val="35411280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Analog VS Digital Signals</a:t>
            </a:r>
            <a:endParaRPr lang="en-US" sz="3600" b="1" dirty="0">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441" y="2209800"/>
            <a:ext cx="8528050" cy="324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4"/>
          <p:cNvSpPr txBox="1">
            <a:spLocks noGrp="1" noChangeArrowheads="1"/>
          </p:cNvSpPr>
          <p:nvPr>
            <p:ph type="subTitle" idx="1"/>
          </p:nvPr>
        </p:nvSpPr>
        <p:spPr bwMode="auto">
          <a:xfrm>
            <a:off x="1295400" y="1219200"/>
            <a:ext cx="59747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2400" i="0" baseline="0" dirty="0">
                <a:solidFill>
                  <a:schemeClr val="tx1"/>
                </a:solidFill>
                <a:latin typeface="Book Antiqua" panose="02040602050305030304" pitchFamily="18" charset="0"/>
              </a:rPr>
              <a:t>Figure </a:t>
            </a:r>
            <a:r>
              <a:rPr lang="en-US" altLang="en-US" sz="2400" i="0" baseline="0" dirty="0" smtClean="0">
                <a:solidFill>
                  <a:schemeClr val="tx1"/>
                </a:solidFill>
                <a:latin typeface="Book Antiqua" panose="02040602050305030304" pitchFamily="18" charset="0"/>
              </a:rPr>
              <a:t>:</a:t>
            </a:r>
            <a:r>
              <a:rPr lang="en-US" altLang="en-US" sz="2400" i="0" dirty="0" smtClean="0">
                <a:solidFill>
                  <a:schemeClr val="tx1"/>
                </a:solidFill>
                <a:latin typeface="Book Antiqua" panose="02040602050305030304" pitchFamily="18" charset="0"/>
              </a:rPr>
              <a:t> </a:t>
            </a:r>
            <a:r>
              <a:rPr lang="en-US" altLang="en-US" sz="2000" baseline="0" dirty="0" smtClean="0">
                <a:solidFill>
                  <a:schemeClr val="tx1"/>
                </a:solidFill>
                <a:latin typeface="Book Antiqua" panose="02040602050305030304" pitchFamily="18" charset="0"/>
              </a:rPr>
              <a:t>Comparison </a:t>
            </a:r>
            <a:r>
              <a:rPr lang="en-US" altLang="en-US" sz="2000" baseline="0" dirty="0">
                <a:solidFill>
                  <a:schemeClr val="tx1"/>
                </a:solidFill>
                <a:latin typeface="Book Antiqua" panose="02040602050305030304" pitchFamily="18" charset="0"/>
              </a:rPr>
              <a:t>of analog and digital signals</a:t>
            </a:r>
          </a:p>
        </p:txBody>
      </p:sp>
    </p:spTree>
    <p:extLst>
      <p:ext uri="{BB962C8B-B14F-4D97-AF65-F5344CB8AC3E}">
        <p14:creationId xmlns:p14="http://schemas.microsoft.com/office/powerpoint/2010/main" val="24778070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Periodic and Non periodic signals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Both analog and digital signals can take one of two forms: periodic or </a:t>
            </a:r>
            <a:r>
              <a:rPr lang="en-US" sz="2800" dirty="0" err="1" smtClean="0">
                <a:solidFill>
                  <a:schemeClr val="tx1"/>
                </a:solidFill>
                <a:latin typeface="Book Antiqua" panose="02040602050305030304" pitchFamily="18" charset="0"/>
              </a:rPr>
              <a:t>nonperiodic</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 periodic signal completes a pattern within a measurable time frame, called a period, and repeats that pattern over subsequent identical periods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completion </a:t>
            </a:r>
            <a:r>
              <a:rPr lang="en-US" sz="2800" dirty="0" smtClean="0">
                <a:solidFill>
                  <a:schemeClr val="tx1"/>
                </a:solidFill>
                <a:latin typeface="Book Antiqua" panose="02040602050305030304" pitchFamily="18" charset="0"/>
              </a:rPr>
              <a:t>of one </a:t>
            </a:r>
            <a:r>
              <a:rPr lang="en-US" sz="2800" dirty="0">
                <a:solidFill>
                  <a:schemeClr val="tx1"/>
                </a:solidFill>
                <a:latin typeface="Book Antiqua" panose="02040602050305030304" pitchFamily="18" charset="0"/>
              </a:rPr>
              <a:t>full pattern is called a cycle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 </a:t>
            </a:r>
            <a:r>
              <a:rPr lang="en-US" sz="2800" dirty="0" err="1">
                <a:solidFill>
                  <a:schemeClr val="tx1"/>
                </a:solidFill>
                <a:latin typeface="Book Antiqua" panose="02040602050305030304" pitchFamily="18" charset="0"/>
              </a:rPr>
              <a:t>nonperiodic</a:t>
            </a:r>
            <a:r>
              <a:rPr lang="en-US" sz="2800" dirty="0">
                <a:solidFill>
                  <a:schemeClr val="tx1"/>
                </a:solidFill>
                <a:latin typeface="Book Antiqua" panose="02040602050305030304" pitchFamily="18" charset="0"/>
              </a:rPr>
              <a:t> signal changes without exhibiting a </a:t>
            </a:r>
            <a:r>
              <a:rPr lang="en-US" sz="2800" dirty="0" smtClean="0">
                <a:solidFill>
                  <a:schemeClr val="tx1"/>
                </a:solidFill>
                <a:latin typeface="Book Antiqua" panose="02040602050305030304" pitchFamily="18" charset="0"/>
              </a:rPr>
              <a:t>pattern or </a:t>
            </a:r>
            <a:r>
              <a:rPr lang="en-US" sz="2800" dirty="0">
                <a:solidFill>
                  <a:schemeClr val="tx1"/>
                </a:solidFill>
                <a:latin typeface="Book Antiqua" panose="02040602050305030304" pitchFamily="18" charset="0"/>
              </a:rPr>
              <a:t>cycle that repeats over time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In data communication, commonly use periodic analog signals and non periodic digital signals.</a:t>
            </a:r>
            <a:endParaRPr lang="en-US" sz="2800"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23986339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Periodic analog signals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Periodic analog signals can be classified as simple or composite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 simple periodic analog signal, a sine wave, cannot be decomposed into simpler signals. </a:t>
            </a: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 </a:t>
            </a:r>
            <a:r>
              <a:rPr lang="en-US" sz="2800" dirty="0" smtClean="0">
                <a:solidFill>
                  <a:schemeClr val="tx1"/>
                </a:solidFill>
                <a:latin typeface="Book Antiqua" panose="02040602050305030304" pitchFamily="18" charset="0"/>
              </a:rPr>
              <a:t>composite periodic </a:t>
            </a:r>
            <a:r>
              <a:rPr lang="en-US" sz="2800" dirty="0">
                <a:solidFill>
                  <a:schemeClr val="tx1"/>
                </a:solidFill>
                <a:latin typeface="Book Antiqua" panose="02040602050305030304" pitchFamily="18" charset="0"/>
              </a:rPr>
              <a:t>analog signal is composed of multiple sine waves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733800"/>
            <a:ext cx="8535853"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29464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altLang="en-US" sz="2000" b="1" dirty="0">
                <a:latin typeface="Book Antiqua" panose="02040602050305030304" pitchFamily="18" charset="0"/>
              </a:rPr>
              <a:t>Two signals with the same phase and </a:t>
            </a:r>
            <a:r>
              <a:rPr lang="en-US" altLang="en-US" sz="2000" b="1" dirty="0" smtClean="0">
                <a:latin typeface="Book Antiqua" panose="02040602050305030304" pitchFamily="18" charset="0"/>
              </a:rPr>
              <a:t>frequency, but </a:t>
            </a:r>
            <a:r>
              <a:rPr lang="en-US" altLang="en-US" sz="2000" b="1" dirty="0">
                <a:latin typeface="Book Antiqua" panose="02040602050305030304" pitchFamily="18" charset="0"/>
              </a:rPr>
              <a:t>different </a:t>
            </a:r>
            <a:r>
              <a:rPr lang="en-US" altLang="en-US" sz="2000" b="1" dirty="0" smtClean="0">
                <a:latin typeface="Book Antiqua" panose="02040602050305030304" pitchFamily="18" charset="0"/>
              </a:rPr>
              <a:t>amplitudes</a:t>
            </a:r>
            <a:endParaRPr lang="en-US" sz="20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Frequency and period are the inverse of each other.</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291" y="609601"/>
            <a:ext cx="6961909"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5867400"/>
            <a:ext cx="3375025" cy="666750"/>
          </a:xfrm>
          <a:prstGeom prst="rect">
            <a:avLst/>
          </a:prstGeom>
          <a:solidFill>
            <a:srgbClr val="3366FF"/>
          </a:solidFill>
          <a:ln w="28575">
            <a:solidFill>
              <a:srgbClr val="33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02028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2000" b="1" dirty="0">
                <a:latin typeface="Book Antiqua" panose="02040602050305030304" pitchFamily="18" charset="0"/>
              </a:rPr>
              <a:t>Two signals with the same amplitude and phase</a:t>
            </a:r>
            <a:r>
              <a:rPr lang="en-US" sz="2000" b="1" dirty="0" smtClean="0">
                <a:latin typeface="Book Antiqua" panose="02040602050305030304" pitchFamily="18" charset="0"/>
              </a:rPr>
              <a:t>, </a:t>
            </a:r>
            <a:r>
              <a:rPr lang="en-US" sz="2000" b="1" dirty="0">
                <a:latin typeface="Book Antiqua" panose="02040602050305030304" pitchFamily="18" charset="0"/>
              </a:rPr>
              <a:t>but different </a:t>
            </a:r>
            <a:r>
              <a:rPr lang="en-US" sz="2000" b="1" dirty="0" smtClean="0">
                <a:latin typeface="Book Antiqua" panose="02040602050305030304" pitchFamily="18" charset="0"/>
              </a:rPr>
              <a:t>frequencies</a:t>
            </a:r>
            <a:endParaRPr lang="en-US" sz="20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721996"/>
            <a:ext cx="6400800" cy="6097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58263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altLang="en-US" sz="3600" dirty="0">
                <a:latin typeface="Book Antiqua" panose="02040602050305030304" pitchFamily="18" charset="0"/>
              </a:rPr>
              <a:t>Units of period and </a:t>
            </a:r>
            <a:r>
              <a:rPr lang="en-US" altLang="en-US" sz="3600" dirty="0" smtClean="0">
                <a:latin typeface="Book Antiqua" panose="02040602050305030304" pitchFamily="18" charset="0"/>
              </a:rPr>
              <a:t>frequency</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327275"/>
            <a:ext cx="8601075"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83285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Example-01</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1295400"/>
            <a:ext cx="9144000" cy="55626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power we use at home has a frequency of 60 Hz. The period of this sine wave can be determined as follows:</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290" y="3200400"/>
            <a:ext cx="8587695" cy="965200"/>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17914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Example-02</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76200" y="685800"/>
            <a:ext cx="8991600" cy="60960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period of a signal is 100 </a:t>
            </a:r>
            <a:r>
              <a:rPr lang="en-US" sz="2800" dirty="0" err="1">
                <a:solidFill>
                  <a:schemeClr val="tx1"/>
                </a:solidFill>
                <a:latin typeface="Book Antiqua" panose="02040602050305030304" pitchFamily="18" charset="0"/>
              </a:rPr>
              <a:t>ms.</a:t>
            </a:r>
            <a:r>
              <a:rPr lang="en-US" sz="2800" dirty="0">
                <a:solidFill>
                  <a:schemeClr val="tx1"/>
                </a:solidFill>
                <a:latin typeface="Book Antiqua" panose="02040602050305030304" pitchFamily="18" charset="0"/>
              </a:rPr>
              <a:t> What is its frequency in kilohertz</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rgbClr val="FF0000"/>
                </a:solidFill>
                <a:latin typeface="Book Antiqua" panose="02040602050305030304" pitchFamily="18" charset="0"/>
              </a:rPr>
              <a:t>Solution</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First we change 100 </a:t>
            </a:r>
            <a:r>
              <a:rPr lang="en-US" sz="2800" dirty="0" err="1">
                <a:solidFill>
                  <a:schemeClr val="tx1"/>
                </a:solidFill>
                <a:latin typeface="Book Antiqua" panose="02040602050305030304" pitchFamily="18" charset="0"/>
              </a:rPr>
              <a:t>ms</a:t>
            </a:r>
            <a:r>
              <a:rPr lang="en-US" sz="2800" dirty="0">
                <a:solidFill>
                  <a:schemeClr val="tx1"/>
                </a:solidFill>
                <a:latin typeface="Book Antiqua" panose="02040602050305030304" pitchFamily="18" charset="0"/>
              </a:rPr>
              <a:t> to seconds, and then we calculate the frequency from the period (1 Hz = 10−3 kHz).</a:t>
            </a: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algn="l"/>
            <a:endParaRPr lang="en-US" sz="2800" dirty="0">
              <a:solidFill>
                <a:schemeClr val="tx1"/>
              </a:solidFill>
              <a:latin typeface="Book Antiqua" panose="02040602050305030304" pitchFamily="18" charset="0"/>
            </a:endParaRPr>
          </a:p>
        </p:txBody>
      </p:sp>
      <p:pic>
        <p:nvPicPr>
          <p:cNvPr id="4"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049" y="4267200"/>
            <a:ext cx="8741366" cy="1724892"/>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15974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Digital Signals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 addition to being represented by an analog signal, information can also be represented by a </a:t>
            </a:r>
            <a:r>
              <a:rPr lang="en-US" sz="2800" dirty="0">
                <a:solidFill>
                  <a:srgbClr val="FF0000"/>
                </a:solidFill>
                <a:latin typeface="Book Antiqua" panose="02040602050305030304" pitchFamily="18" charset="0"/>
              </a:rPr>
              <a:t>digital signal. </a:t>
            </a:r>
            <a:endParaRPr lang="en-US" sz="2800" dirty="0" smtClean="0">
              <a:solidFill>
                <a:srgbClr val="FF0000"/>
              </a:solidFill>
              <a:latin typeface="Book Antiqua" panose="02040602050305030304" pitchFamily="18" charset="0"/>
            </a:endParaRP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For example, a 1 can be encoded as a positive voltage and a 0 as zero voltage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 digital signal can have more than two levels. </a:t>
            </a:r>
            <a:r>
              <a:rPr lang="en-US" sz="2800" dirty="0" smtClean="0">
                <a:solidFill>
                  <a:schemeClr val="tx1"/>
                </a:solidFill>
                <a:latin typeface="Book Antiqua" panose="02040602050305030304" pitchFamily="18" charset="0"/>
              </a:rPr>
              <a:t>we </a:t>
            </a:r>
            <a:r>
              <a:rPr lang="en-US" sz="2800" dirty="0">
                <a:solidFill>
                  <a:schemeClr val="tx1"/>
                </a:solidFill>
                <a:latin typeface="Book Antiqua" panose="02040602050305030304" pitchFamily="18" charset="0"/>
              </a:rPr>
              <a:t>can send more than 1 bit for each level</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The figure in the next slide </a:t>
            </a:r>
            <a:r>
              <a:rPr lang="en-US" sz="2800" dirty="0">
                <a:solidFill>
                  <a:schemeClr val="tx1"/>
                </a:solidFill>
                <a:latin typeface="Book Antiqua" panose="02040602050305030304" pitchFamily="18" charset="0"/>
              </a:rPr>
              <a:t>shows two signals, one with two </a:t>
            </a:r>
            <a:r>
              <a:rPr lang="en-US" sz="2800" dirty="0" smtClean="0">
                <a:solidFill>
                  <a:schemeClr val="tx1"/>
                </a:solidFill>
                <a:latin typeface="Book Antiqua" panose="02040602050305030304" pitchFamily="18" charset="0"/>
              </a:rPr>
              <a:t>levels and </a:t>
            </a:r>
            <a:r>
              <a:rPr lang="en-US" sz="2800" dirty="0">
                <a:solidFill>
                  <a:schemeClr val="tx1"/>
                </a:solidFill>
                <a:latin typeface="Book Antiqua" panose="02040602050305030304" pitchFamily="18" charset="0"/>
              </a:rPr>
              <a:t>the other with four.	</a:t>
            </a: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 general, if a signal has L levels, each level needs log2L bits.</a:t>
            </a:r>
          </a:p>
        </p:txBody>
      </p:sp>
    </p:spTree>
    <p:extLst>
      <p:ext uri="{BB962C8B-B14F-4D97-AF65-F5344CB8AC3E}">
        <p14:creationId xmlns:p14="http://schemas.microsoft.com/office/powerpoint/2010/main" val="11179343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altLang="en-US" sz="1800" b="1" dirty="0">
                <a:latin typeface="Book Antiqua" panose="02040602050305030304" pitchFamily="18" charset="0"/>
              </a:rPr>
              <a:t>Two digital signals: one with two signal levels and the </a:t>
            </a:r>
            <a:r>
              <a:rPr lang="en-US" altLang="en-US" sz="1800" b="1" dirty="0" smtClean="0">
                <a:latin typeface="Book Antiqua" panose="02040602050305030304" pitchFamily="18" charset="0"/>
              </a:rPr>
              <a:t>other with four signal levels</a:t>
            </a:r>
            <a:endParaRPr lang="en-US" sz="18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algn="l"/>
            <a:endParaRPr lang="en-US" sz="2800" dirty="0">
              <a:solidFill>
                <a:schemeClr val="tx1"/>
              </a:solidFill>
              <a:latin typeface="Book Antiqua" panose="02040602050305030304" pitchFamily="18" charset="0"/>
            </a:endParaRPr>
          </a:p>
        </p:txBody>
      </p:sp>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240" y="694198"/>
            <a:ext cx="8305560" cy="5935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31189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762000"/>
            <a:ext cx="9144000" cy="60960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 digital signal has eight levels. How many bits are needed per level? We calculate the number of bits from the </a:t>
            </a:r>
            <a:r>
              <a:rPr lang="en-US" sz="2800" dirty="0" smtClean="0">
                <a:solidFill>
                  <a:schemeClr val="tx1"/>
                </a:solidFill>
                <a:latin typeface="Book Antiqua" panose="02040602050305030304" pitchFamily="18" charset="0"/>
              </a:rPr>
              <a:t>formula.</a:t>
            </a: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Each signal level is represented by 3 bits</a:t>
            </a:r>
            <a:r>
              <a:rPr lang="en-US" sz="2800" dirty="0" smtClean="0">
                <a:solidFill>
                  <a:schemeClr val="tx1"/>
                </a:solidFill>
                <a:latin typeface="Book Antiqua" panose="02040602050305030304" pitchFamily="18" charset="0"/>
              </a:rPr>
              <a:t>.</a:t>
            </a:r>
            <a:endParaRPr lang="en-US" sz="2800" dirty="0">
              <a:solidFill>
                <a:schemeClr val="tx1"/>
              </a:solidFill>
              <a:latin typeface="Book Antiqua" panose="02040602050305030304" pitchFamily="18" charset="0"/>
            </a:endParaRPr>
          </a:p>
        </p:txBody>
      </p:sp>
      <p:pic>
        <p:nvPicPr>
          <p:cNvPr id="4"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743200"/>
            <a:ext cx="7926107" cy="787400"/>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18043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34636" y="1371600"/>
            <a:ext cx="9144000" cy="48006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 digital signal has nine levels. How many bits are needed per level? We calculate the number of bits by using the formula. </a:t>
            </a: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Each </a:t>
            </a:r>
            <a:r>
              <a:rPr lang="en-US" sz="2800" dirty="0">
                <a:solidFill>
                  <a:schemeClr val="tx1"/>
                </a:solidFill>
                <a:latin typeface="Book Antiqua" panose="02040602050305030304" pitchFamily="18" charset="0"/>
              </a:rPr>
              <a:t>signal level is represented by 3.17 bits. However, this answer is not realistic. </a:t>
            </a: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The </a:t>
            </a:r>
            <a:r>
              <a:rPr lang="en-US" sz="2800" dirty="0">
                <a:solidFill>
                  <a:schemeClr val="tx1"/>
                </a:solidFill>
                <a:latin typeface="Book Antiqua" panose="02040602050305030304" pitchFamily="18" charset="0"/>
              </a:rPr>
              <a:t>number of bits sent per level needs to be an integer as well as a power of 2. For this example, 4 bits can represent one level</a:t>
            </a:r>
            <a:r>
              <a:rPr lang="en-US" sz="2800" dirty="0" smtClean="0">
                <a:solidFill>
                  <a:schemeClr val="tx1"/>
                </a:solidFill>
                <a:latin typeface="Book Antiqua" panose="02040602050305030304" pitchFamily="18" charset="0"/>
              </a:rPr>
              <a:t>.</a:t>
            </a:r>
            <a:endParaRPr lang="en-US" sz="2800"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9092254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Bit Rate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Most digital signals are </a:t>
            </a:r>
            <a:r>
              <a:rPr lang="en-US" sz="2800" dirty="0" err="1">
                <a:solidFill>
                  <a:schemeClr val="tx1"/>
                </a:solidFill>
                <a:latin typeface="Book Antiqua" panose="02040602050305030304" pitchFamily="18" charset="0"/>
              </a:rPr>
              <a:t>nonperiodic</a:t>
            </a:r>
            <a:r>
              <a:rPr lang="en-US" sz="2800" dirty="0">
                <a:solidFill>
                  <a:schemeClr val="tx1"/>
                </a:solidFill>
                <a:latin typeface="Book Antiqua" panose="02040602050305030304" pitchFamily="18" charset="0"/>
              </a:rPr>
              <a:t>, and thus period and frequency are not </a:t>
            </a:r>
            <a:r>
              <a:rPr lang="en-US" sz="2800" dirty="0" smtClean="0">
                <a:solidFill>
                  <a:schemeClr val="tx1"/>
                </a:solidFill>
                <a:latin typeface="Book Antiqua" panose="02040602050305030304" pitchFamily="18" charset="0"/>
              </a:rPr>
              <a:t>appropriate characteristics.</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Another term-bit rate (instead </a:t>
            </a:r>
            <a:r>
              <a:rPr lang="en-US" sz="2800" dirty="0" smtClean="0">
                <a:solidFill>
                  <a:schemeClr val="tx1"/>
                </a:solidFill>
                <a:latin typeface="Book Antiqua" panose="02040602050305030304" pitchFamily="18" charset="0"/>
              </a:rPr>
              <a:t>of </a:t>
            </a:r>
            <a:r>
              <a:rPr lang="en-US" sz="2800" dirty="0">
                <a:solidFill>
                  <a:schemeClr val="tx1"/>
                </a:solidFill>
                <a:latin typeface="Book Antiqua" panose="02040602050305030304" pitchFamily="18" charset="0"/>
              </a:rPr>
              <a:t>f</a:t>
            </a:r>
            <a:r>
              <a:rPr lang="en-US" sz="2800" dirty="0" smtClean="0">
                <a:solidFill>
                  <a:schemeClr val="tx1"/>
                </a:solidFill>
                <a:latin typeface="Book Antiqua" panose="02040602050305030304" pitchFamily="18" charset="0"/>
              </a:rPr>
              <a:t>requency</a:t>
            </a:r>
            <a:r>
              <a:rPr lang="en-US" sz="2800" dirty="0">
                <a:solidFill>
                  <a:schemeClr val="tx1"/>
                </a:solidFill>
                <a:latin typeface="Book Antiqua" panose="02040602050305030304" pitchFamily="18" charset="0"/>
              </a:rPr>
              <a:t>)-is used to </a:t>
            </a:r>
            <a:r>
              <a:rPr lang="en-US" sz="2800" dirty="0" smtClean="0">
                <a:solidFill>
                  <a:schemeClr val="tx1"/>
                </a:solidFill>
                <a:latin typeface="Book Antiqua" panose="02040602050305030304" pitchFamily="18" charset="0"/>
              </a:rPr>
              <a:t>describe digital </a:t>
            </a:r>
            <a:r>
              <a:rPr lang="en-US" sz="2800" dirty="0">
                <a:solidFill>
                  <a:schemeClr val="tx1"/>
                </a:solidFill>
                <a:latin typeface="Book Antiqua" panose="02040602050305030304" pitchFamily="18" charset="0"/>
              </a:rPr>
              <a:t>signals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bit rate is the number of bits sent in </a:t>
            </a:r>
            <a:r>
              <a:rPr lang="en-US" sz="2800" dirty="0" smtClean="0">
                <a:solidFill>
                  <a:schemeClr val="tx1"/>
                </a:solidFill>
                <a:latin typeface="Book Antiqua" panose="02040602050305030304" pitchFamily="18" charset="0"/>
              </a:rPr>
              <a:t>1sec, </a:t>
            </a:r>
            <a:r>
              <a:rPr lang="en-US" sz="2800" dirty="0">
                <a:solidFill>
                  <a:schemeClr val="tx1"/>
                </a:solidFill>
                <a:latin typeface="Book Antiqua" panose="02040602050305030304" pitchFamily="18" charset="0"/>
              </a:rPr>
              <a:t>expressed in bits </a:t>
            </a:r>
            <a:r>
              <a:rPr lang="en-US" sz="2800" dirty="0" smtClean="0">
                <a:solidFill>
                  <a:schemeClr val="tx1"/>
                </a:solidFill>
                <a:latin typeface="Book Antiqua" panose="02040602050305030304" pitchFamily="18" charset="0"/>
              </a:rPr>
              <a:t>per second </a:t>
            </a:r>
            <a:r>
              <a:rPr lang="en-US" sz="2800" dirty="0">
                <a:solidFill>
                  <a:schemeClr val="tx1"/>
                </a:solidFill>
                <a:latin typeface="Book Antiqua" panose="02040602050305030304" pitchFamily="18" charset="0"/>
              </a:rPr>
              <a:t>(bps).</a:t>
            </a:r>
          </a:p>
        </p:txBody>
      </p:sp>
    </p:spTree>
    <p:extLst>
      <p:ext uri="{BB962C8B-B14F-4D97-AF65-F5344CB8AC3E}">
        <p14:creationId xmlns:p14="http://schemas.microsoft.com/office/powerpoint/2010/main" val="1002546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09" y="838200"/>
            <a:ext cx="8785225" cy="330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745" y="4648200"/>
            <a:ext cx="8763000" cy="6921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687638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606" y="835025"/>
            <a:ext cx="8785225" cy="373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059363"/>
            <a:ext cx="8692646" cy="73183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28024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776143"/>
            <a:ext cx="8785225" cy="373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 y="5598392"/>
            <a:ext cx="8778875" cy="117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4748653"/>
            <a:ext cx="8763000" cy="5334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35681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Bit Length</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We discussed the concept of the wavelength for an analog </a:t>
            </a:r>
            <a:r>
              <a:rPr lang="en-US" sz="2800" dirty="0" smtClean="0">
                <a:solidFill>
                  <a:schemeClr val="tx1"/>
                </a:solidFill>
                <a:latin typeface="Book Antiqua" panose="02040602050305030304" pitchFamily="18" charset="0"/>
              </a:rPr>
              <a:t>signal.</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The </a:t>
            </a:r>
            <a:r>
              <a:rPr lang="en-US" sz="2800" dirty="0">
                <a:solidFill>
                  <a:schemeClr val="tx1"/>
                </a:solidFill>
                <a:latin typeface="Book Antiqua" panose="02040602050305030304" pitchFamily="18" charset="0"/>
              </a:rPr>
              <a:t>distance one </a:t>
            </a:r>
            <a:r>
              <a:rPr lang="en-US" sz="2800" dirty="0" smtClean="0">
                <a:solidFill>
                  <a:schemeClr val="tx1"/>
                </a:solidFill>
                <a:latin typeface="Book Antiqua" panose="02040602050305030304" pitchFamily="18" charset="0"/>
              </a:rPr>
              <a:t>cycle occupies </a:t>
            </a:r>
            <a:r>
              <a:rPr lang="en-US" sz="2800" dirty="0">
                <a:solidFill>
                  <a:schemeClr val="tx1"/>
                </a:solidFill>
                <a:latin typeface="Book Antiqua" panose="02040602050305030304" pitchFamily="18" charset="0"/>
              </a:rPr>
              <a:t>on the transmission medium</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Similar </a:t>
            </a:r>
            <a:r>
              <a:rPr lang="en-US" sz="2800" dirty="0">
                <a:solidFill>
                  <a:schemeClr val="tx1"/>
                </a:solidFill>
                <a:latin typeface="Book Antiqua" panose="02040602050305030304" pitchFamily="18" charset="0"/>
              </a:rPr>
              <a:t>for a </a:t>
            </a:r>
            <a:r>
              <a:rPr lang="en-US" sz="2800" dirty="0" smtClean="0">
                <a:solidFill>
                  <a:schemeClr val="tx1"/>
                </a:solidFill>
                <a:latin typeface="Book Antiqua" panose="02040602050305030304" pitchFamily="18" charset="0"/>
              </a:rPr>
              <a:t>digital signal</a:t>
            </a:r>
            <a:r>
              <a:rPr lang="en-US" sz="2800" dirty="0">
                <a:solidFill>
                  <a:schemeClr val="tx1"/>
                </a:solidFill>
                <a:latin typeface="Book Antiqua" panose="02040602050305030304" pitchFamily="18" charset="0"/>
              </a:rPr>
              <a:t>: the bit length</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bit length is the distance one bit occupies on the </a:t>
            </a:r>
            <a:r>
              <a:rPr lang="en-US" sz="2800" dirty="0" smtClean="0">
                <a:solidFill>
                  <a:schemeClr val="tx1"/>
                </a:solidFill>
                <a:latin typeface="Book Antiqua" panose="02040602050305030304" pitchFamily="18" charset="0"/>
              </a:rPr>
              <a:t>transmission medium.</a:t>
            </a:r>
          </a:p>
          <a:p>
            <a:r>
              <a:rPr lang="en-US" sz="2800" b="1" i="1" dirty="0">
                <a:solidFill>
                  <a:srgbClr val="002060"/>
                </a:solidFill>
                <a:latin typeface="Book Antiqua" panose="02040602050305030304" pitchFamily="18" charset="0"/>
              </a:rPr>
              <a:t>Bit length =propagation speed x bit duration</a:t>
            </a:r>
          </a:p>
        </p:txBody>
      </p:sp>
    </p:spTree>
    <p:extLst>
      <p:ext uri="{BB962C8B-B14F-4D97-AF65-F5344CB8AC3E}">
        <p14:creationId xmlns:p14="http://schemas.microsoft.com/office/powerpoint/2010/main" val="16788963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Transmission of Digital Signals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Digital signal may be periodic or non periodic.</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Digital signal is a composite analog signal with frequencies between zero to infinity.</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But most of the </a:t>
            </a:r>
            <a:r>
              <a:rPr lang="en-US" sz="2800" dirty="0">
                <a:solidFill>
                  <a:schemeClr val="tx1"/>
                </a:solidFill>
                <a:latin typeface="Book Antiqua" panose="02040602050305030304" pitchFamily="18" charset="0"/>
              </a:rPr>
              <a:t>time non periodic digital </a:t>
            </a:r>
            <a:r>
              <a:rPr lang="en-US" sz="2800" dirty="0" smtClean="0">
                <a:solidFill>
                  <a:schemeClr val="tx1"/>
                </a:solidFill>
                <a:latin typeface="Book Antiqua" panose="02040602050305030304" pitchFamily="18" charset="0"/>
              </a:rPr>
              <a:t>signals are used.</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Fundamental question is how can we send a digital signal from point A to point B.</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We can transmit a digital signal by </a:t>
            </a:r>
            <a:r>
              <a:rPr lang="en-US" sz="2800" dirty="0" smtClean="0">
                <a:solidFill>
                  <a:schemeClr val="tx1"/>
                </a:solidFill>
                <a:latin typeface="Book Antiqua" panose="02040602050305030304" pitchFamily="18" charset="0"/>
              </a:rPr>
              <a:t>using one </a:t>
            </a:r>
            <a:r>
              <a:rPr lang="en-US" sz="2800" dirty="0">
                <a:solidFill>
                  <a:schemeClr val="tx1"/>
                </a:solidFill>
                <a:latin typeface="Book Antiqua" panose="02040602050305030304" pitchFamily="18" charset="0"/>
              </a:rPr>
              <a:t>of two different approaches:</a:t>
            </a:r>
          </a:p>
          <a:p>
            <a:pPr marL="914400" lvl="1" indent="-457200" algn="l">
              <a:buFont typeface="Arial" panose="020B0604020202020204" pitchFamily="34" charset="0"/>
              <a:buChar char="•"/>
            </a:pPr>
            <a:r>
              <a:rPr lang="en-US" sz="2400" dirty="0" smtClean="0">
                <a:solidFill>
                  <a:srgbClr val="FF0000"/>
                </a:solidFill>
                <a:latin typeface="Book Antiqua" panose="02040602050305030304" pitchFamily="18" charset="0"/>
              </a:rPr>
              <a:t>Baseband Transmission.</a:t>
            </a:r>
          </a:p>
          <a:p>
            <a:pPr marL="914400" lvl="1" indent="-457200" algn="l">
              <a:buFont typeface="Arial" panose="020B0604020202020204" pitchFamily="34" charset="0"/>
              <a:buChar char="•"/>
            </a:pPr>
            <a:r>
              <a:rPr lang="en-US" sz="2400" dirty="0" smtClean="0">
                <a:solidFill>
                  <a:srgbClr val="FF0000"/>
                </a:solidFill>
                <a:latin typeface="Book Antiqua" panose="02040602050305030304" pitchFamily="18" charset="0"/>
              </a:rPr>
              <a:t>Broadband Transmission(Using Modulation).</a:t>
            </a:r>
            <a:endParaRPr lang="en-US" sz="2400" dirty="0">
              <a:solidFill>
                <a:srgbClr val="FF0000"/>
              </a:solidFill>
              <a:latin typeface="Book Antiqua" panose="02040602050305030304" pitchFamily="18" charset="0"/>
            </a:endParaRPr>
          </a:p>
        </p:txBody>
      </p:sp>
    </p:spTree>
    <p:extLst>
      <p:ext uri="{BB962C8B-B14F-4D97-AF65-F5344CB8AC3E}">
        <p14:creationId xmlns:p14="http://schemas.microsoft.com/office/powerpoint/2010/main" val="1424301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Baseband Transmission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Baseband transmission means sending a digital signal over a channel without </a:t>
            </a:r>
            <a:r>
              <a:rPr lang="en-US" sz="2800" dirty="0" smtClean="0">
                <a:solidFill>
                  <a:schemeClr val="tx1"/>
                </a:solidFill>
                <a:latin typeface="Book Antiqua" panose="02040602050305030304" pitchFamily="18" charset="0"/>
              </a:rPr>
              <a:t>changing the </a:t>
            </a:r>
            <a:r>
              <a:rPr lang="en-US" sz="2800" dirty="0">
                <a:solidFill>
                  <a:schemeClr val="tx1"/>
                </a:solidFill>
                <a:latin typeface="Book Antiqua" panose="02040602050305030304" pitchFamily="18" charset="0"/>
              </a:rPr>
              <a:t>digital signal to an analog signal</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Baseband transmission requires that we have a low-pass channel, a channel with </a:t>
            </a:r>
            <a:r>
              <a:rPr lang="en-US" sz="2800" dirty="0" smtClean="0">
                <a:solidFill>
                  <a:schemeClr val="tx1"/>
                </a:solidFill>
                <a:latin typeface="Book Antiqua" panose="02040602050305030304" pitchFamily="18" charset="0"/>
              </a:rPr>
              <a:t>a bandwidth </a:t>
            </a:r>
            <a:r>
              <a:rPr lang="en-US" sz="2800" dirty="0">
                <a:solidFill>
                  <a:schemeClr val="tx1"/>
                </a:solidFill>
                <a:latin typeface="Book Antiqua" panose="02040602050305030304" pitchFamily="18" charset="0"/>
              </a:rPr>
              <a:t>that starts from zero</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For example, the entire bandwidth of a </a:t>
            </a:r>
            <a:r>
              <a:rPr lang="en-US" sz="2800" dirty="0" smtClean="0">
                <a:solidFill>
                  <a:schemeClr val="tx1"/>
                </a:solidFill>
                <a:latin typeface="Book Antiqua" panose="02040602050305030304" pitchFamily="18" charset="0"/>
              </a:rPr>
              <a:t>cable connecting </a:t>
            </a:r>
            <a:r>
              <a:rPr lang="en-US" sz="2800" dirty="0">
                <a:solidFill>
                  <a:schemeClr val="tx1"/>
                </a:solidFill>
                <a:latin typeface="Book Antiqua" panose="02040602050305030304" pitchFamily="18" charset="0"/>
              </a:rPr>
              <a:t>two computers is one single channel</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327564"/>
            <a:ext cx="8085526"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08704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Baseband Transmission- Cont..</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As another example, we may </a:t>
            </a:r>
            <a:r>
              <a:rPr lang="en-US" sz="2800" dirty="0" smtClean="0">
                <a:solidFill>
                  <a:schemeClr val="tx1"/>
                </a:solidFill>
                <a:latin typeface="Book Antiqua" panose="02040602050305030304" pitchFamily="18" charset="0"/>
              </a:rPr>
              <a:t>connect several </a:t>
            </a:r>
            <a:r>
              <a:rPr lang="en-US" sz="2800" dirty="0">
                <a:solidFill>
                  <a:schemeClr val="tx1"/>
                </a:solidFill>
                <a:latin typeface="Book Antiqua" panose="02040602050305030304" pitchFamily="18" charset="0"/>
              </a:rPr>
              <a:t>computers to a bus, but not allow more than two stations to communicate at </a:t>
            </a:r>
            <a:r>
              <a:rPr lang="en-US" sz="2800" dirty="0" smtClean="0">
                <a:solidFill>
                  <a:schemeClr val="tx1"/>
                </a:solidFill>
                <a:latin typeface="Book Antiqua" panose="02040602050305030304" pitchFamily="18" charset="0"/>
              </a:rPr>
              <a:t>a time.</a:t>
            </a: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037" y="2209800"/>
            <a:ext cx="8739188"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80835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000" b="1" dirty="0">
                <a:latin typeface="Book Antiqua" panose="02040602050305030304" pitchFamily="18" charset="0"/>
              </a:rPr>
              <a:t>Case 1: Low-Pass Channel with Wide Bandwidth</a:t>
            </a: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If we want to preserve the exact form of a </a:t>
            </a:r>
            <a:r>
              <a:rPr lang="en-US" sz="2800" dirty="0" err="1">
                <a:solidFill>
                  <a:schemeClr val="tx1"/>
                </a:solidFill>
                <a:latin typeface="Book Antiqua" panose="02040602050305030304" pitchFamily="18" charset="0"/>
              </a:rPr>
              <a:t>nonperiodic</a:t>
            </a:r>
            <a:r>
              <a:rPr lang="en-US" sz="2800" dirty="0">
                <a:solidFill>
                  <a:schemeClr val="tx1"/>
                </a:solidFill>
                <a:latin typeface="Book Antiqua" panose="02040602050305030304" pitchFamily="18" charset="0"/>
              </a:rPr>
              <a:t> digital signal with vertical </a:t>
            </a:r>
            <a:r>
              <a:rPr lang="en-US" sz="2800" dirty="0" smtClean="0">
                <a:solidFill>
                  <a:schemeClr val="tx1"/>
                </a:solidFill>
                <a:latin typeface="Book Antiqua" panose="02040602050305030304" pitchFamily="18" charset="0"/>
              </a:rPr>
              <a:t>segments vertical </a:t>
            </a:r>
            <a:r>
              <a:rPr lang="en-US" sz="2800" dirty="0">
                <a:solidFill>
                  <a:schemeClr val="tx1"/>
                </a:solidFill>
                <a:latin typeface="Book Antiqua" panose="02040602050305030304" pitchFamily="18" charset="0"/>
              </a:rPr>
              <a:t>and horizontal segments </a:t>
            </a:r>
            <a:r>
              <a:rPr lang="en-US" sz="2800" dirty="0" smtClean="0">
                <a:solidFill>
                  <a:schemeClr val="tx1"/>
                </a:solidFill>
                <a:latin typeface="Book Antiqua" panose="02040602050305030304" pitchFamily="18" charset="0"/>
              </a:rPr>
              <a:t>horizontal.</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we need to send the entire </a:t>
            </a:r>
            <a:r>
              <a:rPr lang="en-US" sz="2800" dirty="0" smtClean="0">
                <a:solidFill>
                  <a:schemeClr val="tx1"/>
                </a:solidFill>
                <a:latin typeface="Book Antiqua" panose="02040602050305030304" pitchFamily="18" charset="0"/>
              </a:rPr>
              <a:t>spectrum, the </a:t>
            </a:r>
            <a:r>
              <a:rPr lang="en-US" sz="2800" dirty="0">
                <a:solidFill>
                  <a:schemeClr val="tx1"/>
                </a:solidFill>
                <a:latin typeface="Book Antiqua" panose="02040602050305030304" pitchFamily="18" charset="0"/>
              </a:rPr>
              <a:t>continuous range of frequencies between zero and infinity</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It </a:t>
            </a:r>
            <a:r>
              <a:rPr lang="en-US" sz="2800" dirty="0">
                <a:solidFill>
                  <a:schemeClr val="tx1"/>
                </a:solidFill>
                <a:latin typeface="Book Antiqua" panose="02040602050305030304" pitchFamily="18" charset="0"/>
              </a:rPr>
              <a:t>is possible if </a:t>
            </a:r>
            <a:r>
              <a:rPr lang="en-US" sz="2800" dirty="0" smtClean="0">
                <a:solidFill>
                  <a:schemeClr val="tx1"/>
                </a:solidFill>
                <a:latin typeface="Book Antiqua" panose="02040602050305030304" pitchFamily="18" charset="0"/>
              </a:rPr>
              <a:t>we have </a:t>
            </a:r>
            <a:r>
              <a:rPr lang="en-US" sz="2800" dirty="0">
                <a:solidFill>
                  <a:schemeClr val="tx1"/>
                </a:solidFill>
                <a:latin typeface="Book Antiqua" panose="02040602050305030304" pitchFamily="18" charset="0"/>
              </a:rPr>
              <a:t>a dedicated medium </a:t>
            </a:r>
            <a:r>
              <a:rPr lang="en-US" sz="2800" dirty="0" smtClean="0">
                <a:solidFill>
                  <a:schemeClr val="tx1"/>
                </a:solidFill>
                <a:latin typeface="Book Antiqua" panose="02040602050305030304" pitchFamily="18" charset="0"/>
              </a:rPr>
              <a:t>between </a:t>
            </a:r>
            <a:r>
              <a:rPr lang="en-US" sz="2800" dirty="0">
                <a:solidFill>
                  <a:schemeClr val="tx1"/>
                </a:solidFill>
                <a:latin typeface="Book Antiqua" panose="02040602050305030304" pitchFamily="18" charset="0"/>
              </a:rPr>
              <a:t>the sender and </a:t>
            </a:r>
            <a:r>
              <a:rPr lang="en-US" sz="2800" dirty="0" smtClean="0">
                <a:solidFill>
                  <a:schemeClr val="tx1"/>
                </a:solidFill>
                <a:latin typeface="Book Antiqua" panose="02040602050305030304" pitchFamily="18" charset="0"/>
              </a:rPr>
              <a:t>receiver that </a:t>
            </a:r>
            <a:r>
              <a:rPr lang="en-US" sz="2800" dirty="0">
                <a:solidFill>
                  <a:schemeClr val="tx1"/>
                </a:solidFill>
                <a:latin typeface="Book Antiqua" panose="02040602050305030304" pitchFamily="18" charset="0"/>
              </a:rPr>
              <a:t>preserves the exact amplitude of each component of the composite signal</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Coaxial </a:t>
            </a:r>
            <a:r>
              <a:rPr lang="en-US" sz="2800" dirty="0">
                <a:solidFill>
                  <a:schemeClr val="tx1"/>
                </a:solidFill>
                <a:latin typeface="Book Antiqua" panose="02040602050305030304" pitchFamily="18" charset="0"/>
              </a:rPr>
              <a:t>cable or fiber optic, with a very wide bandwidth, </a:t>
            </a:r>
            <a:r>
              <a:rPr lang="en-US" sz="2800" dirty="0" smtClean="0">
                <a:solidFill>
                  <a:schemeClr val="tx1"/>
                </a:solidFill>
                <a:latin typeface="Book Antiqua" panose="02040602050305030304" pitchFamily="18" charset="0"/>
              </a:rPr>
              <a:t>two stations </a:t>
            </a:r>
            <a:r>
              <a:rPr lang="en-US" sz="2800" dirty="0">
                <a:solidFill>
                  <a:schemeClr val="tx1"/>
                </a:solidFill>
                <a:latin typeface="Book Antiqua" panose="02040602050305030304" pitchFamily="18" charset="0"/>
              </a:rPr>
              <a:t>can communicate by using digital signals with very good accuracy</a:t>
            </a:r>
          </a:p>
        </p:txBody>
      </p:sp>
    </p:spTree>
    <p:extLst>
      <p:ext uri="{BB962C8B-B14F-4D97-AF65-F5344CB8AC3E}">
        <p14:creationId xmlns:p14="http://schemas.microsoft.com/office/powerpoint/2010/main" val="303464149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000" b="1" dirty="0">
                <a:latin typeface="Book Antiqua" panose="02040602050305030304" pitchFamily="18" charset="0"/>
              </a:rPr>
              <a:t>Baseband transmission using a dedicated medium</a:t>
            </a: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 y="1447800"/>
            <a:ext cx="8829675"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67896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000" b="1" dirty="0">
                <a:latin typeface="Book Antiqua" panose="02040602050305030304" pitchFamily="18" charset="0"/>
              </a:rPr>
              <a:t>Baseband transmission using a dedicated medium</a:t>
            </a: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Although the output signal is not an exact replica of the original signal, the </a:t>
            </a:r>
            <a:r>
              <a:rPr lang="en-US" sz="2800" dirty="0" smtClean="0">
                <a:solidFill>
                  <a:schemeClr val="tx1"/>
                </a:solidFill>
                <a:latin typeface="Book Antiqua" panose="02040602050305030304" pitchFamily="18" charset="0"/>
              </a:rPr>
              <a:t>data can </a:t>
            </a:r>
            <a:r>
              <a:rPr lang="en-US" sz="2800" dirty="0">
                <a:solidFill>
                  <a:schemeClr val="tx1"/>
                </a:solidFill>
                <a:latin typeface="Book Antiqua" panose="02040602050305030304" pitchFamily="18" charset="0"/>
              </a:rPr>
              <a:t>still be deduced from the received signal</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Baseband transmission of a digital signal that preserves the shape of the digital signal </a:t>
            </a:r>
            <a:r>
              <a:rPr lang="en-US" sz="2800" dirty="0" smtClean="0">
                <a:solidFill>
                  <a:schemeClr val="tx1"/>
                </a:solidFill>
                <a:latin typeface="Book Antiqua" panose="02040602050305030304" pitchFamily="18" charset="0"/>
              </a:rPr>
              <a:t>is possible </a:t>
            </a:r>
            <a:r>
              <a:rPr lang="en-US" sz="2800" dirty="0">
                <a:solidFill>
                  <a:schemeClr val="tx1"/>
                </a:solidFill>
                <a:latin typeface="Book Antiqua" panose="02040602050305030304" pitchFamily="18" charset="0"/>
              </a:rPr>
              <a:t>only if we have a low-pass channel with an infinite or very wide bandwidth.</a:t>
            </a:r>
          </a:p>
        </p:txBody>
      </p:sp>
    </p:spTree>
    <p:extLst>
      <p:ext uri="{BB962C8B-B14F-4D97-AF65-F5344CB8AC3E}">
        <p14:creationId xmlns:p14="http://schemas.microsoft.com/office/powerpoint/2010/main" val="3114762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000" b="1" dirty="0" smtClean="0">
                <a:latin typeface="Book Antiqua" panose="02040602050305030304" pitchFamily="18" charset="0"/>
              </a:rPr>
              <a:t>Case-2: </a:t>
            </a:r>
            <a:r>
              <a:rPr lang="en-US" sz="3000" dirty="0">
                <a:latin typeface="Book Antiqua" panose="02040602050305030304" pitchFamily="18" charset="0"/>
              </a:rPr>
              <a:t>Low-Pass Channel with Limited Bandwidth</a:t>
            </a:r>
            <a:endParaRPr lang="en-US" sz="30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 a low-pass channel with limited bandwidth, we approximate the digital signal </a:t>
            </a:r>
            <a:r>
              <a:rPr lang="en-US" sz="2800" dirty="0" smtClean="0">
                <a:solidFill>
                  <a:schemeClr val="tx1"/>
                </a:solidFill>
                <a:latin typeface="Book Antiqua" panose="02040602050305030304" pitchFamily="18" charset="0"/>
              </a:rPr>
              <a:t>with an </a:t>
            </a:r>
            <a:r>
              <a:rPr lang="en-US" sz="2800" dirty="0">
                <a:solidFill>
                  <a:schemeClr val="tx1"/>
                </a:solidFill>
                <a:latin typeface="Book Antiqua" panose="02040602050305030304" pitchFamily="18" charset="0"/>
              </a:rPr>
              <a:t>analog signal</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level of approximation depends on the bandwidth available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Rough Approximation: Let us assume that we have a digital signal of bit rate N. </a:t>
            </a: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If we want </a:t>
            </a:r>
            <a:r>
              <a:rPr lang="en-US" sz="2800" dirty="0">
                <a:solidFill>
                  <a:schemeClr val="tx1"/>
                </a:solidFill>
                <a:latin typeface="Book Antiqua" panose="02040602050305030304" pitchFamily="18" charset="0"/>
              </a:rPr>
              <a:t>to send analog signals to roughly simulate this signal, we need to consider the </a:t>
            </a:r>
            <a:r>
              <a:rPr lang="en-US" sz="2800" dirty="0" smtClean="0">
                <a:solidFill>
                  <a:schemeClr val="tx1"/>
                </a:solidFill>
                <a:latin typeface="Book Antiqua" panose="02040602050305030304" pitchFamily="18" charset="0"/>
              </a:rPr>
              <a:t>worst case</a:t>
            </a:r>
            <a:r>
              <a:rPr lang="en-US" sz="2800" dirty="0">
                <a:solidFill>
                  <a:schemeClr val="tx1"/>
                </a:solidFill>
                <a:latin typeface="Book Antiqua" panose="02040602050305030304" pitchFamily="18" charset="0"/>
              </a:rPr>
              <a:t>, a maximum number of changes in the digital signal</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Signal carries the sequence </a:t>
            </a:r>
            <a:r>
              <a:rPr lang="en-US" sz="2800" dirty="0" smtClean="0">
                <a:solidFill>
                  <a:schemeClr val="tx1"/>
                </a:solidFill>
                <a:latin typeface="Book Antiqua" panose="02040602050305030304" pitchFamily="18" charset="0"/>
              </a:rPr>
              <a:t>01010101 </a:t>
            </a:r>
            <a:r>
              <a:rPr lang="en-US" sz="2800" dirty="0">
                <a:solidFill>
                  <a:schemeClr val="tx1"/>
                </a:solidFill>
                <a:latin typeface="Book Antiqua" panose="02040602050305030304" pitchFamily="18" charset="0"/>
              </a:rPr>
              <a:t>or the sequence </a:t>
            </a:r>
            <a:r>
              <a:rPr lang="en-US" sz="2800" dirty="0" smtClean="0">
                <a:solidFill>
                  <a:schemeClr val="tx1"/>
                </a:solidFill>
                <a:latin typeface="Book Antiqua" panose="02040602050305030304" pitchFamily="18" charset="0"/>
              </a:rPr>
              <a:t>10101010.</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To simulate these </a:t>
            </a:r>
            <a:r>
              <a:rPr lang="en-US" sz="2800" dirty="0" smtClean="0">
                <a:solidFill>
                  <a:schemeClr val="tx1"/>
                </a:solidFill>
                <a:latin typeface="Book Antiqua" panose="02040602050305030304" pitchFamily="18" charset="0"/>
              </a:rPr>
              <a:t>two cases</a:t>
            </a:r>
            <a:r>
              <a:rPr lang="en-US" sz="2800" dirty="0">
                <a:solidFill>
                  <a:schemeClr val="tx1"/>
                </a:solidFill>
                <a:latin typeface="Book Antiqua" panose="02040602050305030304" pitchFamily="18" charset="0"/>
              </a:rPr>
              <a:t>, we need an analog signal of frequency f = </a:t>
            </a:r>
            <a:r>
              <a:rPr lang="en-US" sz="2800" dirty="0" smtClean="0">
                <a:solidFill>
                  <a:schemeClr val="tx1"/>
                </a:solidFill>
                <a:latin typeface="Book Antiqua" panose="02040602050305030304" pitchFamily="18" charset="0"/>
              </a:rPr>
              <a:t>N/2</a:t>
            </a:r>
            <a:r>
              <a:rPr lang="en-US" sz="2800" dirty="0">
                <a:solidFill>
                  <a:schemeClr val="tx1"/>
                </a:solidFill>
                <a:latin typeface="Book Antiqua" panose="02040602050305030304" pitchFamily="18" charset="0"/>
              </a:rPr>
              <a:t>.</a:t>
            </a:r>
          </a:p>
        </p:txBody>
      </p:sp>
    </p:spTree>
    <p:extLst>
      <p:ext uri="{BB962C8B-B14F-4D97-AF65-F5344CB8AC3E}">
        <p14:creationId xmlns:p14="http://schemas.microsoft.com/office/powerpoint/2010/main" val="3901713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Cont..</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fontScale="92500" lnSpcReduction="10000"/>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Let 1 be the positive peak value </a:t>
            </a:r>
            <a:r>
              <a:rPr lang="en-US" sz="2800" dirty="0" smtClean="0">
                <a:solidFill>
                  <a:schemeClr val="tx1"/>
                </a:solidFill>
                <a:latin typeface="Book Antiqua" panose="02040602050305030304" pitchFamily="18" charset="0"/>
              </a:rPr>
              <a:t>and  0 be </a:t>
            </a:r>
            <a:r>
              <a:rPr lang="en-US" sz="2800" dirty="0">
                <a:solidFill>
                  <a:schemeClr val="tx1"/>
                </a:solidFill>
                <a:latin typeface="Book Antiqua" panose="02040602050305030304" pitchFamily="18" charset="0"/>
              </a:rPr>
              <a:t>the negative peak value. We send 2 bits in each cycle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The </a:t>
            </a:r>
            <a:r>
              <a:rPr lang="en-US" sz="2800" dirty="0">
                <a:solidFill>
                  <a:schemeClr val="tx1"/>
                </a:solidFill>
                <a:latin typeface="Book Antiqua" panose="02040602050305030304" pitchFamily="18" charset="0"/>
              </a:rPr>
              <a:t>frequency of the </a:t>
            </a:r>
            <a:r>
              <a:rPr lang="en-US" sz="2800" dirty="0" smtClean="0">
                <a:solidFill>
                  <a:schemeClr val="tx1"/>
                </a:solidFill>
                <a:latin typeface="Book Antiqua" panose="02040602050305030304" pitchFamily="18" charset="0"/>
              </a:rPr>
              <a:t>analog signal </a:t>
            </a:r>
            <a:r>
              <a:rPr lang="en-US" sz="2800" dirty="0">
                <a:solidFill>
                  <a:schemeClr val="tx1"/>
                </a:solidFill>
                <a:latin typeface="Book Antiqua" panose="02040602050305030304" pitchFamily="18" charset="0"/>
              </a:rPr>
              <a:t>is one-half of the bit rate, or </a:t>
            </a:r>
            <a:r>
              <a:rPr lang="en-US" sz="2800" dirty="0" smtClean="0">
                <a:solidFill>
                  <a:schemeClr val="tx1"/>
                </a:solidFill>
                <a:latin typeface="Book Antiqua" panose="02040602050305030304" pitchFamily="18" charset="0"/>
              </a:rPr>
              <a:t>N/2.</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above example is holds good for 2 pattern digital signal. Digital signal with a 3-bit pattern can be simulated by </a:t>
            </a:r>
            <a:r>
              <a:rPr lang="en-US" sz="2800" dirty="0" smtClean="0">
                <a:solidFill>
                  <a:schemeClr val="tx1"/>
                </a:solidFill>
                <a:latin typeface="Book Antiqua" panose="02040602050305030304" pitchFamily="18" charset="0"/>
              </a:rPr>
              <a:t>using analog </a:t>
            </a:r>
            <a:r>
              <a:rPr lang="en-US" sz="2800" dirty="0">
                <a:solidFill>
                  <a:schemeClr val="tx1"/>
                </a:solidFill>
                <a:latin typeface="Book Antiqua" panose="02040602050305030304" pitchFamily="18" charset="0"/>
              </a:rPr>
              <a:t>signals. </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two similar cases (000 and 111) are </a:t>
            </a:r>
            <a:r>
              <a:rPr lang="en-US" sz="2800" dirty="0" smtClean="0">
                <a:solidFill>
                  <a:schemeClr val="tx1"/>
                </a:solidFill>
                <a:latin typeface="Book Antiqua" panose="02040602050305030304" pitchFamily="18" charset="0"/>
              </a:rPr>
              <a:t>simulated with </a:t>
            </a:r>
            <a:r>
              <a:rPr lang="en-US" sz="2800" dirty="0">
                <a:solidFill>
                  <a:schemeClr val="tx1"/>
                </a:solidFill>
                <a:latin typeface="Book Antiqua" panose="02040602050305030304" pitchFamily="18" charset="0"/>
              </a:rPr>
              <a:t>a signal with frequency f =0 and a phase of 180° for 000 and a phase of 0° </a:t>
            </a:r>
            <a:r>
              <a:rPr lang="en-US" sz="2800" dirty="0" smtClean="0">
                <a:solidFill>
                  <a:schemeClr val="tx1"/>
                </a:solidFill>
                <a:latin typeface="Book Antiqua" panose="02040602050305030304" pitchFamily="18" charset="0"/>
              </a:rPr>
              <a:t>for 111.</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two worst cases (010 and 101) are simulated with an analog signal with </a:t>
            </a:r>
            <a:r>
              <a:rPr lang="en-US" sz="2800" dirty="0" err="1" smtClean="0">
                <a:solidFill>
                  <a:schemeClr val="tx1"/>
                </a:solidFill>
                <a:latin typeface="Book Antiqua" panose="02040602050305030304" pitchFamily="18" charset="0"/>
              </a:rPr>
              <a:t>frequencyf</a:t>
            </a:r>
            <a:r>
              <a:rPr lang="en-US" sz="2800" dirty="0" smtClean="0">
                <a:solidFill>
                  <a:schemeClr val="tx1"/>
                </a:solidFill>
                <a:latin typeface="Book Antiqua" panose="02040602050305030304" pitchFamily="18" charset="0"/>
              </a:rPr>
              <a:t> =N/2 </a:t>
            </a:r>
            <a:r>
              <a:rPr lang="en-US" sz="2800" dirty="0">
                <a:solidFill>
                  <a:schemeClr val="tx1"/>
                </a:solidFill>
                <a:latin typeface="Book Antiqua" panose="02040602050305030304" pitchFamily="18" charset="0"/>
              </a:rPr>
              <a:t>and phases of 180° and 0</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The </a:t>
            </a:r>
            <a:r>
              <a:rPr lang="en-US" sz="2800" dirty="0">
                <a:solidFill>
                  <a:schemeClr val="tx1"/>
                </a:solidFill>
                <a:latin typeface="Book Antiqua" panose="02040602050305030304" pitchFamily="18" charset="0"/>
              </a:rPr>
              <a:t>other four cases can only be simulated </a:t>
            </a:r>
            <a:r>
              <a:rPr lang="en-US" sz="2800" dirty="0" smtClean="0">
                <a:solidFill>
                  <a:schemeClr val="tx1"/>
                </a:solidFill>
                <a:latin typeface="Book Antiqua" panose="02040602050305030304" pitchFamily="18" charset="0"/>
              </a:rPr>
              <a:t>with an </a:t>
            </a:r>
            <a:r>
              <a:rPr lang="en-US" sz="2800" dirty="0">
                <a:solidFill>
                  <a:schemeClr val="tx1"/>
                </a:solidFill>
                <a:latin typeface="Book Antiqua" panose="02040602050305030304" pitchFamily="18" charset="0"/>
              </a:rPr>
              <a:t>analog signal with f = </a:t>
            </a:r>
            <a:r>
              <a:rPr lang="en-US" sz="2800" dirty="0" smtClean="0">
                <a:solidFill>
                  <a:schemeClr val="tx1"/>
                </a:solidFill>
                <a:latin typeface="Book Antiqua" panose="02040602050305030304" pitchFamily="18" charset="0"/>
              </a:rPr>
              <a:t>N/4 </a:t>
            </a:r>
            <a:r>
              <a:rPr lang="en-US" sz="2800" dirty="0">
                <a:solidFill>
                  <a:schemeClr val="tx1"/>
                </a:solidFill>
                <a:latin typeface="Book Antiqua" panose="02040602050305030304" pitchFamily="18" charset="0"/>
              </a:rPr>
              <a:t>and phases of 180°, 270°, 90°, and 0°.</a:t>
            </a:r>
          </a:p>
        </p:txBody>
      </p:sp>
    </p:spTree>
    <p:extLst>
      <p:ext uri="{BB962C8B-B14F-4D97-AF65-F5344CB8AC3E}">
        <p14:creationId xmlns:p14="http://schemas.microsoft.com/office/powerpoint/2010/main" val="34083726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1900" b="1" dirty="0">
                <a:latin typeface="Book Antiqua" panose="02040602050305030304" pitchFamily="18" charset="0"/>
              </a:rPr>
              <a:t>Rough approximation </a:t>
            </a:r>
            <a:r>
              <a:rPr lang="en-US" sz="1900" b="1" dirty="0" smtClean="0">
                <a:latin typeface="Book Antiqua" panose="02040602050305030304" pitchFamily="18" charset="0"/>
              </a:rPr>
              <a:t>of a </a:t>
            </a:r>
            <a:r>
              <a:rPr lang="en-US" sz="1900" b="1" dirty="0">
                <a:latin typeface="Book Antiqua" panose="02040602050305030304" pitchFamily="18" charset="0"/>
              </a:rPr>
              <a:t>digital signal using the first harmonic for worst case</a:t>
            </a: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55304"/>
            <a:ext cx="8839200" cy="6018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4083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Example-01</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 y="914400"/>
            <a:ext cx="9010650" cy="543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19419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Example-02</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 y="1581295"/>
            <a:ext cx="9010650" cy="373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97872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200" b="1" dirty="0">
                <a:latin typeface="Book Antiqua" panose="02040602050305030304" pitchFamily="18" charset="0"/>
              </a:rPr>
              <a:t>Broadband Transmission (Using Modulation)</a:t>
            </a: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Broadband transmission or modulation means changing the digital signal to an </a:t>
            </a:r>
            <a:r>
              <a:rPr lang="en-US" sz="2800" dirty="0" smtClean="0">
                <a:solidFill>
                  <a:schemeClr val="tx1"/>
                </a:solidFill>
                <a:latin typeface="Book Antiqua" panose="02040602050305030304" pitchFamily="18" charset="0"/>
              </a:rPr>
              <a:t>analog signal </a:t>
            </a:r>
            <a:r>
              <a:rPr lang="en-US" sz="2800" dirty="0">
                <a:solidFill>
                  <a:schemeClr val="tx1"/>
                </a:solidFill>
                <a:latin typeface="Book Antiqua" panose="02040602050305030304" pitchFamily="18" charset="0"/>
              </a:rPr>
              <a:t>for transmission</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Modulation allows us to use a bandpass channel-a channel </a:t>
            </a:r>
            <a:r>
              <a:rPr lang="en-US" sz="2800" dirty="0" smtClean="0">
                <a:solidFill>
                  <a:schemeClr val="tx1"/>
                </a:solidFill>
                <a:latin typeface="Book Antiqua" panose="02040602050305030304" pitchFamily="18" charset="0"/>
              </a:rPr>
              <a:t>with a </a:t>
            </a:r>
            <a:r>
              <a:rPr lang="en-US" sz="2800" dirty="0">
                <a:solidFill>
                  <a:schemeClr val="tx1"/>
                </a:solidFill>
                <a:latin typeface="Book Antiqua" panose="02040602050305030304" pitchFamily="18" charset="0"/>
              </a:rPr>
              <a:t>bandwidth that does not start from zero</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If the available channel is a bandpass channel, we cannot send the digital signal directly to the channel; </a:t>
            </a:r>
            <a:br>
              <a:rPr lang="en-US" sz="2800" dirty="0">
                <a:solidFill>
                  <a:schemeClr val="tx1"/>
                </a:solidFill>
                <a:latin typeface="Book Antiqua" panose="02040602050305030304" pitchFamily="18" charset="0"/>
              </a:rPr>
            </a:br>
            <a:r>
              <a:rPr lang="en-US" sz="2800" dirty="0">
                <a:solidFill>
                  <a:schemeClr val="tx1"/>
                </a:solidFill>
                <a:latin typeface="Book Antiqua" panose="02040602050305030304" pitchFamily="18" charset="0"/>
              </a:rPr>
              <a:t>we need to convert the digital signal to an analog signal before transmission.</a:t>
            </a: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799" y="5105400"/>
            <a:ext cx="7897813" cy="1773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72338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Broadband Transmission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200" i="1" dirty="0">
                <a:solidFill>
                  <a:schemeClr val="tx1"/>
                </a:solidFill>
                <a:latin typeface="Book Antiqua" panose="02040602050305030304" pitchFamily="18" charset="0"/>
              </a:rPr>
              <a:t>Modulation of a digital signal for transmission on a </a:t>
            </a:r>
            <a:r>
              <a:rPr lang="en-US" sz="2200" i="1" dirty="0" smtClean="0">
                <a:solidFill>
                  <a:schemeClr val="tx1"/>
                </a:solidFill>
                <a:latin typeface="Book Antiqua" panose="02040602050305030304" pitchFamily="18" charset="0"/>
              </a:rPr>
              <a:t>bandpass channel. </a:t>
            </a:r>
            <a:endParaRPr lang="en-US" sz="2200" i="1"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52" y="1579415"/>
            <a:ext cx="8904315"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66778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Transmission Impairment</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Signals travel through transmission media, which are not </a:t>
            </a:r>
            <a:r>
              <a:rPr lang="en-US" sz="2800" dirty="0" smtClean="0">
                <a:solidFill>
                  <a:schemeClr val="tx1"/>
                </a:solidFill>
                <a:latin typeface="Book Antiqua" panose="02040602050305030304" pitchFamily="18" charset="0"/>
              </a:rPr>
              <a:t>perfect.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imperfection causes signal impairment. This means that the signal at the beginning of the medium is not the same as the signal at the end of the medium</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What is sent is not what is </a:t>
            </a:r>
            <a:r>
              <a:rPr lang="en-US" sz="2800" dirty="0" smtClean="0">
                <a:solidFill>
                  <a:schemeClr val="tx1"/>
                </a:solidFill>
                <a:latin typeface="Book Antiqua" panose="02040602050305030304" pitchFamily="18" charset="0"/>
              </a:rPr>
              <a:t>received.</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Three causes of impairment are </a:t>
            </a:r>
            <a:r>
              <a:rPr lang="en-US" sz="2800" dirty="0">
                <a:solidFill>
                  <a:srgbClr val="FF0000"/>
                </a:solidFill>
                <a:latin typeface="Book Antiqua" panose="02040602050305030304" pitchFamily="18" charset="0"/>
              </a:rPr>
              <a:t>attenuation</a:t>
            </a:r>
            <a:r>
              <a:rPr lang="en-US" sz="2800" dirty="0">
                <a:solidFill>
                  <a:schemeClr val="tx1"/>
                </a:solidFill>
                <a:latin typeface="Book Antiqua" panose="02040602050305030304" pitchFamily="18" charset="0"/>
              </a:rPr>
              <a:t>, </a:t>
            </a:r>
            <a:r>
              <a:rPr lang="en-US" sz="2800" dirty="0">
                <a:solidFill>
                  <a:srgbClr val="FF0000"/>
                </a:solidFill>
                <a:latin typeface="Book Antiqua" panose="02040602050305030304" pitchFamily="18" charset="0"/>
              </a:rPr>
              <a:t>distortion</a:t>
            </a:r>
            <a:r>
              <a:rPr lang="en-US" sz="2800" dirty="0">
                <a:solidFill>
                  <a:schemeClr val="tx1"/>
                </a:solidFill>
                <a:latin typeface="Book Antiqua" panose="02040602050305030304" pitchFamily="18" charset="0"/>
              </a:rPr>
              <a:t>, and </a:t>
            </a:r>
            <a:r>
              <a:rPr lang="en-US" sz="2800" dirty="0" smtClean="0">
                <a:solidFill>
                  <a:srgbClr val="FF0000"/>
                </a:solidFill>
                <a:latin typeface="Book Antiqua" panose="02040602050305030304" pitchFamily="18" charset="0"/>
              </a:rPr>
              <a:t>noise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815" y="4745185"/>
            <a:ext cx="8001000" cy="1988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84902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a:latin typeface="Book Antiqua" panose="02040602050305030304" pitchFamily="18" charset="0"/>
              </a:rPr>
              <a:t>Attenuation</a:t>
            </a: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Attenuation means a loss of energy</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When a signal, simple or composite, </a:t>
            </a:r>
            <a:r>
              <a:rPr lang="en-US" sz="2800" dirty="0" smtClean="0">
                <a:solidFill>
                  <a:schemeClr val="tx1"/>
                </a:solidFill>
                <a:latin typeface="Book Antiqua" panose="02040602050305030304" pitchFamily="18" charset="0"/>
              </a:rPr>
              <a:t>travels through </a:t>
            </a:r>
            <a:r>
              <a:rPr lang="en-US" sz="2800" dirty="0">
                <a:solidFill>
                  <a:schemeClr val="tx1"/>
                </a:solidFill>
                <a:latin typeface="Book Antiqua" panose="02040602050305030304" pitchFamily="18" charset="0"/>
              </a:rPr>
              <a:t>a medium, it loses some of its energy in overcoming the resistance of </a:t>
            </a:r>
            <a:r>
              <a:rPr lang="en-US" sz="2800" dirty="0" smtClean="0">
                <a:solidFill>
                  <a:schemeClr val="tx1"/>
                </a:solidFill>
                <a:latin typeface="Book Antiqua" panose="02040602050305030304" pitchFamily="18" charset="0"/>
              </a:rPr>
              <a:t>the medium.</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That is why a wire carrying electric signals gets warm, if not hot, after </a:t>
            </a:r>
            <a:r>
              <a:rPr lang="en-US" sz="2800" dirty="0" smtClean="0">
                <a:solidFill>
                  <a:schemeClr val="tx1"/>
                </a:solidFill>
                <a:latin typeface="Book Antiqua" panose="02040602050305030304" pitchFamily="18" charset="0"/>
              </a:rPr>
              <a:t>a while.</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Some of the electrical energy in the signal is converted to heat</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To </a:t>
            </a:r>
            <a:r>
              <a:rPr lang="en-US" sz="2800" dirty="0" smtClean="0">
                <a:solidFill>
                  <a:schemeClr val="tx1"/>
                </a:solidFill>
                <a:latin typeface="Book Antiqua" panose="02040602050305030304" pitchFamily="18" charset="0"/>
              </a:rPr>
              <a:t>compensate for </a:t>
            </a:r>
            <a:r>
              <a:rPr lang="en-US" sz="2800" dirty="0">
                <a:solidFill>
                  <a:schemeClr val="tx1"/>
                </a:solidFill>
                <a:latin typeface="Book Antiqua" panose="02040602050305030304" pitchFamily="18" charset="0"/>
              </a:rPr>
              <a:t>this loss, amplifiers are used to amplify the signal.</a:t>
            </a:r>
          </a:p>
        </p:txBody>
      </p:sp>
    </p:spTree>
    <p:extLst>
      <p:ext uri="{BB962C8B-B14F-4D97-AF65-F5344CB8AC3E}">
        <p14:creationId xmlns:p14="http://schemas.microsoft.com/office/powerpoint/2010/main" val="23029728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Attenuation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676400"/>
            <a:ext cx="8830540" cy="3733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99628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Attenuation- Measurement </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To show the loss or gain of energy the unit “decibel” is used.</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decibel (dB) measures the relative strengths of two signals or one signal at two </a:t>
            </a:r>
            <a:r>
              <a:rPr lang="en-US" sz="2800" dirty="0" smtClean="0">
                <a:solidFill>
                  <a:schemeClr val="tx1"/>
                </a:solidFill>
                <a:latin typeface="Book Antiqua" panose="02040602050305030304" pitchFamily="18" charset="0"/>
              </a:rPr>
              <a:t>different points.</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Note that the decibel is negative if a signal is attenuated and positive if </a:t>
            </a:r>
            <a:r>
              <a:rPr lang="en-US" sz="2800" dirty="0" smtClean="0">
                <a:solidFill>
                  <a:schemeClr val="tx1"/>
                </a:solidFill>
                <a:latin typeface="Book Antiqua" panose="02040602050305030304" pitchFamily="18" charset="0"/>
              </a:rPr>
              <a:t>a signal </a:t>
            </a:r>
            <a:r>
              <a:rPr lang="en-US" sz="2800" dirty="0">
                <a:solidFill>
                  <a:schemeClr val="tx1"/>
                </a:solidFill>
                <a:latin typeface="Book Antiqua" panose="02040602050305030304" pitchFamily="18" charset="0"/>
              </a:rPr>
              <a:t>is amplified</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Decibel </a:t>
            </a:r>
            <a:r>
              <a:rPr lang="en-US" sz="2800" dirty="0">
                <a:solidFill>
                  <a:srgbClr val="FF0000"/>
                </a:solidFill>
                <a:latin typeface="Book Antiqua" panose="02040602050305030304" pitchFamily="18" charset="0"/>
              </a:rPr>
              <a:t>dB = </a:t>
            </a:r>
            <a:r>
              <a:rPr lang="en-US" sz="2800" dirty="0" smtClean="0">
                <a:solidFill>
                  <a:srgbClr val="FF0000"/>
                </a:solidFill>
                <a:latin typeface="Book Antiqua" panose="02040602050305030304" pitchFamily="18" charset="0"/>
              </a:rPr>
              <a:t>10log</a:t>
            </a:r>
            <a:r>
              <a:rPr lang="en-US" sz="1500" dirty="0" smtClean="0">
                <a:solidFill>
                  <a:srgbClr val="FF0000"/>
                </a:solidFill>
                <a:latin typeface="Book Antiqua" panose="02040602050305030304" pitchFamily="18" charset="0"/>
              </a:rPr>
              <a:t>10</a:t>
            </a:r>
            <a:r>
              <a:rPr lang="en-US" sz="2800" dirty="0" smtClean="0">
                <a:solidFill>
                  <a:srgbClr val="FF0000"/>
                </a:solidFill>
                <a:latin typeface="Book Antiqua" panose="02040602050305030304" pitchFamily="18" charset="0"/>
              </a:rPr>
              <a:t>P2/P1, </a:t>
            </a:r>
            <a:r>
              <a:rPr lang="en-US" sz="2800" dirty="0" smtClean="0">
                <a:solidFill>
                  <a:schemeClr val="tx1"/>
                </a:solidFill>
                <a:latin typeface="Book Antiqua" panose="02040602050305030304" pitchFamily="18" charset="0"/>
              </a:rPr>
              <a:t>Where</a:t>
            </a:r>
            <a:r>
              <a:rPr lang="en-US" sz="2800" dirty="0" smtClean="0">
                <a:solidFill>
                  <a:srgbClr val="FF0000"/>
                </a:solidFill>
                <a:latin typeface="Book Antiqua" panose="02040602050305030304" pitchFamily="18" charset="0"/>
              </a:rPr>
              <a:t> P1- Input Signal </a:t>
            </a:r>
            <a:r>
              <a:rPr lang="en-US" sz="2800" dirty="0" smtClean="0">
                <a:solidFill>
                  <a:schemeClr val="tx1"/>
                </a:solidFill>
                <a:latin typeface="Book Antiqua" panose="02040602050305030304" pitchFamily="18" charset="0"/>
              </a:rPr>
              <a:t>and</a:t>
            </a:r>
            <a:r>
              <a:rPr lang="en-US" sz="2800" dirty="0" smtClean="0">
                <a:solidFill>
                  <a:srgbClr val="FF0000"/>
                </a:solidFill>
                <a:latin typeface="Book Antiqua" panose="02040602050305030304" pitchFamily="18" charset="0"/>
              </a:rPr>
              <a:t> P2 - output signal.</a:t>
            </a:r>
          </a:p>
          <a:p>
            <a:pPr marL="457200" indent="-457200" algn="l">
              <a:buFont typeface="Arial" panose="020B0604020202020204" pitchFamily="34" charset="0"/>
              <a:buChar char="•"/>
            </a:pPr>
            <a:endParaRPr lang="en-US" sz="2800" dirty="0">
              <a:solidFill>
                <a:srgbClr val="FF0000"/>
              </a:solidFill>
              <a:latin typeface="Book Antiqua" panose="02040602050305030304" pitchFamily="18" charset="0"/>
            </a:endParaRPr>
          </a:p>
        </p:txBody>
      </p:sp>
    </p:spTree>
    <p:extLst>
      <p:ext uri="{BB962C8B-B14F-4D97-AF65-F5344CB8AC3E}">
        <p14:creationId xmlns:p14="http://schemas.microsoft.com/office/powerpoint/2010/main" val="26064119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Example-01</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36" y="914400"/>
            <a:ext cx="8785225" cy="202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124200"/>
            <a:ext cx="8686800" cy="9144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116" y="4619553"/>
            <a:ext cx="8778875" cy="117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4918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Example-02</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066800"/>
            <a:ext cx="8785225" cy="202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6054" y="3145509"/>
            <a:ext cx="5273523" cy="1266824"/>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005" y="4696710"/>
            <a:ext cx="5329990" cy="1046006"/>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13421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Example-03</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679" y="627063"/>
            <a:ext cx="8785225" cy="280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3733" y="3723409"/>
            <a:ext cx="3821113" cy="431800"/>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438" y="4343400"/>
            <a:ext cx="8766175" cy="233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97774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Example-04</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066800"/>
            <a:ext cx="8785225" cy="373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0538" y="5073650"/>
            <a:ext cx="4945062" cy="869950"/>
          </a:xfrm>
          <a:prstGeom prst="rect">
            <a:avLst/>
          </a:prstGeom>
          <a:noFill/>
          <a:ln w="57150" cmpd="thickThin">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14563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Example-05</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90600"/>
            <a:ext cx="8785225" cy="330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199" y="4294187"/>
            <a:ext cx="5105525" cy="2409711"/>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21992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a:latin typeface="Book Antiqua" panose="02040602050305030304" pitchFamily="18" charset="0"/>
              </a:rPr>
              <a:t>Distortion</a:t>
            </a: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b="1" dirty="0">
                <a:solidFill>
                  <a:schemeClr val="tx1"/>
                </a:solidFill>
                <a:latin typeface="Book Antiqua" panose="02040602050305030304" pitchFamily="18" charset="0"/>
              </a:rPr>
              <a:t>Distortion</a:t>
            </a:r>
            <a:r>
              <a:rPr lang="en-US" sz="2800" dirty="0">
                <a:solidFill>
                  <a:schemeClr val="tx1"/>
                </a:solidFill>
                <a:latin typeface="Book Antiqua" panose="02040602050305030304" pitchFamily="18" charset="0"/>
              </a:rPr>
              <a:t> means that the signal changes its form or shape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Distortion can occur in </a:t>
            </a:r>
            <a:r>
              <a:rPr lang="en-US" sz="2800" dirty="0" smtClean="0">
                <a:solidFill>
                  <a:schemeClr val="tx1"/>
                </a:solidFill>
                <a:latin typeface="Book Antiqua" panose="02040602050305030304" pitchFamily="18" charset="0"/>
              </a:rPr>
              <a:t>a composite </a:t>
            </a:r>
            <a:r>
              <a:rPr lang="en-US" sz="2800" dirty="0">
                <a:solidFill>
                  <a:schemeClr val="tx1"/>
                </a:solidFill>
                <a:latin typeface="Book Antiqua" panose="02040602050305030304" pitchFamily="18" charset="0"/>
              </a:rPr>
              <a:t>signal made of different frequencies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Each signal component has its own propagation speed through a medium and its </a:t>
            </a:r>
            <a:r>
              <a:rPr lang="en-US" sz="2800" dirty="0" smtClean="0">
                <a:solidFill>
                  <a:schemeClr val="tx1"/>
                </a:solidFill>
                <a:latin typeface="Book Antiqua" panose="02040602050305030304" pitchFamily="18" charset="0"/>
              </a:rPr>
              <a:t>own delay </a:t>
            </a:r>
            <a:r>
              <a:rPr lang="en-US" sz="2800" dirty="0">
                <a:solidFill>
                  <a:schemeClr val="tx1"/>
                </a:solidFill>
                <a:latin typeface="Book Antiqua" panose="02040602050305030304" pitchFamily="18" charset="0"/>
              </a:rPr>
              <a:t>in arriving at the final </a:t>
            </a:r>
            <a:r>
              <a:rPr lang="en-US" sz="2800" dirty="0" smtClean="0">
                <a:solidFill>
                  <a:schemeClr val="tx1"/>
                </a:solidFill>
                <a:latin typeface="Book Antiqua" panose="02040602050305030304" pitchFamily="18" charset="0"/>
              </a:rPr>
              <a:t>destination.</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 other words, </a:t>
            </a:r>
            <a:r>
              <a:rPr lang="en-US" sz="2800" dirty="0" smtClean="0">
                <a:solidFill>
                  <a:schemeClr val="tx1"/>
                </a:solidFill>
                <a:latin typeface="Book Antiqua" panose="02040602050305030304" pitchFamily="18" charset="0"/>
              </a:rPr>
              <a:t>signal components </a:t>
            </a:r>
            <a:r>
              <a:rPr lang="en-US" sz="2800" dirty="0">
                <a:solidFill>
                  <a:schemeClr val="tx1"/>
                </a:solidFill>
                <a:latin typeface="Book Antiqua" panose="02040602050305030304" pitchFamily="18" charset="0"/>
              </a:rPr>
              <a:t>at the receiver have phases different from what they had at the sender</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The shape </a:t>
            </a:r>
            <a:r>
              <a:rPr lang="en-US" sz="2800" dirty="0">
                <a:solidFill>
                  <a:schemeClr val="tx1"/>
                </a:solidFill>
                <a:latin typeface="Book Antiqua" panose="02040602050305030304" pitchFamily="18" charset="0"/>
              </a:rPr>
              <a:t>of the composite signal is therefore not the same.</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2184407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Distortion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577" y="1676400"/>
            <a:ext cx="8882921" cy="3429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62180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Noise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lnSpcReduction="10000"/>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Several types of noise, such as thermal </a:t>
            </a:r>
            <a:r>
              <a:rPr lang="en-US" sz="2800" dirty="0" smtClean="0">
                <a:solidFill>
                  <a:schemeClr val="tx1"/>
                </a:solidFill>
                <a:latin typeface="Book Antiqua" panose="02040602050305030304" pitchFamily="18" charset="0"/>
              </a:rPr>
              <a:t>noise, induced </a:t>
            </a:r>
            <a:r>
              <a:rPr lang="en-US" sz="2800" dirty="0">
                <a:solidFill>
                  <a:schemeClr val="tx1"/>
                </a:solidFill>
                <a:latin typeface="Book Antiqua" panose="02040602050305030304" pitchFamily="18" charset="0"/>
              </a:rPr>
              <a:t>noise, crosstalk, and impulse noise, may corrupt the </a:t>
            </a:r>
            <a:r>
              <a:rPr lang="en-US" sz="2800" dirty="0" smtClean="0">
                <a:solidFill>
                  <a:schemeClr val="tx1"/>
                </a:solidFill>
                <a:latin typeface="Book Antiqua" panose="02040602050305030304" pitchFamily="18" charset="0"/>
              </a:rPr>
              <a:t>signal.</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Thermal noise </a:t>
            </a:r>
            <a:r>
              <a:rPr lang="en-US" sz="2800" dirty="0" smtClean="0">
                <a:solidFill>
                  <a:schemeClr val="tx1"/>
                </a:solidFill>
                <a:latin typeface="Book Antiqua" panose="02040602050305030304" pitchFamily="18" charset="0"/>
              </a:rPr>
              <a:t>is the </a:t>
            </a:r>
            <a:r>
              <a:rPr lang="en-US" sz="2800" dirty="0">
                <a:solidFill>
                  <a:schemeClr val="tx1"/>
                </a:solidFill>
                <a:latin typeface="Book Antiqua" panose="02040602050305030304" pitchFamily="18" charset="0"/>
              </a:rPr>
              <a:t>random motion of electrons in a wire which creates an extra signal not </a:t>
            </a:r>
            <a:r>
              <a:rPr lang="en-US" sz="2800" dirty="0" smtClean="0">
                <a:solidFill>
                  <a:schemeClr val="tx1"/>
                </a:solidFill>
                <a:latin typeface="Book Antiqua" panose="02040602050305030304" pitchFamily="18" charset="0"/>
              </a:rPr>
              <a:t>originally sent </a:t>
            </a:r>
            <a:r>
              <a:rPr lang="en-US" sz="2800" dirty="0">
                <a:solidFill>
                  <a:schemeClr val="tx1"/>
                </a:solidFill>
                <a:latin typeface="Book Antiqua" panose="02040602050305030304" pitchFamily="18" charset="0"/>
              </a:rPr>
              <a:t>by the transmitter</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Induced noise comes from sources such as motors and appliances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Crosstalk is the effect of one wire on the other. One wire acts as a sending antenna and the other as the receiving antenna.</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Impulse noise is a spike (a </a:t>
            </a:r>
            <a:r>
              <a:rPr lang="en-US" sz="2800" dirty="0" smtClean="0">
                <a:solidFill>
                  <a:schemeClr val="tx1"/>
                </a:solidFill>
                <a:latin typeface="Book Antiqua" panose="02040602050305030304" pitchFamily="18" charset="0"/>
              </a:rPr>
              <a:t>signal with </a:t>
            </a:r>
            <a:r>
              <a:rPr lang="en-US" sz="2800" dirty="0">
                <a:solidFill>
                  <a:schemeClr val="tx1"/>
                </a:solidFill>
                <a:latin typeface="Book Antiqua" panose="02040602050305030304" pitchFamily="18" charset="0"/>
              </a:rPr>
              <a:t>high energy in a very short time) that comes from power lines, lightning, and </a:t>
            </a:r>
            <a:r>
              <a:rPr lang="en-US" sz="2800" dirty="0" smtClean="0">
                <a:solidFill>
                  <a:schemeClr val="tx1"/>
                </a:solidFill>
                <a:latin typeface="Book Antiqua" panose="02040602050305030304" pitchFamily="18" charset="0"/>
              </a:rPr>
              <a:t>so on</a:t>
            </a:r>
            <a:r>
              <a:rPr lang="en-US" sz="2800" dirty="0">
                <a:solidFill>
                  <a:schemeClr val="tx1"/>
                </a:solidFill>
                <a:latin typeface="Book Antiqua" panose="02040602050305030304" pitchFamily="18" charset="0"/>
              </a:rPr>
              <a:t>.</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31118613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Noise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074" y="1981200"/>
            <a:ext cx="8672001"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47081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a:latin typeface="Book Antiqua" panose="02040602050305030304" pitchFamily="18" charset="0"/>
              </a:rPr>
              <a:t>Signal to Noise Ratio (SNR)</a:t>
            </a: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To measure the quality of a system the SNR is often used. </a:t>
            </a: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It </a:t>
            </a:r>
            <a:r>
              <a:rPr lang="en-US" sz="2800" dirty="0">
                <a:solidFill>
                  <a:schemeClr val="tx1"/>
                </a:solidFill>
                <a:latin typeface="Book Antiqua" panose="02040602050305030304" pitchFamily="18" charset="0"/>
              </a:rPr>
              <a:t>indicates the strength of the signal </a:t>
            </a:r>
            <a:r>
              <a:rPr lang="en-US" sz="2800" dirty="0" err="1">
                <a:solidFill>
                  <a:schemeClr val="tx1"/>
                </a:solidFill>
                <a:latin typeface="Book Antiqua" panose="02040602050305030304" pitchFamily="18" charset="0"/>
              </a:rPr>
              <a:t>wrt</a:t>
            </a:r>
            <a:r>
              <a:rPr lang="en-US" sz="2800" dirty="0">
                <a:solidFill>
                  <a:schemeClr val="tx1"/>
                </a:solidFill>
                <a:latin typeface="Book Antiqua" panose="02040602050305030304" pitchFamily="18" charset="0"/>
              </a:rPr>
              <a:t> the noise power in the </a:t>
            </a:r>
            <a:r>
              <a:rPr lang="en-US" sz="2800" dirty="0" smtClean="0">
                <a:solidFill>
                  <a:schemeClr val="tx1"/>
                </a:solidFill>
                <a:latin typeface="Book Antiqua" panose="02040602050305030304" pitchFamily="18" charset="0"/>
              </a:rPr>
              <a:t>system.</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to find the theoretical bit rate limit, we need to know the ratio </a:t>
            </a:r>
            <a:r>
              <a:rPr lang="en-US" sz="2800" dirty="0" smtClean="0">
                <a:solidFill>
                  <a:schemeClr val="tx1"/>
                </a:solidFill>
                <a:latin typeface="Book Antiqua" panose="02040602050305030304" pitchFamily="18" charset="0"/>
              </a:rPr>
              <a:t>of the </a:t>
            </a:r>
            <a:r>
              <a:rPr lang="en-US" sz="2800" dirty="0">
                <a:solidFill>
                  <a:schemeClr val="tx1"/>
                </a:solidFill>
                <a:latin typeface="Book Antiqua" panose="02040602050305030304" pitchFamily="18" charset="0"/>
              </a:rPr>
              <a:t>signal power to the noise power.</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It </a:t>
            </a:r>
            <a:r>
              <a:rPr lang="en-US" sz="2800" dirty="0">
                <a:solidFill>
                  <a:schemeClr val="tx1"/>
                </a:solidFill>
                <a:latin typeface="Book Antiqua" panose="02040602050305030304" pitchFamily="18" charset="0"/>
              </a:rPr>
              <a:t>is usually given in dB and referred to as </a:t>
            </a:r>
            <a:r>
              <a:rPr lang="en-US" sz="2800" dirty="0" err="1" smtClean="0">
                <a:solidFill>
                  <a:schemeClr val="tx1"/>
                </a:solidFill>
                <a:latin typeface="Book Antiqua" panose="02040602050305030304" pitchFamily="18" charset="0"/>
              </a:rPr>
              <a:t>SNRdB</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signal-to-noise ratio is defined </a:t>
            </a:r>
            <a:r>
              <a:rPr lang="en-US" sz="2800" dirty="0" smtClean="0">
                <a:solidFill>
                  <a:schemeClr val="tx1"/>
                </a:solidFill>
                <a:latin typeface="Book Antiqua" panose="02040602050305030304" pitchFamily="18" charset="0"/>
              </a:rPr>
              <a:t>as</a:t>
            </a:r>
            <a:endParaRPr lang="en-US" sz="1600" dirty="0">
              <a:solidFill>
                <a:schemeClr val="tx1"/>
              </a:solidFill>
              <a:latin typeface="Book Antiqua" panose="02040602050305030304" pitchFamily="18" charset="0"/>
            </a:endParaRPr>
          </a:p>
          <a:p>
            <a:r>
              <a:rPr lang="en-US" sz="2000" b="1" dirty="0" smtClean="0">
                <a:solidFill>
                  <a:srgbClr val="FF0000"/>
                </a:solidFill>
                <a:latin typeface="Book Antiqua" panose="02040602050305030304" pitchFamily="18" charset="0"/>
              </a:rPr>
              <a:t>SNR= Average signal power/average noise power.</a:t>
            </a:r>
            <a:endParaRPr lang="en-US" sz="2000" b="1" dirty="0">
              <a:solidFill>
                <a:srgbClr val="FF0000"/>
              </a:solidFill>
              <a:latin typeface="Book Antiqua" panose="02040602050305030304" pitchFamily="18" charset="0"/>
            </a:endParaRP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We need to consider average signal and noise power because these </a:t>
            </a:r>
            <a:r>
              <a:rPr lang="en-US" sz="2800" dirty="0">
                <a:solidFill>
                  <a:schemeClr val="tx1"/>
                </a:solidFill>
                <a:latin typeface="Book Antiqua" panose="02040602050305030304" pitchFamily="18" charset="0"/>
              </a:rPr>
              <a:t>may change with time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SNR is actually the ratio of what is wanted (signal) to what is not wanted (noise).</a:t>
            </a:r>
            <a:endParaRPr lang="en-US" sz="2800" dirty="0" smtClean="0">
              <a:solidFill>
                <a:schemeClr val="tx1"/>
              </a:solidFill>
              <a:latin typeface="Book Antiqua" panose="02040602050305030304" pitchFamily="18" charset="0"/>
            </a:endParaRPr>
          </a:p>
        </p:txBody>
      </p:sp>
    </p:spTree>
    <p:extLst>
      <p:ext uri="{BB962C8B-B14F-4D97-AF65-F5344CB8AC3E}">
        <p14:creationId xmlns:p14="http://schemas.microsoft.com/office/powerpoint/2010/main" val="20004830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2 cases- High SNR and Low SNR</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400" dirty="0">
                <a:solidFill>
                  <a:schemeClr val="tx1"/>
                </a:solidFill>
                <a:latin typeface="Book Antiqua" panose="02040602050305030304" pitchFamily="18" charset="0"/>
              </a:rPr>
              <a:t>A high SNR means the signal is less corrupted by noise; a low SNR means the signal </a:t>
            </a:r>
            <a:r>
              <a:rPr lang="en-US" sz="2400" dirty="0" smtClean="0">
                <a:solidFill>
                  <a:schemeClr val="tx1"/>
                </a:solidFill>
                <a:latin typeface="Book Antiqua" panose="02040602050305030304" pitchFamily="18" charset="0"/>
              </a:rPr>
              <a:t>is more </a:t>
            </a:r>
            <a:r>
              <a:rPr lang="en-US" sz="2400" dirty="0">
                <a:solidFill>
                  <a:schemeClr val="tx1"/>
                </a:solidFill>
                <a:latin typeface="Book Antiqua" panose="02040602050305030304" pitchFamily="18" charset="0"/>
              </a:rPr>
              <a:t>corrupted by noise</a:t>
            </a:r>
            <a:r>
              <a:rPr lang="en-US" sz="24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400" dirty="0" smtClean="0">
                <a:solidFill>
                  <a:schemeClr val="tx1"/>
                </a:solidFill>
                <a:latin typeface="Book Antiqua" panose="02040602050305030304" pitchFamily="18" charset="0"/>
              </a:rPr>
              <a:t>Because SNR is the ratio of two powers, it is often described in decibel units, </a:t>
            </a:r>
            <a:r>
              <a:rPr lang="en-US" sz="2400" dirty="0" err="1" smtClean="0">
                <a:solidFill>
                  <a:schemeClr val="tx1"/>
                </a:solidFill>
                <a:latin typeface="Book Antiqua" panose="02040602050305030304" pitchFamily="18" charset="0"/>
              </a:rPr>
              <a:t>SNRdB</a:t>
            </a:r>
            <a:r>
              <a:rPr lang="en-US" sz="2400" dirty="0" smtClean="0">
                <a:solidFill>
                  <a:schemeClr val="tx1"/>
                </a:solidFill>
                <a:latin typeface="Book Antiqua" panose="02040602050305030304" pitchFamily="18" charset="0"/>
              </a:rPr>
              <a:t>, defined as</a:t>
            </a:r>
            <a:r>
              <a:rPr lang="en-US" sz="2400" dirty="0">
                <a:solidFill>
                  <a:schemeClr val="tx1"/>
                </a:solidFill>
                <a:latin typeface="Book Antiqua" panose="02040602050305030304" pitchFamily="18" charset="0"/>
              </a:rPr>
              <a:t>, </a:t>
            </a:r>
            <a:endParaRPr lang="en-US" sz="2400" dirty="0" smtClean="0">
              <a:solidFill>
                <a:schemeClr val="tx1"/>
              </a:solidFill>
              <a:latin typeface="Book Antiqua" panose="02040602050305030304" pitchFamily="18" charset="0"/>
            </a:endParaRPr>
          </a:p>
          <a:p>
            <a:pPr algn="l"/>
            <a:r>
              <a:rPr lang="en-US" sz="2800" dirty="0">
                <a:solidFill>
                  <a:schemeClr val="tx1"/>
                </a:solidFill>
                <a:latin typeface="Book Antiqua" panose="02040602050305030304" pitchFamily="18" charset="0"/>
              </a:rPr>
              <a:t> </a:t>
            </a:r>
            <a:r>
              <a:rPr lang="en-US" sz="2800" dirty="0" smtClean="0">
                <a:solidFill>
                  <a:schemeClr val="tx1"/>
                </a:solidFill>
                <a:latin typeface="Book Antiqua" panose="02040602050305030304" pitchFamily="18" charset="0"/>
              </a:rPr>
              <a:t>                               </a:t>
            </a:r>
            <a:r>
              <a:rPr lang="en-US" sz="2400" b="1" dirty="0" err="1" smtClean="0">
                <a:solidFill>
                  <a:srgbClr val="FF0000"/>
                </a:solidFill>
                <a:latin typeface="Book Antiqua" panose="02040602050305030304" pitchFamily="18" charset="0"/>
              </a:rPr>
              <a:t>SNRdb</a:t>
            </a:r>
            <a:r>
              <a:rPr lang="en-US" sz="2400" b="1" dirty="0" smtClean="0">
                <a:solidFill>
                  <a:srgbClr val="FF0000"/>
                </a:solidFill>
                <a:latin typeface="Book Antiqua" panose="02040602050305030304" pitchFamily="18" charset="0"/>
              </a:rPr>
              <a:t> </a:t>
            </a:r>
            <a:r>
              <a:rPr lang="en-US" sz="2400" b="1" dirty="0">
                <a:solidFill>
                  <a:srgbClr val="FF0000"/>
                </a:solidFill>
                <a:latin typeface="Book Antiqua" panose="02040602050305030304" pitchFamily="18" charset="0"/>
              </a:rPr>
              <a:t>= </a:t>
            </a:r>
            <a:r>
              <a:rPr lang="en-US" sz="2400" b="1" dirty="0" smtClean="0">
                <a:solidFill>
                  <a:srgbClr val="FF0000"/>
                </a:solidFill>
                <a:latin typeface="Book Antiqua" panose="02040602050305030304" pitchFamily="18" charset="0"/>
              </a:rPr>
              <a:t>l0log10 SNR.</a:t>
            </a:r>
          </a:p>
          <a:p>
            <a:pPr algn="l"/>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812" y="2743200"/>
            <a:ext cx="8281987" cy="406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57801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Noiseless scenario </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36" y="1143000"/>
            <a:ext cx="8785225" cy="116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3912" y="2514600"/>
            <a:ext cx="4846671" cy="1531937"/>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36" y="4419600"/>
            <a:ext cx="8682037"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28045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Example-01</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8200"/>
            <a:ext cx="8785225" cy="287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4267200"/>
            <a:ext cx="7025574" cy="1371600"/>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61772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Data Rate Limits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 very important consideration in </a:t>
            </a:r>
            <a:r>
              <a:rPr lang="en-US" sz="2800" dirty="0" smtClean="0">
                <a:solidFill>
                  <a:schemeClr val="tx1"/>
                </a:solidFill>
                <a:latin typeface="Book Antiqua" panose="02040602050305030304" pitchFamily="18" charset="0"/>
              </a:rPr>
              <a:t>data communications </a:t>
            </a:r>
            <a:r>
              <a:rPr lang="en-US" sz="2800" dirty="0">
                <a:solidFill>
                  <a:schemeClr val="tx1"/>
                </a:solidFill>
                <a:latin typeface="Book Antiqua" panose="02040602050305030304" pitchFamily="18" charset="0"/>
              </a:rPr>
              <a:t>is how fast we can send data, </a:t>
            </a:r>
            <a:r>
              <a:rPr lang="en-US" sz="2800" dirty="0" smtClean="0">
                <a:solidFill>
                  <a:schemeClr val="tx1"/>
                </a:solidFill>
                <a:latin typeface="Book Antiqua" panose="02040602050305030304" pitchFamily="18" charset="0"/>
              </a:rPr>
              <a:t>in bits </a:t>
            </a:r>
            <a:r>
              <a:rPr lang="en-US" sz="2800" dirty="0">
                <a:solidFill>
                  <a:schemeClr val="tx1"/>
                </a:solidFill>
                <a:latin typeface="Book Antiqua" panose="02040602050305030304" pitchFamily="18" charset="0"/>
              </a:rPr>
              <a:t>per second</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over a channel. Data rate depends on three factors</a:t>
            </a:r>
            <a:r>
              <a:rPr lang="en-US" sz="2800" dirty="0" smtClean="0">
                <a:solidFill>
                  <a:schemeClr val="tx1"/>
                </a:solidFill>
                <a:latin typeface="Book Antiqua" panose="02040602050305030304" pitchFamily="18" charset="0"/>
              </a:rPr>
              <a:t>:</a:t>
            </a:r>
          </a:p>
          <a:p>
            <a:pPr marL="914400" lvl="1" indent="-457200" algn="l">
              <a:buFont typeface="+mj-lt"/>
              <a:buAutoNum type="arabicPeriod"/>
            </a:pPr>
            <a:r>
              <a:rPr lang="en-US" sz="2200" dirty="0">
                <a:solidFill>
                  <a:srgbClr val="FF0000"/>
                </a:solidFill>
                <a:latin typeface="Book Antiqua" panose="02040602050305030304" pitchFamily="18" charset="0"/>
              </a:rPr>
              <a:t>The bandwidth available</a:t>
            </a:r>
          </a:p>
          <a:p>
            <a:pPr marL="914400" lvl="1" indent="-457200" algn="l">
              <a:buFont typeface="+mj-lt"/>
              <a:buAutoNum type="arabicPeriod"/>
            </a:pPr>
            <a:r>
              <a:rPr lang="en-US" sz="2200" dirty="0" smtClean="0">
                <a:solidFill>
                  <a:srgbClr val="FF0000"/>
                </a:solidFill>
                <a:latin typeface="Book Antiqua" panose="02040602050305030304" pitchFamily="18" charset="0"/>
              </a:rPr>
              <a:t>The </a:t>
            </a:r>
            <a:r>
              <a:rPr lang="en-US" sz="2200" dirty="0">
                <a:solidFill>
                  <a:srgbClr val="FF0000"/>
                </a:solidFill>
                <a:latin typeface="Book Antiqua" panose="02040602050305030304" pitchFamily="18" charset="0"/>
              </a:rPr>
              <a:t>level of the signals we use</a:t>
            </a:r>
          </a:p>
          <a:p>
            <a:pPr marL="914400" lvl="1" indent="-457200" algn="l">
              <a:buFont typeface="+mj-lt"/>
              <a:buAutoNum type="arabicPeriod"/>
            </a:pPr>
            <a:r>
              <a:rPr lang="en-US" sz="2200" dirty="0" smtClean="0">
                <a:solidFill>
                  <a:srgbClr val="FF0000"/>
                </a:solidFill>
                <a:latin typeface="Book Antiqua" panose="02040602050305030304" pitchFamily="18" charset="0"/>
              </a:rPr>
              <a:t>The </a:t>
            </a:r>
            <a:r>
              <a:rPr lang="en-US" sz="2200" dirty="0">
                <a:solidFill>
                  <a:srgbClr val="FF0000"/>
                </a:solidFill>
                <a:latin typeface="Book Antiqua" panose="02040602050305030304" pitchFamily="18" charset="0"/>
              </a:rPr>
              <a:t>quality of the channel (the level of noise</a:t>
            </a:r>
            <a:r>
              <a:rPr lang="en-US" sz="2200" dirty="0" smtClean="0">
                <a:solidFill>
                  <a:srgbClr val="FF0000"/>
                </a:solidFill>
                <a:latin typeface="Book Antiqua" panose="02040602050305030304" pitchFamily="18" charset="0"/>
              </a:rPr>
              <a:t>).</a:t>
            </a:r>
            <a:endParaRPr lang="en-US" sz="2200" dirty="0">
              <a:solidFill>
                <a:srgbClr val="FF0000"/>
              </a:solidFill>
              <a:latin typeface="Book Antiqua" panose="02040602050305030304" pitchFamily="18" charset="0"/>
            </a:endParaRPr>
          </a:p>
          <a:p>
            <a:pPr marL="342900" indent="-342900" algn="l">
              <a:buFont typeface="Arial" panose="020B0604020202020204" pitchFamily="34" charset="0"/>
              <a:buChar char="•"/>
            </a:pPr>
            <a:r>
              <a:rPr lang="en-US" sz="2600" dirty="0">
                <a:solidFill>
                  <a:schemeClr val="tx1"/>
                </a:solidFill>
                <a:latin typeface="Book Antiqua" panose="02040602050305030304" pitchFamily="18" charset="0"/>
              </a:rPr>
              <a:t>Two theoretical formulas were developed to calculate the data rate</a:t>
            </a:r>
            <a:r>
              <a:rPr lang="en-US" sz="2600" dirty="0" smtClean="0">
                <a:solidFill>
                  <a:schemeClr val="tx1"/>
                </a:solidFill>
                <a:latin typeface="Book Antiqua" panose="02040602050305030304" pitchFamily="18" charset="0"/>
              </a:rPr>
              <a:t>:</a:t>
            </a:r>
          </a:p>
          <a:p>
            <a:pPr marL="914400" lvl="1" indent="-457200" algn="l">
              <a:buFont typeface="+mj-lt"/>
              <a:buAutoNum type="arabicPeriod"/>
            </a:pPr>
            <a:r>
              <a:rPr lang="en-US" sz="2200" dirty="0">
                <a:solidFill>
                  <a:srgbClr val="FF0000"/>
                </a:solidFill>
                <a:latin typeface="Book Antiqua" panose="02040602050305030304" pitchFamily="18" charset="0"/>
              </a:rPr>
              <a:t>one by Nyquist for a noiseless channel.</a:t>
            </a:r>
          </a:p>
          <a:p>
            <a:pPr marL="914400" lvl="1" indent="-457200" algn="l">
              <a:buFont typeface="+mj-lt"/>
              <a:buAutoNum type="arabicPeriod"/>
            </a:pPr>
            <a:r>
              <a:rPr lang="en-US" sz="2200" dirty="0">
                <a:solidFill>
                  <a:srgbClr val="FF0000"/>
                </a:solidFill>
                <a:latin typeface="Book Antiqua" panose="02040602050305030304" pitchFamily="18" charset="0"/>
              </a:rPr>
              <a:t>another by Shannon for a noisy channel.</a:t>
            </a:r>
          </a:p>
        </p:txBody>
      </p:sp>
    </p:spTree>
    <p:extLst>
      <p:ext uri="{BB962C8B-B14F-4D97-AF65-F5344CB8AC3E}">
        <p14:creationId xmlns:p14="http://schemas.microsoft.com/office/powerpoint/2010/main" val="30783161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a:latin typeface="Book Antiqua" panose="02040602050305030304" pitchFamily="18" charset="0"/>
              </a:rPr>
              <a:t>Noiseless Channel: Nyquist Bit Rate</a:t>
            </a:r>
          </a:p>
        </p:txBody>
      </p:sp>
      <p:sp>
        <p:nvSpPr>
          <p:cNvPr id="3" name="Subtitle 2"/>
          <p:cNvSpPr>
            <a:spLocks noGrp="1"/>
          </p:cNvSpPr>
          <p:nvPr>
            <p:ph type="subTitle" idx="1"/>
          </p:nvPr>
        </p:nvSpPr>
        <p:spPr>
          <a:xfrm>
            <a:off x="0" y="685800"/>
            <a:ext cx="9144000" cy="6172200"/>
          </a:xfrm>
        </p:spPr>
        <p:txBody>
          <a:bodyPr>
            <a:normAutofit lnSpcReduction="10000"/>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For a noiseless channel, the Nyquist bit rate formula defines the theoretical </a:t>
            </a:r>
            <a:r>
              <a:rPr lang="en-US" sz="2800" dirty="0" smtClean="0">
                <a:solidFill>
                  <a:schemeClr val="tx1"/>
                </a:solidFill>
                <a:latin typeface="Book Antiqua" panose="02040602050305030304" pitchFamily="18" charset="0"/>
              </a:rPr>
              <a:t>maximum bit rate.</a:t>
            </a:r>
          </a:p>
          <a:p>
            <a:r>
              <a:rPr lang="de-DE" sz="2800" dirty="0">
                <a:solidFill>
                  <a:srgbClr val="FF0000"/>
                </a:solidFill>
                <a:latin typeface="Book Antiqua" panose="02040602050305030304" pitchFamily="18" charset="0"/>
              </a:rPr>
              <a:t>BitRate = 2 x bandwidth x </a:t>
            </a:r>
            <a:r>
              <a:rPr lang="de-DE" sz="2800" dirty="0" smtClean="0">
                <a:solidFill>
                  <a:srgbClr val="FF0000"/>
                </a:solidFill>
                <a:latin typeface="Book Antiqua" panose="02040602050305030304" pitchFamily="18" charset="0"/>
              </a:rPr>
              <a:t>log</a:t>
            </a:r>
            <a:r>
              <a:rPr lang="de-DE" sz="1600" b="1" dirty="0" smtClean="0">
                <a:solidFill>
                  <a:srgbClr val="FF0000"/>
                </a:solidFill>
                <a:latin typeface="Book Antiqua" panose="02040602050305030304" pitchFamily="18" charset="0"/>
              </a:rPr>
              <a:t>2</a:t>
            </a:r>
            <a:r>
              <a:rPr lang="de-DE" sz="2800" dirty="0" smtClean="0">
                <a:solidFill>
                  <a:srgbClr val="FF0000"/>
                </a:solidFill>
                <a:latin typeface="Book Antiqua" panose="02040602050305030304" pitchFamily="18" charset="0"/>
              </a:rPr>
              <a:t> L</a:t>
            </a:r>
          </a:p>
          <a:p>
            <a:pPr marL="457200" indent="-457200" algn="l">
              <a:buFont typeface="Arial" panose="020B0604020202020204" pitchFamily="34" charset="0"/>
              <a:buChar char="•"/>
            </a:pPr>
            <a:r>
              <a:rPr lang="de-DE" sz="2800" dirty="0" smtClean="0">
                <a:solidFill>
                  <a:schemeClr val="tx1"/>
                </a:solidFill>
                <a:latin typeface="Book Antiqua" panose="02040602050305030304" pitchFamily="18" charset="0"/>
              </a:rPr>
              <a:t>L is the number of signals level used to represent the data and bit rate is maximum number of bits you can send in a second.</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we </a:t>
            </a:r>
            <a:r>
              <a:rPr lang="en-US" sz="2800" dirty="0" smtClean="0">
                <a:solidFill>
                  <a:schemeClr val="tx1"/>
                </a:solidFill>
                <a:latin typeface="Book Antiqua" panose="02040602050305030304" pitchFamily="18" charset="0"/>
              </a:rPr>
              <a:t>can have </a:t>
            </a:r>
            <a:r>
              <a:rPr lang="en-US" sz="2800" dirty="0">
                <a:solidFill>
                  <a:schemeClr val="tx1"/>
                </a:solidFill>
                <a:latin typeface="Book Antiqua" panose="02040602050305030304" pitchFamily="18" charset="0"/>
              </a:rPr>
              <a:t>any bit rate we want by increasing the number of </a:t>
            </a:r>
            <a:r>
              <a:rPr lang="en-US" sz="2800" dirty="0" smtClean="0">
                <a:solidFill>
                  <a:schemeClr val="tx1"/>
                </a:solidFill>
                <a:latin typeface="Book Antiqua" panose="02040602050305030304" pitchFamily="18" charset="0"/>
              </a:rPr>
              <a:t>signal levels.</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But </a:t>
            </a:r>
            <a:r>
              <a:rPr lang="en-US" sz="2800" dirty="0" smtClean="0">
                <a:solidFill>
                  <a:schemeClr val="tx1"/>
                </a:solidFill>
                <a:latin typeface="Book Antiqua" panose="02040602050305030304" pitchFamily="18" charset="0"/>
              </a:rPr>
              <a:t>when </a:t>
            </a:r>
            <a:r>
              <a:rPr lang="en-US" sz="2800" dirty="0">
                <a:solidFill>
                  <a:schemeClr val="tx1"/>
                </a:solidFill>
                <a:latin typeface="Book Antiqua" panose="02040602050305030304" pitchFamily="18" charset="0"/>
              </a:rPr>
              <a:t>we increase the number of </a:t>
            </a:r>
            <a:r>
              <a:rPr lang="en-US" sz="2800" dirty="0" smtClean="0">
                <a:solidFill>
                  <a:schemeClr val="tx1"/>
                </a:solidFill>
                <a:latin typeface="Book Antiqua" panose="02040602050305030304" pitchFamily="18" charset="0"/>
              </a:rPr>
              <a:t>signal1eve1s, we </a:t>
            </a:r>
            <a:r>
              <a:rPr lang="en-US" sz="2800" dirty="0">
                <a:solidFill>
                  <a:schemeClr val="tx1"/>
                </a:solidFill>
                <a:latin typeface="Book Antiqua" panose="02040602050305030304" pitchFamily="18" charset="0"/>
              </a:rPr>
              <a:t>impose a burden on the receiver</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If the number of levels in a signal is just </a:t>
            </a:r>
            <a:r>
              <a:rPr lang="en-US" sz="2800" dirty="0" smtClean="0">
                <a:solidFill>
                  <a:schemeClr val="tx1"/>
                </a:solidFill>
                <a:latin typeface="Book Antiqua" panose="02040602050305030304" pitchFamily="18" charset="0"/>
              </a:rPr>
              <a:t>2, the </a:t>
            </a:r>
            <a:r>
              <a:rPr lang="en-US" sz="2800" dirty="0">
                <a:solidFill>
                  <a:schemeClr val="tx1"/>
                </a:solidFill>
                <a:latin typeface="Book Antiqua" panose="02040602050305030304" pitchFamily="18" charset="0"/>
              </a:rPr>
              <a:t>receiver can easily distinguish between a 0 and a 1</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rgbClr val="FF0000"/>
                </a:solidFill>
                <a:latin typeface="Book Antiqua" panose="02040602050305030304" pitchFamily="18" charset="0"/>
              </a:rPr>
              <a:t>Increasing </a:t>
            </a:r>
            <a:r>
              <a:rPr lang="en-US" sz="2800" dirty="0">
                <a:solidFill>
                  <a:srgbClr val="FF0000"/>
                </a:solidFill>
                <a:latin typeface="Book Antiqua" panose="02040602050305030304" pitchFamily="18" charset="0"/>
              </a:rPr>
              <a:t>the levels of a signal reduces the reliability of the system.</a:t>
            </a:r>
            <a:endParaRPr lang="de-DE" sz="2800" dirty="0" smtClean="0">
              <a:solidFill>
                <a:srgbClr val="FF0000"/>
              </a:solidFill>
              <a:latin typeface="Book Antiqua" panose="02040602050305030304" pitchFamily="18" charset="0"/>
            </a:endParaRPr>
          </a:p>
          <a:p>
            <a:pPr algn="l"/>
            <a:endParaRPr lang="en-US" sz="2800"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41291834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Example-01</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09" y="914400"/>
            <a:ext cx="8785225" cy="159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627" y="2781444"/>
            <a:ext cx="6903387" cy="55721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09" y="3657600"/>
            <a:ext cx="8785225" cy="160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3487" y="5486400"/>
            <a:ext cx="6948527" cy="650588"/>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60710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Example-02</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82" y="609600"/>
            <a:ext cx="8785225" cy="245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9562" y="3429000"/>
            <a:ext cx="5427663" cy="7556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440238"/>
            <a:ext cx="8778875" cy="202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4888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a:latin typeface="Book Antiqua" panose="02040602050305030304" pitchFamily="18" charset="0"/>
              </a:rPr>
              <a:t>Noisy Channel: Shannon Capacity</a:t>
            </a: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 reality, we cannot have a noiseless channel; the channel is always noisy</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 </a:t>
            </a:r>
            <a:r>
              <a:rPr lang="en-US" sz="2800" dirty="0" smtClean="0">
                <a:solidFill>
                  <a:schemeClr val="tx1"/>
                </a:solidFill>
                <a:latin typeface="Book Antiqua" panose="02040602050305030304" pitchFamily="18" charset="0"/>
              </a:rPr>
              <a:t>1944, Claude </a:t>
            </a:r>
            <a:r>
              <a:rPr lang="en-US" sz="2800" dirty="0">
                <a:solidFill>
                  <a:schemeClr val="tx1"/>
                </a:solidFill>
                <a:latin typeface="Book Antiqua" panose="02040602050305030304" pitchFamily="18" charset="0"/>
              </a:rPr>
              <a:t>Shannon introduced </a:t>
            </a:r>
            <a:r>
              <a:rPr lang="en-US" sz="2800" dirty="0" smtClean="0">
                <a:solidFill>
                  <a:schemeClr val="tx1"/>
                </a:solidFill>
                <a:latin typeface="Book Antiqua" panose="02040602050305030304" pitchFamily="18" charset="0"/>
              </a:rPr>
              <a:t>Shannon capacity formula, </a:t>
            </a:r>
            <a:r>
              <a:rPr lang="en-US" sz="2800" dirty="0">
                <a:solidFill>
                  <a:schemeClr val="tx1"/>
                </a:solidFill>
                <a:latin typeface="Book Antiqua" panose="02040602050305030304" pitchFamily="18" charset="0"/>
              </a:rPr>
              <a:t>to determine </a:t>
            </a:r>
            <a:r>
              <a:rPr lang="en-US" sz="2800" dirty="0" smtClean="0">
                <a:solidFill>
                  <a:schemeClr val="tx1"/>
                </a:solidFill>
                <a:latin typeface="Book Antiqua" panose="02040602050305030304" pitchFamily="18" charset="0"/>
              </a:rPr>
              <a:t>the theoretical </a:t>
            </a:r>
            <a:r>
              <a:rPr lang="en-US" sz="2800" dirty="0">
                <a:solidFill>
                  <a:schemeClr val="tx1"/>
                </a:solidFill>
                <a:latin typeface="Book Antiqua" panose="02040602050305030304" pitchFamily="18" charset="0"/>
              </a:rPr>
              <a:t>highest data rate for a noisy channel</a:t>
            </a:r>
            <a:r>
              <a:rPr lang="en-US" sz="2800" dirty="0" smtClean="0">
                <a:solidFill>
                  <a:schemeClr val="tx1"/>
                </a:solidFill>
                <a:latin typeface="Book Antiqua" panose="02040602050305030304" pitchFamily="18" charset="0"/>
              </a:rPr>
              <a:t>:</a:t>
            </a:r>
          </a:p>
          <a:p>
            <a:r>
              <a:rPr lang="en-US" sz="2800" dirty="0">
                <a:solidFill>
                  <a:srgbClr val="FF0000"/>
                </a:solidFill>
                <a:latin typeface="Book Antiqua" panose="02040602050305030304" pitchFamily="18" charset="0"/>
              </a:rPr>
              <a:t>Capacity =</a:t>
            </a:r>
            <a:r>
              <a:rPr lang="en-US" sz="2800" dirty="0" smtClean="0">
                <a:solidFill>
                  <a:srgbClr val="FF0000"/>
                </a:solidFill>
                <a:latin typeface="Book Antiqua" panose="02040602050305030304" pitchFamily="18" charset="0"/>
              </a:rPr>
              <a:t>bandwidth </a:t>
            </a:r>
            <a:r>
              <a:rPr lang="en-US" sz="2800" dirty="0">
                <a:solidFill>
                  <a:srgbClr val="FF0000"/>
                </a:solidFill>
                <a:latin typeface="Book Antiqua" panose="02040602050305030304" pitchFamily="18" charset="0"/>
              </a:rPr>
              <a:t>X log</a:t>
            </a:r>
            <a:r>
              <a:rPr lang="en-US" sz="1600" dirty="0">
                <a:solidFill>
                  <a:srgbClr val="FF0000"/>
                </a:solidFill>
                <a:latin typeface="Book Antiqua" panose="02040602050305030304" pitchFamily="18" charset="0"/>
              </a:rPr>
              <a:t>2</a:t>
            </a:r>
            <a:r>
              <a:rPr lang="en-US" sz="2800" dirty="0">
                <a:solidFill>
                  <a:srgbClr val="FF0000"/>
                </a:solidFill>
                <a:latin typeface="Book Antiqua" panose="02040602050305030304" pitchFamily="18" charset="0"/>
              </a:rPr>
              <a:t> (1 +SNR</a:t>
            </a:r>
            <a:r>
              <a:rPr lang="en-US" sz="2800" dirty="0" smtClean="0">
                <a:solidFill>
                  <a:srgbClr val="FF0000"/>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there is no indication of the signal level, which means that no matter how many levels we have, we cannot achieve a data rate higher than the capacity of </a:t>
            </a:r>
            <a:r>
              <a:rPr lang="en-US" sz="2800" dirty="0" smtClean="0">
                <a:solidFill>
                  <a:schemeClr val="tx1"/>
                </a:solidFill>
                <a:latin typeface="Book Antiqua" panose="02040602050305030304" pitchFamily="18" charset="0"/>
              </a:rPr>
              <a:t>the channel.</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 other words, the formula defines a characteristic of the channel, not the </a:t>
            </a:r>
            <a:r>
              <a:rPr lang="en-US" sz="2800" dirty="0" smtClean="0">
                <a:solidFill>
                  <a:schemeClr val="tx1"/>
                </a:solidFill>
                <a:latin typeface="Book Antiqua" panose="02040602050305030304" pitchFamily="18" charset="0"/>
              </a:rPr>
              <a:t>method of </a:t>
            </a:r>
            <a:r>
              <a:rPr lang="en-US" sz="2800" dirty="0">
                <a:solidFill>
                  <a:schemeClr val="tx1"/>
                </a:solidFill>
                <a:latin typeface="Book Antiqua" panose="02040602050305030304" pitchFamily="18" charset="0"/>
              </a:rPr>
              <a:t>transmission.</a:t>
            </a:r>
          </a:p>
        </p:txBody>
      </p:sp>
    </p:spTree>
    <p:extLst>
      <p:ext uri="{BB962C8B-B14F-4D97-AF65-F5344CB8AC3E}">
        <p14:creationId xmlns:p14="http://schemas.microsoft.com/office/powerpoint/2010/main" val="19881883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Example-01</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5" y="838200"/>
            <a:ext cx="8785225" cy="203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3276601"/>
            <a:ext cx="6723063" cy="5334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93" y="4419600"/>
            <a:ext cx="8785225" cy="160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07830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Example-02</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8200"/>
            <a:ext cx="8785225" cy="203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0" y="3276600"/>
            <a:ext cx="7046913" cy="750888"/>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4415704"/>
            <a:ext cx="8785225" cy="203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76800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Example-03</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679" y="685800"/>
            <a:ext cx="8785225" cy="203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512" y="3124200"/>
            <a:ext cx="8364537" cy="9144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512" y="4800600"/>
            <a:ext cx="8248650" cy="183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93054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Performance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fontScale="92500"/>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Till now we have discussed the </a:t>
            </a:r>
            <a:r>
              <a:rPr lang="en-US" sz="2800" dirty="0" smtClean="0">
                <a:solidFill>
                  <a:schemeClr val="tx1"/>
                </a:solidFill>
                <a:latin typeface="Book Antiqua" panose="02040602050305030304" pitchFamily="18" charset="0"/>
              </a:rPr>
              <a:t>way of transmitting </a:t>
            </a:r>
            <a:r>
              <a:rPr lang="en-US" sz="2800" dirty="0">
                <a:solidFill>
                  <a:schemeClr val="tx1"/>
                </a:solidFill>
                <a:latin typeface="Book Antiqua" panose="02040602050305030304" pitchFamily="18" charset="0"/>
              </a:rPr>
              <a:t>data (signals) over a </a:t>
            </a:r>
            <a:r>
              <a:rPr lang="en-US" sz="2800" dirty="0" smtClean="0">
                <a:solidFill>
                  <a:schemeClr val="tx1"/>
                </a:solidFill>
                <a:latin typeface="Book Antiqua" panose="02040602050305030304" pitchFamily="18" charset="0"/>
              </a:rPr>
              <a:t>network and </a:t>
            </a:r>
            <a:r>
              <a:rPr lang="en-US" sz="2800" dirty="0">
                <a:solidFill>
                  <a:schemeClr val="tx1"/>
                </a:solidFill>
                <a:latin typeface="Book Antiqua" panose="02040602050305030304" pitchFamily="18" charset="0"/>
              </a:rPr>
              <a:t>how the data behave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One important issue in networking is </a:t>
            </a:r>
            <a:r>
              <a:rPr lang="en-US" sz="2800" dirty="0" smtClean="0">
                <a:solidFill>
                  <a:schemeClr val="tx1"/>
                </a:solidFill>
                <a:latin typeface="Book Antiqua" panose="02040602050305030304" pitchFamily="18" charset="0"/>
              </a:rPr>
              <a:t>the performance </a:t>
            </a:r>
            <a:r>
              <a:rPr lang="en-US" sz="2800" dirty="0">
                <a:solidFill>
                  <a:schemeClr val="tx1"/>
                </a:solidFill>
                <a:latin typeface="Book Antiqua" panose="02040602050305030304" pitchFamily="18" charset="0"/>
              </a:rPr>
              <a:t>of </a:t>
            </a:r>
            <a:r>
              <a:rPr lang="en-US" sz="2800" dirty="0" smtClean="0">
                <a:solidFill>
                  <a:schemeClr val="tx1"/>
                </a:solidFill>
                <a:latin typeface="Book Antiqua" panose="02040602050305030304" pitchFamily="18" charset="0"/>
              </a:rPr>
              <a:t>the network-how </a:t>
            </a:r>
            <a:r>
              <a:rPr lang="en-US" sz="2800" dirty="0">
                <a:solidFill>
                  <a:schemeClr val="tx1"/>
                </a:solidFill>
                <a:latin typeface="Book Antiqua" panose="02040602050305030304" pitchFamily="18" charset="0"/>
              </a:rPr>
              <a:t>good is it</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b="1" dirty="0">
                <a:solidFill>
                  <a:srgbClr val="FF0000"/>
                </a:solidFill>
                <a:latin typeface="Book Antiqua" panose="02040602050305030304" pitchFamily="18" charset="0"/>
              </a:rPr>
              <a:t>Bandwidth: </a:t>
            </a:r>
            <a:r>
              <a:rPr lang="en-US" sz="2800" dirty="0" smtClean="0">
                <a:solidFill>
                  <a:schemeClr val="tx1"/>
                </a:solidFill>
                <a:latin typeface="Book Antiqua" panose="02040602050305030304" pitchFamily="18" charset="0"/>
              </a:rPr>
              <a:t>Represent the capacity of the link or channel.</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Two </a:t>
            </a:r>
            <a:r>
              <a:rPr lang="en-US" sz="2800" dirty="0">
                <a:solidFill>
                  <a:schemeClr val="tx1"/>
                </a:solidFill>
                <a:latin typeface="Book Antiqua" panose="02040602050305030304" pitchFamily="18" charset="0"/>
              </a:rPr>
              <a:t>different contexts with two different measuring values: </a:t>
            </a:r>
            <a:r>
              <a:rPr lang="en-US" sz="2800" dirty="0">
                <a:solidFill>
                  <a:srgbClr val="FF0000"/>
                </a:solidFill>
                <a:latin typeface="Book Antiqua" panose="02040602050305030304" pitchFamily="18" charset="0"/>
              </a:rPr>
              <a:t>bandwidth </a:t>
            </a:r>
            <a:r>
              <a:rPr lang="en-US" sz="2800" dirty="0" smtClean="0">
                <a:solidFill>
                  <a:srgbClr val="FF0000"/>
                </a:solidFill>
                <a:latin typeface="Book Antiqua" panose="02040602050305030304" pitchFamily="18" charset="0"/>
              </a:rPr>
              <a:t>in hertz</a:t>
            </a:r>
            <a:r>
              <a:rPr lang="en-US" sz="2800" dirty="0" smtClean="0">
                <a:solidFill>
                  <a:schemeClr val="tx1"/>
                </a:solidFill>
                <a:latin typeface="Book Antiqua" panose="02040602050305030304" pitchFamily="18" charset="0"/>
              </a:rPr>
              <a:t> </a:t>
            </a:r>
            <a:r>
              <a:rPr lang="en-US" sz="2800" dirty="0">
                <a:solidFill>
                  <a:schemeClr val="tx1"/>
                </a:solidFill>
                <a:latin typeface="Book Antiqua" panose="02040602050305030304" pitchFamily="18" charset="0"/>
              </a:rPr>
              <a:t>and </a:t>
            </a:r>
            <a:r>
              <a:rPr lang="en-US" sz="2800" dirty="0">
                <a:solidFill>
                  <a:srgbClr val="FF0000"/>
                </a:solidFill>
                <a:latin typeface="Book Antiqua" panose="02040602050305030304" pitchFamily="18" charset="0"/>
              </a:rPr>
              <a:t>bandwidth in bits per second</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Bandwidth in hertz is the range of frequencies </a:t>
            </a:r>
            <a:r>
              <a:rPr lang="en-US" sz="2800" dirty="0" smtClean="0">
                <a:solidFill>
                  <a:schemeClr val="tx1"/>
                </a:solidFill>
                <a:latin typeface="Book Antiqua" panose="02040602050305030304" pitchFamily="18" charset="0"/>
              </a:rPr>
              <a:t>contained in </a:t>
            </a:r>
            <a:r>
              <a:rPr lang="en-US" sz="2800" dirty="0">
                <a:solidFill>
                  <a:schemeClr val="tx1"/>
                </a:solidFill>
                <a:latin typeface="Book Antiqua" panose="02040602050305030304" pitchFamily="18" charset="0"/>
              </a:rPr>
              <a:t>a composite signal or the range of frequencies a channel can pass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term bandwidth can also refer to the number of bits per second that a channel, </a:t>
            </a:r>
            <a:r>
              <a:rPr lang="en-US" sz="2800" dirty="0" smtClean="0">
                <a:solidFill>
                  <a:schemeClr val="tx1"/>
                </a:solidFill>
                <a:latin typeface="Book Antiqua" panose="02040602050305030304" pitchFamily="18" charset="0"/>
              </a:rPr>
              <a:t>a link</a:t>
            </a:r>
            <a:r>
              <a:rPr lang="en-US" sz="2800" dirty="0">
                <a:solidFill>
                  <a:schemeClr val="tx1"/>
                </a:solidFill>
                <a:latin typeface="Book Antiqua" panose="02040602050305030304" pitchFamily="18" charset="0"/>
              </a:rPr>
              <a:t>, or even a network can transmit.</a:t>
            </a:r>
          </a:p>
        </p:txBody>
      </p:sp>
    </p:spTree>
    <p:extLst>
      <p:ext uri="{BB962C8B-B14F-4D97-AF65-F5344CB8AC3E}">
        <p14:creationId xmlns:p14="http://schemas.microsoft.com/office/powerpoint/2010/main" val="31646394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Relationship</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An </a:t>
            </a:r>
            <a:r>
              <a:rPr lang="en-US" sz="2800" dirty="0">
                <a:solidFill>
                  <a:schemeClr val="tx1"/>
                </a:solidFill>
                <a:latin typeface="Book Antiqua" panose="02040602050305030304" pitchFamily="18" charset="0"/>
              </a:rPr>
              <a:t>increase in bandwidth in hertz means an increase in </a:t>
            </a:r>
            <a:r>
              <a:rPr lang="en-US" sz="2800" dirty="0" smtClean="0">
                <a:solidFill>
                  <a:schemeClr val="tx1"/>
                </a:solidFill>
                <a:latin typeface="Book Antiqua" panose="02040602050305030304" pitchFamily="18" charset="0"/>
              </a:rPr>
              <a:t>bandwidth in </a:t>
            </a:r>
            <a:r>
              <a:rPr lang="en-US" sz="2800" dirty="0">
                <a:solidFill>
                  <a:schemeClr val="tx1"/>
                </a:solidFill>
                <a:latin typeface="Book Antiqua" panose="02040602050305030304" pitchFamily="18" charset="0"/>
              </a:rPr>
              <a:t>bits per second</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relationship depends on whether we have baseband </a:t>
            </a:r>
            <a:r>
              <a:rPr lang="en-US" sz="2800" dirty="0" smtClean="0">
                <a:solidFill>
                  <a:schemeClr val="tx1"/>
                </a:solidFill>
                <a:latin typeface="Book Antiqua" panose="02040602050305030304" pitchFamily="18" charset="0"/>
              </a:rPr>
              <a:t>transmission or </a:t>
            </a:r>
            <a:r>
              <a:rPr lang="en-US" sz="2800" dirty="0">
                <a:solidFill>
                  <a:schemeClr val="tx1"/>
                </a:solidFill>
                <a:latin typeface="Book Antiqua" panose="02040602050305030304" pitchFamily="18" charset="0"/>
              </a:rPr>
              <a:t>transmission with modulation</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622" y="3200400"/>
            <a:ext cx="8785225" cy="202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77006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Throughput</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throughput is a measure of how fast we can actually send data through a network</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Bandwidth </a:t>
            </a:r>
            <a:r>
              <a:rPr lang="en-US" sz="2800" dirty="0">
                <a:solidFill>
                  <a:schemeClr val="tx1"/>
                </a:solidFill>
                <a:latin typeface="Book Antiqua" panose="02040602050305030304" pitchFamily="18" charset="0"/>
              </a:rPr>
              <a:t>in bits per second and throughput seem the </a:t>
            </a:r>
            <a:r>
              <a:rPr lang="en-US" sz="2800" dirty="0" smtClean="0">
                <a:solidFill>
                  <a:schemeClr val="tx1"/>
                </a:solidFill>
                <a:latin typeface="Book Antiqua" panose="02040602050305030304" pitchFamily="18" charset="0"/>
              </a:rPr>
              <a:t>same, but they </a:t>
            </a:r>
            <a:r>
              <a:rPr lang="en-US" sz="2800" dirty="0">
                <a:solidFill>
                  <a:schemeClr val="tx1"/>
                </a:solidFill>
                <a:latin typeface="Book Antiqua" panose="02040602050305030304" pitchFamily="18" charset="0"/>
              </a:rPr>
              <a:t>are different</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 link may have a bandwidth of B bps, but we can only send T </a:t>
            </a:r>
            <a:r>
              <a:rPr lang="en-US" sz="2800" dirty="0" smtClean="0">
                <a:solidFill>
                  <a:schemeClr val="tx1"/>
                </a:solidFill>
                <a:latin typeface="Book Antiqua" panose="02040602050305030304" pitchFamily="18" charset="0"/>
              </a:rPr>
              <a:t>bps through </a:t>
            </a:r>
            <a:r>
              <a:rPr lang="en-US" sz="2800" dirty="0">
                <a:solidFill>
                  <a:schemeClr val="tx1"/>
                </a:solidFill>
                <a:latin typeface="Book Antiqua" panose="02040602050305030304" pitchFamily="18" charset="0"/>
              </a:rPr>
              <a:t>this link with T always less than B</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Bandwidth </a:t>
            </a:r>
            <a:r>
              <a:rPr lang="en-US" sz="2800" dirty="0">
                <a:solidFill>
                  <a:schemeClr val="tx1"/>
                </a:solidFill>
                <a:latin typeface="Book Antiqua" panose="02040602050305030304" pitchFamily="18" charset="0"/>
              </a:rPr>
              <a:t>is a </a:t>
            </a:r>
            <a:r>
              <a:rPr lang="en-US" sz="2800" dirty="0" smtClean="0">
                <a:solidFill>
                  <a:schemeClr val="tx1"/>
                </a:solidFill>
                <a:latin typeface="Book Antiqua" panose="02040602050305030304" pitchFamily="18" charset="0"/>
              </a:rPr>
              <a:t>potential measurement </a:t>
            </a:r>
            <a:r>
              <a:rPr lang="en-US" sz="2800" dirty="0">
                <a:solidFill>
                  <a:schemeClr val="tx1"/>
                </a:solidFill>
                <a:latin typeface="Book Antiqua" panose="02040602050305030304" pitchFamily="18" charset="0"/>
              </a:rPr>
              <a:t>of a link; the throughput is an actual measurement of how fast we </a:t>
            </a:r>
            <a:r>
              <a:rPr lang="en-US" sz="2800" dirty="0" smtClean="0">
                <a:solidFill>
                  <a:schemeClr val="tx1"/>
                </a:solidFill>
                <a:latin typeface="Book Antiqua" panose="02040602050305030304" pitchFamily="18" charset="0"/>
              </a:rPr>
              <a:t>can send </a:t>
            </a:r>
            <a:r>
              <a:rPr lang="en-US" sz="2800" dirty="0">
                <a:solidFill>
                  <a:schemeClr val="tx1"/>
                </a:solidFill>
                <a:latin typeface="Book Antiqua" panose="02040602050305030304" pitchFamily="18" charset="0"/>
              </a:rPr>
              <a:t>data</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For example, we may have a link with a bandwidth of 1 Mbps, but </a:t>
            </a:r>
            <a:r>
              <a:rPr lang="en-US" sz="2800" dirty="0" smtClean="0">
                <a:solidFill>
                  <a:schemeClr val="tx1"/>
                </a:solidFill>
                <a:latin typeface="Book Antiqua" panose="02040602050305030304" pitchFamily="18" charset="0"/>
              </a:rPr>
              <a:t>the devices </a:t>
            </a:r>
            <a:r>
              <a:rPr lang="en-US" sz="2800" dirty="0">
                <a:solidFill>
                  <a:schemeClr val="tx1"/>
                </a:solidFill>
                <a:latin typeface="Book Antiqua" panose="02040602050305030304" pitchFamily="18" charset="0"/>
              </a:rPr>
              <a:t>connected to the end of the link may handle only 200 kbps.</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35026760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097" y="1143000"/>
            <a:ext cx="8785225" cy="330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2353" y="4648200"/>
            <a:ext cx="5951581" cy="77311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39874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Latency (Delay)</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latency or delay defines how long it takes for an entire message to </a:t>
            </a:r>
            <a:r>
              <a:rPr lang="en-US" sz="2800" dirty="0" smtClean="0">
                <a:solidFill>
                  <a:schemeClr val="tx1"/>
                </a:solidFill>
                <a:latin typeface="Book Antiqua" panose="02040602050305030304" pitchFamily="18" charset="0"/>
              </a:rPr>
              <a:t>completely arrive </a:t>
            </a:r>
            <a:r>
              <a:rPr lang="en-US" sz="2800" dirty="0">
                <a:solidFill>
                  <a:schemeClr val="tx1"/>
                </a:solidFill>
                <a:latin typeface="Book Antiqua" panose="02040602050305030304" pitchFamily="18" charset="0"/>
              </a:rPr>
              <a:t>at the destination from the time the first bit is sent out from the source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latency is made of four components: propagation time, transmission </a:t>
            </a:r>
            <a:r>
              <a:rPr lang="en-US" sz="2800" dirty="0" smtClean="0">
                <a:solidFill>
                  <a:schemeClr val="tx1"/>
                </a:solidFill>
                <a:latin typeface="Book Antiqua" panose="02040602050305030304" pitchFamily="18" charset="0"/>
              </a:rPr>
              <a:t>time, queuing </a:t>
            </a:r>
            <a:r>
              <a:rPr lang="en-US" sz="2800" dirty="0">
                <a:solidFill>
                  <a:schemeClr val="tx1"/>
                </a:solidFill>
                <a:latin typeface="Book Antiqua" panose="02040602050305030304" pitchFamily="18" charset="0"/>
              </a:rPr>
              <a:t>time and processing delay</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rgbClr val="FF0000"/>
                </a:solidFill>
                <a:latin typeface="Book Antiqua" panose="02040602050305030304" pitchFamily="18" charset="0"/>
              </a:rPr>
              <a:t>Propagation time</a:t>
            </a:r>
            <a:r>
              <a:rPr lang="en-US" sz="2800" dirty="0">
                <a:solidFill>
                  <a:schemeClr val="tx1"/>
                </a:solidFill>
                <a:latin typeface="Book Antiqua" panose="02040602050305030304" pitchFamily="18" charset="0"/>
              </a:rPr>
              <a:t>: </a:t>
            </a:r>
            <a:r>
              <a:rPr lang="en-US" sz="2800" dirty="0" smtClean="0">
                <a:solidFill>
                  <a:schemeClr val="tx1"/>
                </a:solidFill>
                <a:latin typeface="Book Antiqua" panose="02040602050305030304" pitchFamily="18" charset="0"/>
              </a:rPr>
              <a:t>It </a:t>
            </a:r>
            <a:r>
              <a:rPr lang="en-US" sz="2800" dirty="0">
                <a:solidFill>
                  <a:schemeClr val="tx1"/>
                </a:solidFill>
                <a:latin typeface="Book Antiqua" panose="02040602050305030304" pitchFamily="18" charset="0"/>
              </a:rPr>
              <a:t>measures the time required for a bit to travel from the source </a:t>
            </a:r>
            <a:r>
              <a:rPr lang="en-US" sz="2800" dirty="0" smtClean="0">
                <a:solidFill>
                  <a:schemeClr val="tx1"/>
                </a:solidFill>
                <a:latin typeface="Book Antiqua" panose="02040602050305030304" pitchFamily="18" charset="0"/>
              </a:rPr>
              <a:t>to the destination.</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propagation time is calculated by dividing the distance by the </a:t>
            </a:r>
            <a:r>
              <a:rPr lang="en-US" sz="2800" dirty="0" smtClean="0">
                <a:solidFill>
                  <a:schemeClr val="tx1"/>
                </a:solidFill>
                <a:latin typeface="Book Antiqua" panose="02040602050305030304" pitchFamily="18" charset="0"/>
              </a:rPr>
              <a:t>propagation speed.</a:t>
            </a:r>
          </a:p>
          <a:p>
            <a:pPr marL="457200" indent="-457200" algn="l">
              <a:buFont typeface="Arial" panose="020B0604020202020204" pitchFamily="34" charset="0"/>
              <a:buChar char="•"/>
            </a:pPr>
            <a:r>
              <a:rPr lang="en-US" sz="2800" dirty="0">
                <a:solidFill>
                  <a:srgbClr val="FF0000"/>
                </a:solidFill>
                <a:latin typeface="Book Antiqua" panose="02040602050305030304" pitchFamily="18" charset="0"/>
              </a:rPr>
              <a:t>Propagation Delay = Distance/Propagation speed</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299822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Example-1</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36" y="838200"/>
            <a:ext cx="8785225" cy="287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6225" y="4037012"/>
            <a:ext cx="6513848" cy="106838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52043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Transmission Time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rgbClr val="FF0000"/>
                </a:solidFill>
                <a:latin typeface="Book Antiqua" panose="02040602050305030304" pitchFamily="18" charset="0"/>
              </a:rPr>
              <a:t>Transmission speed</a:t>
            </a:r>
            <a:r>
              <a:rPr lang="en-US" sz="2800" dirty="0">
                <a:solidFill>
                  <a:schemeClr val="tx1"/>
                </a:solidFill>
                <a:latin typeface="Book Antiqua" panose="02040602050305030304" pitchFamily="18" charset="0"/>
              </a:rPr>
              <a:t> - the speed at which all the bits in a message arrive at the destination. (difference in arrival time of first and last bit</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There is a time between the first bit leaving </a:t>
            </a:r>
            <a:r>
              <a:rPr lang="en-US" sz="2800" dirty="0" smtClean="0">
                <a:solidFill>
                  <a:schemeClr val="tx1"/>
                </a:solidFill>
                <a:latin typeface="Book Antiqua" panose="02040602050305030304" pitchFamily="18" charset="0"/>
              </a:rPr>
              <a:t>the sender </a:t>
            </a:r>
            <a:r>
              <a:rPr lang="en-US" sz="2800" dirty="0">
                <a:solidFill>
                  <a:schemeClr val="tx1"/>
                </a:solidFill>
                <a:latin typeface="Book Antiqua" panose="02040602050305030304" pitchFamily="18" charset="0"/>
              </a:rPr>
              <a:t>and the last bit arriving at the receiver</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time required for transmission of </a:t>
            </a:r>
            <a:r>
              <a:rPr lang="en-US" sz="2800" dirty="0" smtClean="0">
                <a:solidFill>
                  <a:schemeClr val="tx1"/>
                </a:solidFill>
                <a:latin typeface="Book Antiqua" panose="02040602050305030304" pitchFamily="18" charset="0"/>
              </a:rPr>
              <a:t>a message </a:t>
            </a:r>
            <a:r>
              <a:rPr lang="en-US" sz="2800" dirty="0">
                <a:solidFill>
                  <a:schemeClr val="tx1"/>
                </a:solidFill>
                <a:latin typeface="Book Antiqua" panose="02040602050305030304" pitchFamily="18" charset="0"/>
              </a:rPr>
              <a:t>depends on the size of the message and the bandwidth of the </a:t>
            </a:r>
            <a:r>
              <a:rPr lang="en-US" sz="2800" dirty="0" smtClean="0">
                <a:solidFill>
                  <a:schemeClr val="tx1"/>
                </a:solidFill>
                <a:latin typeface="Book Antiqua" panose="02040602050305030304" pitchFamily="18" charset="0"/>
              </a:rPr>
              <a:t>channel.</a:t>
            </a:r>
          </a:p>
          <a:p>
            <a:pPr marL="457200" indent="-457200" algn="l">
              <a:buFont typeface="Arial" panose="020B0604020202020204" pitchFamily="34" charset="0"/>
              <a:buChar char="•"/>
            </a:pPr>
            <a:r>
              <a:rPr lang="en-US" sz="2800" dirty="0">
                <a:solidFill>
                  <a:srgbClr val="FF0000"/>
                </a:solidFill>
                <a:latin typeface="Book Antiqua" panose="02040602050305030304" pitchFamily="18" charset="0"/>
              </a:rPr>
              <a:t>Transmission Delay = Message size/bandwidth bps</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18620108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Example-02</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15" y="540327"/>
            <a:ext cx="8785225" cy="3345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8244" y="3886200"/>
            <a:ext cx="5462587" cy="12192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079" y="5284787"/>
            <a:ext cx="8785225" cy="157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148774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Example-03</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622" y="533400"/>
            <a:ext cx="8785225" cy="322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2225" y="3816924"/>
            <a:ext cx="6002337" cy="144462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548" y="5365461"/>
            <a:ext cx="8785225" cy="1528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49556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Queuing Time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Time </a:t>
            </a:r>
            <a:r>
              <a:rPr lang="en-US" sz="2800" dirty="0">
                <a:solidFill>
                  <a:schemeClr val="tx1"/>
                </a:solidFill>
                <a:latin typeface="Book Antiqua" panose="02040602050305030304" pitchFamily="18" charset="0"/>
              </a:rPr>
              <a:t>needed for each </a:t>
            </a:r>
            <a:r>
              <a:rPr lang="en-US" sz="2800" dirty="0" smtClean="0">
                <a:solidFill>
                  <a:schemeClr val="tx1"/>
                </a:solidFill>
                <a:latin typeface="Book Antiqua" panose="02040602050305030304" pitchFamily="18" charset="0"/>
              </a:rPr>
              <a:t>intermediate or </a:t>
            </a:r>
            <a:r>
              <a:rPr lang="en-US" sz="2800" dirty="0">
                <a:solidFill>
                  <a:schemeClr val="tx1"/>
                </a:solidFill>
                <a:latin typeface="Book Antiqua" panose="02040602050305030304" pitchFamily="18" charset="0"/>
              </a:rPr>
              <a:t>end device to hold the message before it can be processed</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queuing time is not a fixed factor; When there </a:t>
            </a:r>
            <a:r>
              <a:rPr lang="en-US" sz="2800" dirty="0" smtClean="0">
                <a:solidFill>
                  <a:schemeClr val="tx1"/>
                </a:solidFill>
                <a:latin typeface="Book Antiqua" panose="02040602050305030304" pitchFamily="18" charset="0"/>
              </a:rPr>
              <a:t>is heavy </a:t>
            </a:r>
            <a:r>
              <a:rPr lang="en-US" sz="2800" dirty="0">
                <a:solidFill>
                  <a:schemeClr val="tx1"/>
                </a:solidFill>
                <a:latin typeface="Book Antiqua" panose="02040602050305030304" pitchFamily="18" charset="0"/>
              </a:rPr>
              <a:t>traffic on the network, the queuing time </a:t>
            </a:r>
            <a:r>
              <a:rPr lang="en-US" sz="2800" dirty="0" smtClean="0">
                <a:solidFill>
                  <a:schemeClr val="tx1"/>
                </a:solidFill>
                <a:latin typeface="Book Antiqua" panose="02040602050305030304" pitchFamily="18" charset="0"/>
              </a:rPr>
              <a:t>increases.</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Intermediator </a:t>
            </a:r>
            <a:r>
              <a:rPr lang="en-US" sz="2800" dirty="0">
                <a:solidFill>
                  <a:schemeClr val="tx1"/>
                </a:solidFill>
                <a:latin typeface="Book Antiqua" panose="02040602050305030304" pitchFamily="18" charset="0"/>
              </a:rPr>
              <a:t>nodes like router, queues the arrived messages and processes them one by </a:t>
            </a:r>
            <a:r>
              <a:rPr lang="en-US" sz="2800" dirty="0" smtClean="0">
                <a:solidFill>
                  <a:schemeClr val="tx1"/>
                </a:solidFill>
                <a:latin typeface="Book Antiqua" panose="02040602050305030304" pitchFamily="18" charset="0"/>
              </a:rPr>
              <a:t>one.</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If there </a:t>
            </a:r>
            <a:r>
              <a:rPr lang="en-US" sz="2800" dirty="0" smtClean="0">
                <a:solidFill>
                  <a:schemeClr val="tx1"/>
                </a:solidFill>
                <a:latin typeface="Book Antiqua" panose="02040602050305030304" pitchFamily="18" charset="0"/>
              </a:rPr>
              <a:t>are many </a:t>
            </a:r>
            <a:r>
              <a:rPr lang="en-US" sz="2800" dirty="0">
                <a:solidFill>
                  <a:schemeClr val="tx1"/>
                </a:solidFill>
                <a:latin typeface="Book Antiqua" panose="02040602050305030304" pitchFamily="18" charset="0"/>
              </a:rPr>
              <a:t>messages, each message will have to wait</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98515812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Bandwidth-Delay Product</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fontScale="92500" lnSpcReduction="10000"/>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Bandwidth and delay are two performance metrics of a link</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a:t>
            </a:r>
            <a:r>
              <a:rPr lang="en-US" sz="2800" dirty="0" smtClean="0">
                <a:solidFill>
                  <a:schemeClr val="tx1"/>
                </a:solidFill>
                <a:latin typeface="Book Antiqua" panose="02040602050305030304" pitchFamily="18" charset="0"/>
              </a:rPr>
              <a:t>bandwidth-delay product </a:t>
            </a:r>
            <a:r>
              <a:rPr lang="en-US" sz="2800" dirty="0">
                <a:solidFill>
                  <a:schemeClr val="tx1"/>
                </a:solidFill>
                <a:latin typeface="Book Antiqua" panose="02040602050305030304" pitchFamily="18" charset="0"/>
              </a:rPr>
              <a:t>defines the number of bits that can </a:t>
            </a:r>
            <a:r>
              <a:rPr lang="en-US" sz="2800" dirty="0" smtClean="0">
                <a:solidFill>
                  <a:schemeClr val="tx1"/>
                </a:solidFill>
                <a:latin typeface="Book Antiqua" panose="02040602050305030304" pitchFamily="18" charset="0"/>
              </a:rPr>
              <a:t>fill </a:t>
            </a:r>
            <a:r>
              <a:rPr lang="en-US" sz="2800" dirty="0">
                <a:solidFill>
                  <a:schemeClr val="tx1"/>
                </a:solidFill>
                <a:latin typeface="Book Antiqua" panose="02040602050305030304" pitchFamily="18" charset="0"/>
              </a:rPr>
              <a:t>the link.</a:t>
            </a: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r>
              <a:rPr lang="en-US" sz="2800" i="1" dirty="0" smtClean="0">
                <a:solidFill>
                  <a:schemeClr val="tx1"/>
                </a:solidFill>
                <a:latin typeface="Book Antiqua" panose="02040602050305030304" pitchFamily="18" charset="0"/>
              </a:rPr>
              <a:t>Fig: Filling </a:t>
            </a:r>
            <a:r>
              <a:rPr lang="en-US" sz="2800" i="1" dirty="0">
                <a:solidFill>
                  <a:schemeClr val="tx1"/>
                </a:solidFill>
                <a:latin typeface="Book Antiqua" panose="02040602050305030304" pitchFamily="18" charset="0"/>
              </a:rPr>
              <a:t>the link with bits for case 1</a:t>
            </a: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6282" y="2438400"/>
            <a:ext cx="7404100" cy="341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04646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Case-2: </a:t>
            </a:r>
            <a:r>
              <a:rPr lang="en-US" altLang="en-US" sz="3600" dirty="0">
                <a:latin typeface="Book Antiqua" panose="02040602050305030304" pitchFamily="18" charset="0"/>
              </a:rPr>
              <a:t>Filling the link with </a:t>
            </a:r>
            <a:r>
              <a:rPr lang="en-US" altLang="en-US" sz="3600" dirty="0" smtClean="0">
                <a:latin typeface="Book Antiqua" panose="02040602050305030304" pitchFamily="18" charset="0"/>
              </a:rPr>
              <a:t>bits case2</a:t>
            </a:r>
            <a:r>
              <a:rPr lang="en-US" sz="3600" b="1" dirty="0" smtClean="0">
                <a:latin typeface="Book Antiqua" panose="02040602050305030304" pitchFamily="18" charset="0"/>
              </a:rPr>
              <a:t> </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563" y="1598613"/>
            <a:ext cx="7386637" cy="442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52944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Digital Transmission </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 computer network is designed to send information from one point to another</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This information </a:t>
            </a:r>
            <a:r>
              <a:rPr lang="en-US" sz="2800" dirty="0">
                <a:solidFill>
                  <a:schemeClr val="tx1"/>
                </a:solidFill>
                <a:latin typeface="Book Antiqua" panose="02040602050305030304" pitchFamily="18" charset="0"/>
              </a:rPr>
              <a:t>needs to be converted to either a digital signal or an analog signal for transmission</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Here mainly we discuss on conversion of digital data to digital signals.</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Later we discuss on methods which change an analog signal to a </a:t>
            </a:r>
            <a:r>
              <a:rPr lang="en-US" sz="2800" dirty="0" smtClean="0">
                <a:solidFill>
                  <a:schemeClr val="tx1"/>
                </a:solidFill>
                <a:latin typeface="Book Antiqua" panose="02040602050305030304" pitchFamily="18" charset="0"/>
              </a:rPr>
              <a:t>digital signal.</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Finally, we discuss transmission modes.</a:t>
            </a:r>
          </a:p>
        </p:txBody>
      </p:sp>
    </p:spTree>
    <p:extLst>
      <p:ext uri="{BB962C8B-B14F-4D97-AF65-F5344CB8AC3E}">
        <p14:creationId xmlns:p14="http://schemas.microsoft.com/office/powerpoint/2010/main" val="12844793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Digital to digital conversion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We know that signals that represent data can also be digital or </a:t>
            </a:r>
            <a:r>
              <a:rPr lang="en-US" sz="2800" dirty="0" smtClean="0">
                <a:solidFill>
                  <a:schemeClr val="tx1"/>
                </a:solidFill>
                <a:latin typeface="Book Antiqua" panose="02040602050305030304" pitchFamily="18" charset="0"/>
              </a:rPr>
              <a:t>analog.</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Digital to digital conversion represent conversion of digital data to digital signals.</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The conversion involves three techniques: </a:t>
            </a:r>
          </a:p>
          <a:p>
            <a:pPr marL="914400" lvl="1" indent="-457200" algn="l">
              <a:buFont typeface="Arial" panose="020B0604020202020204" pitchFamily="34" charset="0"/>
              <a:buChar char="•"/>
            </a:pPr>
            <a:r>
              <a:rPr lang="en-US" sz="2400" dirty="0" smtClean="0">
                <a:solidFill>
                  <a:schemeClr val="tx1"/>
                </a:solidFill>
                <a:latin typeface="Book Antiqua" panose="02040602050305030304" pitchFamily="18" charset="0"/>
              </a:rPr>
              <a:t>Line coding</a:t>
            </a:r>
          </a:p>
          <a:p>
            <a:pPr marL="914400" lvl="1" indent="-457200" algn="l">
              <a:buFont typeface="Arial" panose="020B0604020202020204" pitchFamily="34" charset="0"/>
              <a:buChar char="•"/>
            </a:pPr>
            <a:r>
              <a:rPr lang="en-US" sz="2400" dirty="0" smtClean="0">
                <a:solidFill>
                  <a:schemeClr val="tx1"/>
                </a:solidFill>
                <a:latin typeface="Book Antiqua" panose="02040602050305030304" pitchFamily="18" charset="0"/>
              </a:rPr>
              <a:t>Block coding</a:t>
            </a:r>
          </a:p>
          <a:p>
            <a:pPr marL="914400" lvl="1" indent="-457200" algn="l">
              <a:buFont typeface="Arial" panose="020B0604020202020204" pitchFamily="34" charset="0"/>
              <a:buChar char="•"/>
            </a:pPr>
            <a:r>
              <a:rPr lang="en-US" sz="2400" dirty="0" smtClean="0">
                <a:solidFill>
                  <a:schemeClr val="tx1"/>
                </a:solidFill>
                <a:latin typeface="Book Antiqua" panose="02040602050305030304" pitchFamily="18" charset="0"/>
              </a:rPr>
              <a:t>Scrambling</a:t>
            </a:r>
            <a:endParaRPr lang="en-US" sz="2400" dirty="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Line </a:t>
            </a:r>
            <a:r>
              <a:rPr lang="en-US" sz="2800" dirty="0" smtClean="0">
                <a:solidFill>
                  <a:schemeClr val="tx1"/>
                </a:solidFill>
                <a:latin typeface="Book Antiqua" panose="02040602050305030304" pitchFamily="18" charset="0"/>
              </a:rPr>
              <a:t>coding is </a:t>
            </a:r>
            <a:r>
              <a:rPr lang="en-US" sz="2800" dirty="0">
                <a:solidFill>
                  <a:schemeClr val="tx1"/>
                </a:solidFill>
                <a:latin typeface="Book Antiqua" panose="02040602050305030304" pitchFamily="18" charset="0"/>
              </a:rPr>
              <a:t>always </a:t>
            </a:r>
            <a:r>
              <a:rPr lang="en-US" sz="2800" dirty="0" smtClean="0">
                <a:solidFill>
                  <a:schemeClr val="tx1"/>
                </a:solidFill>
                <a:latin typeface="Book Antiqua" panose="02040602050305030304" pitchFamily="18" charset="0"/>
              </a:rPr>
              <a:t>needed, block </a:t>
            </a:r>
            <a:r>
              <a:rPr lang="en-US" sz="2800" dirty="0">
                <a:solidFill>
                  <a:schemeClr val="tx1"/>
                </a:solidFill>
                <a:latin typeface="Book Antiqua" panose="02040602050305030304" pitchFamily="18" charset="0"/>
              </a:rPr>
              <a:t>coding and scrambling </a:t>
            </a:r>
            <a:r>
              <a:rPr lang="en-US" sz="2800" dirty="0" smtClean="0">
                <a:solidFill>
                  <a:schemeClr val="tx1"/>
                </a:solidFill>
                <a:latin typeface="Book Antiqua" panose="02040602050305030304" pitchFamily="18" charset="0"/>
              </a:rPr>
              <a:t>may or </a:t>
            </a:r>
            <a:r>
              <a:rPr lang="en-US" sz="2800" dirty="0">
                <a:solidFill>
                  <a:schemeClr val="tx1"/>
                </a:solidFill>
                <a:latin typeface="Book Antiqua" panose="02040602050305030304" pitchFamily="18" charset="0"/>
              </a:rPr>
              <a:t>may not be needed.</a:t>
            </a:r>
            <a:endParaRPr lang="en-US" sz="2800" dirty="0" smtClean="0">
              <a:solidFill>
                <a:schemeClr val="tx1"/>
              </a:solidFill>
              <a:latin typeface="Book Antiqua" panose="02040602050305030304" pitchFamily="18" charset="0"/>
            </a:endParaRPr>
          </a:p>
        </p:txBody>
      </p:sp>
    </p:spTree>
    <p:extLst>
      <p:ext uri="{BB962C8B-B14F-4D97-AF65-F5344CB8AC3E}">
        <p14:creationId xmlns:p14="http://schemas.microsoft.com/office/powerpoint/2010/main" val="35524631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Line Coding</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Line coding is the process of converting digital data to digital signals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Data may be in the form of text, number, graphical images, audio or video are stored in computer memory as sequence of bits.</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Line coding converts a sequence of bits to a digital signals.</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At the sender, digital data are encoded into a digital signals; at the receiver, the digital data are recreated by decoding the digital signals. </a:t>
            </a:r>
            <a:endParaRPr lang="en-US" sz="2800"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28098169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Line coding and decoding</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00" y="1828801"/>
            <a:ext cx="87757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88081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Signal elements versus data elements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lnSpcReduction="10000"/>
          </a:bodyPr>
          <a:lstStyle/>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In data communication, our goal is to send data elements.</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A data </a:t>
            </a:r>
            <a:r>
              <a:rPr lang="en-US" sz="2800" dirty="0">
                <a:solidFill>
                  <a:schemeClr val="tx1"/>
                </a:solidFill>
                <a:latin typeface="Book Antiqua" panose="02040602050305030304" pitchFamily="18" charset="0"/>
              </a:rPr>
              <a:t>element is the smallest entity that </a:t>
            </a:r>
            <a:r>
              <a:rPr lang="en-US" sz="2800" dirty="0" smtClean="0">
                <a:solidFill>
                  <a:schemeClr val="tx1"/>
                </a:solidFill>
                <a:latin typeface="Book Antiqua" panose="02040602050305030304" pitchFamily="18" charset="0"/>
              </a:rPr>
              <a:t>can represent </a:t>
            </a:r>
            <a:r>
              <a:rPr lang="en-US" sz="2800" dirty="0">
                <a:solidFill>
                  <a:schemeClr val="tx1"/>
                </a:solidFill>
                <a:latin typeface="Book Antiqua" panose="02040602050305030304" pitchFamily="18" charset="0"/>
              </a:rPr>
              <a:t>a piece of information: this is </a:t>
            </a:r>
            <a:r>
              <a:rPr lang="en-US" sz="2800" dirty="0" smtClean="0">
                <a:solidFill>
                  <a:schemeClr val="tx1"/>
                </a:solidFill>
                <a:latin typeface="Book Antiqua" panose="02040602050305030304" pitchFamily="18" charset="0"/>
              </a:rPr>
              <a:t>the bit.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 digital data communications, a signal element carries data elements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 </a:t>
            </a:r>
            <a:r>
              <a:rPr lang="en-US" sz="2800" dirty="0" smtClean="0">
                <a:solidFill>
                  <a:schemeClr val="tx1"/>
                </a:solidFill>
                <a:latin typeface="Book Antiqua" panose="02040602050305030304" pitchFamily="18" charset="0"/>
              </a:rPr>
              <a:t>signal element </a:t>
            </a:r>
            <a:r>
              <a:rPr lang="en-US" sz="2800" dirty="0">
                <a:solidFill>
                  <a:schemeClr val="tx1"/>
                </a:solidFill>
                <a:latin typeface="Book Antiqua" panose="02040602050305030304" pitchFamily="18" charset="0"/>
              </a:rPr>
              <a:t>is the shortest unit (timewise) of a digital signal</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Data elements are </a:t>
            </a:r>
            <a:r>
              <a:rPr lang="en-US" sz="2800" dirty="0">
                <a:solidFill>
                  <a:schemeClr val="tx1"/>
                </a:solidFill>
                <a:latin typeface="Book Antiqua" panose="02040602050305030304" pitchFamily="18" charset="0"/>
              </a:rPr>
              <a:t>what we need to send; signal elements are what we can send</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Data elements </a:t>
            </a:r>
            <a:r>
              <a:rPr lang="en-US" sz="2800" dirty="0" smtClean="0">
                <a:solidFill>
                  <a:schemeClr val="tx1"/>
                </a:solidFill>
                <a:latin typeface="Book Antiqua" panose="02040602050305030304" pitchFamily="18" charset="0"/>
              </a:rPr>
              <a:t>are being </a:t>
            </a:r>
            <a:r>
              <a:rPr lang="en-US" sz="2800" dirty="0">
                <a:solidFill>
                  <a:schemeClr val="tx1"/>
                </a:solidFill>
                <a:latin typeface="Book Antiqua" panose="02040602050305030304" pitchFamily="18" charset="0"/>
              </a:rPr>
              <a:t>carried; signal elements are the carriers.</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We define a ratio r which is the number of data elements carried by each signal element.</a:t>
            </a:r>
          </a:p>
        </p:txBody>
      </p:sp>
    </p:spTree>
    <p:extLst>
      <p:ext uri="{BB962C8B-B14F-4D97-AF65-F5344CB8AC3E}">
        <p14:creationId xmlns:p14="http://schemas.microsoft.com/office/powerpoint/2010/main" val="278744808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Signal element versus data element</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96637"/>
            <a:ext cx="8229600" cy="616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370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Data rate versus signal rate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data rate defines the number of data </a:t>
            </a:r>
            <a:r>
              <a:rPr lang="en-US" sz="2800" dirty="0" smtClean="0">
                <a:solidFill>
                  <a:schemeClr val="tx1"/>
                </a:solidFill>
                <a:latin typeface="Book Antiqua" panose="02040602050305030304" pitchFamily="18" charset="0"/>
              </a:rPr>
              <a:t>elements (bits</a:t>
            </a:r>
            <a:r>
              <a:rPr lang="en-US" sz="2800" dirty="0">
                <a:solidFill>
                  <a:schemeClr val="tx1"/>
                </a:solidFill>
                <a:latin typeface="Book Antiqua" panose="02040602050305030304" pitchFamily="18" charset="0"/>
              </a:rPr>
              <a:t>) sent in </a:t>
            </a:r>
            <a:r>
              <a:rPr lang="en-US" sz="2800" dirty="0" smtClean="0">
                <a:solidFill>
                  <a:schemeClr val="tx1"/>
                </a:solidFill>
                <a:latin typeface="Book Antiqua" panose="02040602050305030304" pitchFamily="18" charset="0"/>
              </a:rPr>
              <a:t>1sec, bps. Often referred as bit rate.</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signal rate is the number of </a:t>
            </a:r>
            <a:r>
              <a:rPr lang="en-US" sz="2800" dirty="0" smtClean="0">
                <a:solidFill>
                  <a:schemeClr val="tx1"/>
                </a:solidFill>
                <a:latin typeface="Book Antiqua" panose="02040602050305030304" pitchFamily="18" charset="0"/>
              </a:rPr>
              <a:t>signal elements </a:t>
            </a:r>
            <a:r>
              <a:rPr lang="en-US" sz="2800" dirty="0">
                <a:solidFill>
                  <a:schemeClr val="tx1"/>
                </a:solidFill>
                <a:latin typeface="Book Antiqua" panose="02040602050305030304" pitchFamily="18" charset="0"/>
              </a:rPr>
              <a:t>sent in </a:t>
            </a:r>
            <a:r>
              <a:rPr lang="en-US" sz="2800" dirty="0" smtClean="0">
                <a:solidFill>
                  <a:schemeClr val="tx1"/>
                </a:solidFill>
                <a:latin typeface="Book Antiqua" panose="02040602050305030304" pitchFamily="18" charset="0"/>
              </a:rPr>
              <a:t>1sec. </a:t>
            </a:r>
            <a:r>
              <a:rPr lang="en-US" sz="2800" dirty="0">
                <a:solidFill>
                  <a:schemeClr val="tx1"/>
                </a:solidFill>
                <a:latin typeface="Book Antiqua" panose="02040602050305030304" pitchFamily="18" charset="0"/>
              </a:rPr>
              <a:t>The unit is the </a:t>
            </a:r>
            <a:r>
              <a:rPr lang="en-US" sz="2800" dirty="0" smtClean="0">
                <a:solidFill>
                  <a:schemeClr val="tx1"/>
                </a:solidFill>
                <a:latin typeface="Book Antiqua" panose="02040602050305030304" pitchFamily="18" charset="0"/>
              </a:rPr>
              <a:t>baud or baud rate.</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Even some times baud rate also called by pulse rate or modulation rate.</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One </a:t>
            </a:r>
            <a:r>
              <a:rPr lang="en-US" sz="2800" dirty="0">
                <a:solidFill>
                  <a:schemeClr val="tx1"/>
                </a:solidFill>
                <a:latin typeface="Book Antiqua" panose="02040602050305030304" pitchFamily="18" charset="0"/>
              </a:rPr>
              <a:t>goal in data communications is to increase the data rate while decreasing </a:t>
            </a:r>
            <a:r>
              <a:rPr lang="en-US" sz="2800" dirty="0" smtClean="0">
                <a:solidFill>
                  <a:schemeClr val="tx1"/>
                </a:solidFill>
                <a:latin typeface="Book Antiqua" panose="02040602050305030304" pitchFamily="18" charset="0"/>
              </a:rPr>
              <a:t>the signal </a:t>
            </a:r>
            <a:r>
              <a:rPr lang="en-US" sz="2800" dirty="0">
                <a:solidFill>
                  <a:schemeClr val="tx1"/>
                </a:solidFill>
                <a:latin typeface="Book Antiqua" panose="02040602050305030304" pitchFamily="18" charset="0"/>
              </a:rPr>
              <a:t>rate. 	</a:t>
            </a: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Increasing the data rate increases the speed of </a:t>
            </a:r>
            <a:r>
              <a:rPr lang="en-US" sz="2800" dirty="0" smtClean="0">
                <a:solidFill>
                  <a:schemeClr val="tx1"/>
                </a:solidFill>
                <a:latin typeface="Book Antiqua" panose="02040602050305030304" pitchFamily="18" charset="0"/>
              </a:rPr>
              <a:t>transmission.</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Decreasing the signal </a:t>
            </a:r>
            <a:r>
              <a:rPr lang="en-US" sz="2800" dirty="0">
                <a:solidFill>
                  <a:schemeClr val="tx1"/>
                </a:solidFill>
                <a:latin typeface="Book Antiqua" panose="02040602050305030304" pitchFamily="18" charset="0"/>
              </a:rPr>
              <a:t>rate decreases the bandwidth requirement.</a:t>
            </a:r>
          </a:p>
        </p:txBody>
      </p:sp>
    </p:spTree>
    <p:extLst>
      <p:ext uri="{BB962C8B-B14F-4D97-AF65-F5344CB8AC3E}">
        <p14:creationId xmlns:p14="http://schemas.microsoft.com/office/powerpoint/2010/main" val="11107949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Relationship</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Relationship between data rate vs baud rate: The relation depends on value of r.</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It also </a:t>
            </a:r>
            <a:r>
              <a:rPr lang="en-US" sz="2800" dirty="0" smtClean="0">
                <a:solidFill>
                  <a:schemeClr val="tx1"/>
                </a:solidFill>
                <a:latin typeface="Book Antiqua" panose="02040602050305030304" pitchFamily="18" charset="0"/>
              </a:rPr>
              <a:t>depends on </a:t>
            </a:r>
            <a:r>
              <a:rPr lang="en-US" sz="2800" dirty="0">
                <a:solidFill>
                  <a:schemeClr val="tx1"/>
                </a:solidFill>
                <a:latin typeface="Book Antiqua" panose="02040602050305030304" pitchFamily="18" charset="0"/>
              </a:rPr>
              <a:t>the data pattern. </a:t>
            </a: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If </a:t>
            </a:r>
            <a:r>
              <a:rPr lang="en-US" sz="2800" dirty="0">
                <a:solidFill>
                  <a:schemeClr val="tx1"/>
                </a:solidFill>
                <a:latin typeface="Book Antiqua" panose="02040602050305030304" pitchFamily="18" charset="0"/>
              </a:rPr>
              <a:t>we have a data pattern of all 1s or all </a:t>
            </a:r>
            <a:r>
              <a:rPr lang="en-US" sz="2800" dirty="0" err="1">
                <a:solidFill>
                  <a:schemeClr val="tx1"/>
                </a:solidFill>
                <a:latin typeface="Book Antiqua" panose="02040602050305030304" pitchFamily="18" charset="0"/>
              </a:rPr>
              <a:t>Os</a:t>
            </a:r>
            <a:r>
              <a:rPr lang="en-US" sz="2800" dirty="0">
                <a:solidFill>
                  <a:schemeClr val="tx1"/>
                </a:solidFill>
                <a:latin typeface="Book Antiqua" panose="02040602050305030304" pitchFamily="18" charset="0"/>
              </a:rPr>
              <a:t>, the signal rate may </a:t>
            </a:r>
            <a:r>
              <a:rPr lang="en-US" sz="2800" dirty="0" smtClean="0">
                <a:solidFill>
                  <a:schemeClr val="tx1"/>
                </a:solidFill>
                <a:latin typeface="Book Antiqua" panose="02040602050305030304" pitchFamily="18" charset="0"/>
              </a:rPr>
              <a:t>be different </a:t>
            </a:r>
            <a:r>
              <a:rPr lang="en-US" sz="2800" dirty="0">
                <a:solidFill>
                  <a:schemeClr val="tx1"/>
                </a:solidFill>
                <a:latin typeface="Book Antiqua" panose="02040602050305030304" pitchFamily="18" charset="0"/>
              </a:rPr>
              <a:t>from a data pattern </a:t>
            </a:r>
            <a:r>
              <a:rPr lang="en-US" sz="2800" dirty="0" smtClean="0">
                <a:solidFill>
                  <a:schemeClr val="tx1"/>
                </a:solidFill>
                <a:latin typeface="Book Antiqua" panose="02040602050305030304" pitchFamily="18" charset="0"/>
              </a:rPr>
              <a:t>of alternating </a:t>
            </a:r>
            <a:r>
              <a:rPr lang="en-US" sz="2800" dirty="0" err="1">
                <a:solidFill>
                  <a:schemeClr val="tx1"/>
                </a:solidFill>
                <a:latin typeface="Book Antiqua" panose="02040602050305030304" pitchFamily="18" charset="0"/>
              </a:rPr>
              <a:t>Os</a:t>
            </a:r>
            <a:r>
              <a:rPr lang="en-US" sz="2800" dirty="0">
                <a:solidFill>
                  <a:schemeClr val="tx1"/>
                </a:solidFill>
                <a:latin typeface="Book Antiqua" panose="02040602050305030304" pitchFamily="18" charset="0"/>
              </a:rPr>
              <a:t> and Is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To derive a formula for the </a:t>
            </a:r>
            <a:r>
              <a:rPr lang="en-US" sz="2800" dirty="0" smtClean="0">
                <a:solidFill>
                  <a:schemeClr val="tx1"/>
                </a:solidFill>
                <a:latin typeface="Book Antiqua" panose="02040602050305030304" pitchFamily="18" charset="0"/>
              </a:rPr>
              <a:t>relationship, we </a:t>
            </a:r>
            <a:r>
              <a:rPr lang="en-US" sz="2800" dirty="0">
                <a:solidFill>
                  <a:schemeClr val="tx1"/>
                </a:solidFill>
                <a:latin typeface="Book Antiqua" panose="02040602050305030304" pitchFamily="18" charset="0"/>
              </a:rPr>
              <a:t>need to define three cases: the worst, best, and average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worst case </a:t>
            </a:r>
            <a:r>
              <a:rPr lang="en-US" sz="2800" dirty="0" smtClean="0">
                <a:solidFill>
                  <a:schemeClr val="tx1"/>
                </a:solidFill>
                <a:latin typeface="Book Antiqua" panose="02040602050305030304" pitchFamily="18" charset="0"/>
              </a:rPr>
              <a:t>is when </a:t>
            </a:r>
            <a:r>
              <a:rPr lang="en-US" sz="2800" dirty="0">
                <a:solidFill>
                  <a:schemeClr val="tx1"/>
                </a:solidFill>
                <a:latin typeface="Book Antiqua" panose="02040602050305030304" pitchFamily="18" charset="0"/>
              </a:rPr>
              <a:t>we need the maximum signal </a:t>
            </a:r>
            <a:r>
              <a:rPr lang="en-US" sz="2800" dirty="0" smtClean="0">
                <a:solidFill>
                  <a:schemeClr val="tx1"/>
                </a:solidFill>
                <a:latin typeface="Book Antiqua" panose="02040602050305030304" pitchFamily="18" charset="0"/>
              </a:rPr>
              <a:t>rate.</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The </a:t>
            </a:r>
            <a:r>
              <a:rPr lang="en-US" sz="2800" dirty="0">
                <a:solidFill>
                  <a:schemeClr val="tx1"/>
                </a:solidFill>
                <a:latin typeface="Book Antiqua" panose="02040602050305030304" pitchFamily="18" charset="0"/>
              </a:rPr>
              <a:t>best case is when we need the minimum</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 data communications, we are usually interested in the average case.</a:t>
            </a:r>
          </a:p>
        </p:txBody>
      </p:sp>
    </p:spTree>
    <p:extLst>
      <p:ext uri="{BB962C8B-B14F-4D97-AF65-F5344CB8AC3E}">
        <p14:creationId xmlns:p14="http://schemas.microsoft.com/office/powerpoint/2010/main" val="15931609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Data rate vs signal rate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baud or signal rate can be expressed as:</a:t>
            </a:r>
          </a:p>
          <a:p>
            <a:r>
              <a:rPr lang="en-US" sz="2800" dirty="0">
                <a:solidFill>
                  <a:srgbClr val="FF0000"/>
                </a:solidFill>
                <a:latin typeface="Book Antiqua" panose="02040602050305030304" pitchFamily="18" charset="0"/>
              </a:rPr>
              <a:t>S = c x N x 1/r bauds</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where N is data </a:t>
            </a:r>
            <a:r>
              <a:rPr lang="en-US" sz="2800" dirty="0" smtClean="0">
                <a:solidFill>
                  <a:schemeClr val="tx1"/>
                </a:solidFill>
                <a:latin typeface="Book Antiqua" panose="02040602050305030304" pitchFamily="18" charset="0"/>
              </a:rPr>
              <a:t>rate(bps), c </a:t>
            </a:r>
            <a:r>
              <a:rPr lang="en-US" sz="2800" dirty="0">
                <a:solidFill>
                  <a:schemeClr val="tx1"/>
                </a:solidFill>
                <a:latin typeface="Book Antiqua" panose="02040602050305030304" pitchFamily="18" charset="0"/>
              </a:rPr>
              <a:t>is the case factor (worst, best &amp; avg</a:t>
            </a:r>
            <a:r>
              <a:rPr lang="en-US" sz="2800" dirty="0" smtClean="0">
                <a:solidFill>
                  <a:schemeClr val="tx1"/>
                </a:solidFill>
                <a:latin typeface="Book Antiqua" panose="02040602050305030304" pitchFamily="18" charset="0"/>
              </a:rPr>
              <a:t>.) , r </a:t>
            </a:r>
            <a:r>
              <a:rPr lang="en-US" sz="2800" dirty="0">
                <a:solidFill>
                  <a:schemeClr val="tx1"/>
                </a:solidFill>
                <a:latin typeface="Book Antiqua" panose="02040602050305030304" pitchFamily="18" charset="0"/>
              </a:rPr>
              <a:t>is the ratio between data element &amp; signal </a:t>
            </a:r>
            <a:r>
              <a:rPr lang="en-US" sz="2800" dirty="0" smtClean="0">
                <a:solidFill>
                  <a:schemeClr val="tx1"/>
                </a:solidFill>
                <a:latin typeface="Book Antiqua" panose="02040602050305030304" pitchFamily="18" charset="0"/>
              </a:rPr>
              <a:t>element.</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292" y="3048000"/>
            <a:ext cx="8937625" cy="1828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91" y="4495800"/>
            <a:ext cx="8937625" cy="160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5943600"/>
            <a:ext cx="6635750" cy="73977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589294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Line coding schemes </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71600"/>
            <a:ext cx="8458200" cy="5029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2864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Unipolar scheme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All signal levels are on one side of the time axis - either above or below</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NRZ - Non Return to Zero scheme is an example of this code. The signal level does not return to zero during a symbol transmission.</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It has no synchronization or any error detection. It is simple but costly in power consumption.</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038600"/>
            <a:ext cx="7904162" cy="2343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131938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Polar- NRZ scheme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voltages are on both sides of the time axis.</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Polar NRZ scheme can be implemented with two voltages. E.g. +V for 1 and -V for 0.</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There are two versions: </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NRZ - Level (NRZ-L) - positive voltage for one symbol and negative for the other</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NRZ - Inversion (NRZ-I) - the change or lack of change in polarity determines the value of a symbol. E.g. a “1” symbol inverts the polarity a “0” does not. </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sp>
        <p:nvSpPr>
          <p:cNvPr id="4" name="Rectangle 11"/>
          <p:cNvSpPr>
            <a:spLocks noChangeArrowheads="1"/>
          </p:cNvSpPr>
          <p:nvPr/>
        </p:nvSpPr>
        <p:spPr bwMode="auto">
          <a:xfrm>
            <a:off x="0" y="5379486"/>
            <a:ext cx="9144000" cy="147732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baseline="-14000">
                <a:solidFill>
                  <a:schemeClr val="tx1"/>
                </a:solidFill>
                <a:latin typeface="Times New Roman" pitchFamily="1" charset="0"/>
              </a:defRPr>
            </a:lvl1pPr>
            <a:lvl2pPr marL="742950" indent="-285750">
              <a:defRPr sz="2000" baseline="-14000">
                <a:solidFill>
                  <a:schemeClr val="tx1"/>
                </a:solidFill>
                <a:latin typeface="Times New Roman" pitchFamily="1" charset="0"/>
              </a:defRPr>
            </a:lvl2pPr>
            <a:lvl3pPr marL="1143000" indent="-228600">
              <a:defRPr sz="2000" baseline="-14000">
                <a:solidFill>
                  <a:schemeClr val="tx1"/>
                </a:solidFill>
                <a:latin typeface="Times New Roman" pitchFamily="1" charset="0"/>
              </a:defRPr>
            </a:lvl3pPr>
            <a:lvl4pPr marL="1600200" indent="-228600">
              <a:defRPr sz="2000" baseline="-14000">
                <a:solidFill>
                  <a:schemeClr val="tx1"/>
                </a:solidFill>
                <a:latin typeface="Times New Roman" pitchFamily="1" charset="0"/>
              </a:defRPr>
            </a:lvl4pPr>
            <a:lvl5pPr marL="2057400" indent="-228600">
              <a:defRPr sz="2000" baseline="-14000">
                <a:solidFill>
                  <a:schemeClr val="tx1"/>
                </a:solidFill>
                <a:latin typeface="Times New Roman" pitchFamily="1" charset="0"/>
              </a:defRPr>
            </a:lvl5pPr>
            <a:lvl6pPr marL="2514600" indent="-228600" eaLnBrk="0" fontAlgn="base" hangingPunct="0">
              <a:spcBef>
                <a:spcPct val="0"/>
              </a:spcBef>
              <a:spcAft>
                <a:spcPct val="0"/>
              </a:spcAft>
              <a:defRPr sz="2000" baseline="-14000">
                <a:solidFill>
                  <a:schemeClr val="tx1"/>
                </a:solidFill>
                <a:latin typeface="Times New Roman" pitchFamily="1" charset="0"/>
              </a:defRPr>
            </a:lvl6pPr>
            <a:lvl7pPr marL="2971800" indent="-228600" eaLnBrk="0" fontAlgn="base" hangingPunct="0">
              <a:spcBef>
                <a:spcPct val="0"/>
              </a:spcBef>
              <a:spcAft>
                <a:spcPct val="0"/>
              </a:spcAft>
              <a:defRPr sz="2000" baseline="-14000">
                <a:solidFill>
                  <a:schemeClr val="tx1"/>
                </a:solidFill>
                <a:latin typeface="Times New Roman" pitchFamily="1" charset="0"/>
              </a:defRPr>
            </a:lvl7pPr>
            <a:lvl8pPr marL="3429000" indent="-228600" eaLnBrk="0" fontAlgn="base" hangingPunct="0">
              <a:spcBef>
                <a:spcPct val="0"/>
              </a:spcBef>
              <a:spcAft>
                <a:spcPct val="0"/>
              </a:spcAft>
              <a:defRPr sz="2000" baseline="-14000">
                <a:solidFill>
                  <a:schemeClr val="tx1"/>
                </a:solidFill>
                <a:latin typeface="Times New Roman" pitchFamily="1" charset="0"/>
              </a:defRPr>
            </a:lvl8pPr>
            <a:lvl9pPr marL="3886200" indent="-228600" eaLnBrk="0" fontAlgn="base" hangingPunct="0">
              <a:spcBef>
                <a:spcPct val="0"/>
              </a:spcBef>
              <a:spcAft>
                <a:spcPct val="0"/>
              </a:spcAft>
              <a:defRPr sz="2000" baseline="-14000">
                <a:solidFill>
                  <a:schemeClr val="tx1"/>
                </a:solidFill>
                <a:latin typeface="Times New Roman" pitchFamily="1" charset="0"/>
              </a:defRPr>
            </a:lvl9pPr>
          </a:lstStyle>
          <a:p>
            <a:pPr algn="ctr"/>
            <a:r>
              <a:rPr lang="en-US" altLang="en-US" sz="3000" b="1" baseline="0" dirty="0">
                <a:latin typeface="Book Antiqua" panose="02040602050305030304" pitchFamily="18" charset="0"/>
              </a:rPr>
              <a:t>In NRZ-L the level of the voltage </a:t>
            </a:r>
            <a:r>
              <a:rPr lang="en-US" altLang="en-US" sz="3000" b="1" baseline="0" dirty="0" smtClean="0">
                <a:latin typeface="Book Antiqua" panose="02040602050305030304" pitchFamily="18" charset="0"/>
              </a:rPr>
              <a:t>determines the </a:t>
            </a:r>
            <a:r>
              <a:rPr lang="en-US" altLang="en-US" sz="3000" b="1" baseline="0" dirty="0">
                <a:latin typeface="Book Antiqua" panose="02040602050305030304" pitchFamily="18" charset="0"/>
              </a:rPr>
              <a:t>value of the bit. </a:t>
            </a:r>
            <a:r>
              <a:rPr lang="en-US" altLang="en-US" sz="3000" b="1" baseline="0" dirty="0" smtClean="0">
                <a:latin typeface="Book Antiqua" panose="02040602050305030304" pitchFamily="18" charset="0"/>
              </a:rPr>
              <a:t> In </a:t>
            </a:r>
            <a:r>
              <a:rPr lang="en-US" altLang="en-US" sz="3000" b="1" baseline="0" dirty="0">
                <a:latin typeface="Book Antiqua" panose="02040602050305030304" pitchFamily="18" charset="0"/>
              </a:rPr>
              <a:t>NRZ-I the inversion </a:t>
            </a:r>
            <a:r>
              <a:rPr lang="en-US" altLang="en-US" sz="3000" b="1" baseline="0" dirty="0" smtClean="0">
                <a:latin typeface="Book Antiqua" panose="02040602050305030304" pitchFamily="18" charset="0"/>
              </a:rPr>
              <a:t> or </a:t>
            </a:r>
            <a:r>
              <a:rPr lang="en-US" altLang="en-US" sz="3000" b="1" baseline="0" dirty="0">
                <a:latin typeface="Book Antiqua" panose="02040602050305030304" pitchFamily="18" charset="0"/>
              </a:rPr>
              <a:t>the lack of inversion </a:t>
            </a:r>
            <a:r>
              <a:rPr lang="en-US" altLang="en-US" sz="3000" b="1" baseline="0" dirty="0" smtClean="0">
                <a:latin typeface="Book Antiqua" panose="02040602050305030304" pitchFamily="18" charset="0"/>
              </a:rPr>
              <a:t> determines </a:t>
            </a:r>
            <a:r>
              <a:rPr lang="en-US" altLang="en-US" sz="3000" b="1" baseline="0" dirty="0">
                <a:latin typeface="Book Antiqua" panose="02040602050305030304" pitchFamily="18" charset="0"/>
              </a:rPr>
              <a:t>the value of the bit.</a:t>
            </a:r>
          </a:p>
        </p:txBody>
      </p:sp>
    </p:spTree>
    <p:extLst>
      <p:ext uri="{BB962C8B-B14F-4D97-AF65-F5344CB8AC3E}">
        <p14:creationId xmlns:p14="http://schemas.microsoft.com/office/powerpoint/2010/main" val="10851094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NRZ-L and NRZ-I scheme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413" y="2133600"/>
            <a:ext cx="8866187" cy="276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309" y="5463756"/>
            <a:ext cx="8432801" cy="1394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17850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Polar- RZ scheme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Return to Zero (RZ) scheme uses three voltage values. +, 0, -. </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Each symbol has a transition in the middle. Either from high to zero or from low to zero.</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This scheme has more signal transitions (two per symbol) and therefore requires a wider bandwidth.</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More complex as it uses three voltage level. It has no error detection capability.</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730" y="4431971"/>
            <a:ext cx="8314470" cy="2426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27562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2700" b="1" dirty="0" smtClean="0">
                <a:latin typeface="Book Antiqua" panose="02040602050305030304" pitchFamily="18" charset="0"/>
              </a:rPr>
              <a:t>Polar </a:t>
            </a:r>
            <a:r>
              <a:rPr lang="en-US" sz="2700" b="1" dirty="0" err="1" smtClean="0">
                <a:latin typeface="Book Antiqua" panose="02040602050305030304" pitchFamily="18" charset="0"/>
              </a:rPr>
              <a:t>Biphase</a:t>
            </a:r>
            <a:r>
              <a:rPr lang="en-US" sz="2700" b="1" dirty="0" smtClean="0">
                <a:latin typeface="Book Antiqua" panose="02040602050305030304" pitchFamily="18" charset="0"/>
              </a:rPr>
              <a:t>- </a:t>
            </a:r>
            <a:r>
              <a:rPr lang="en-US" sz="2700" b="1" dirty="0">
                <a:latin typeface="Book Antiqua" panose="02040602050305030304" pitchFamily="18" charset="0"/>
              </a:rPr>
              <a:t>Manchester and Differential Manchester</a:t>
            </a: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rgbClr val="FF0000"/>
                </a:solidFill>
                <a:latin typeface="Book Antiqua" panose="02040602050305030304" pitchFamily="18" charset="0"/>
              </a:rPr>
              <a:t>Manchester</a:t>
            </a:r>
            <a:r>
              <a:rPr lang="en-US" sz="2800" dirty="0">
                <a:solidFill>
                  <a:schemeClr val="tx1"/>
                </a:solidFill>
                <a:latin typeface="Book Antiqua" panose="02040602050305030304" pitchFamily="18" charset="0"/>
              </a:rPr>
              <a:t> coding consists of combining the NRZ-L and RZ schemes.</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Every symbol has a level transition in the middle: from high to low or low to high. Uses only two voltage levels.</a:t>
            </a:r>
          </a:p>
          <a:p>
            <a:pPr marL="457200" indent="-457200" algn="l">
              <a:buFont typeface="Arial" panose="020B0604020202020204" pitchFamily="34" charset="0"/>
              <a:buChar char="•"/>
            </a:pPr>
            <a:r>
              <a:rPr lang="en-US" sz="2800" dirty="0">
                <a:solidFill>
                  <a:srgbClr val="FF0000"/>
                </a:solidFill>
                <a:latin typeface="Book Antiqua" panose="02040602050305030304" pitchFamily="18" charset="0"/>
              </a:rPr>
              <a:t>Differential Manchester </a:t>
            </a:r>
            <a:r>
              <a:rPr lang="en-US" sz="2800" dirty="0">
                <a:solidFill>
                  <a:schemeClr val="tx1"/>
                </a:solidFill>
                <a:latin typeface="Book Antiqua" panose="02040602050305030304" pitchFamily="18" charset="0"/>
              </a:rPr>
              <a:t>coding consists of combining the NRZ-I and RZ schemes.</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Every symbol has a level transition in the middle. But the level at the beginning of the symbol is determined by the symbol value. One symbol causes a level change the other does not. </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252704157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2600" b="1" dirty="0" err="1" smtClean="0">
                <a:latin typeface="Book Antiqua" panose="02040602050305030304" pitchFamily="18" charset="0"/>
              </a:rPr>
              <a:t>Biphase</a:t>
            </a:r>
            <a:r>
              <a:rPr lang="en-US" sz="2600" b="1" dirty="0" smtClean="0">
                <a:latin typeface="Book Antiqua" panose="02040602050305030304" pitchFamily="18" charset="0"/>
              </a:rPr>
              <a:t>: </a:t>
            </a:r>
            <a:r>
              <a:rPr lang="en-US" sz="2600" b="1" dirty="0">
                <a:latin typeface="Book Antiqua" panose="02040602050305030304" pitchFamily="18" charset="0"/>
              </a:rPr>
              <a:t>Manchester and differential Manchester schemes</a:t>
            </a: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613" y="1636713"/>
            <a:ext cx="8662987" cy="453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45307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a:latin typeface="Book Antiqua" panose="02040602050305030304" pitchFamily="18" charset="0"/>
              </a:rPr>
              <a:t>Bipolar - AMI and </a:t>
            </a:r>
            <a:r>
              <a:rPr lang="en-US" sz="3600" b="1" dirty="0" err="1">
                <a:latin typeface="Book Antiqua" panose="02040602050305030304" pitchFamily="18" charset="0"/>
              </a:rPr>
              <a:t>Pseudoternary</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Code uses 3 voltage levels: - +, 0, -, to represent the symbols (note not transitions to zero as in RZ).</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Voltage level for one symbol is at “0” and the other alternates between + &amp; -.</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Bipolar Alternate Mark Inversion (AMI) - the “0” symbol is represented by zero voltage and the “1” symbol alternates between +V and -V.</a:t>
            </a:r>
          </a:p>
          <a:p>
            <a:pPr marL="457200" indent="-457200" algn="l">
              <a:buFont typeface="Arial" panose="020B0604020202020204" pitchFamily="34" charset="0"/>
              <a:buChar char="•"/>
            </a:pPr>
            <a:r>
              <a:rPr lang="en-US" sz="2800" dirty="0" err="1">
                <a:solidFill>
                  <a:schemeClr val="tx1"/>
                </a:solidFill>
                <a:latin typeface="Book Antiqua" panose="02040602050305030304" pitchFamily="18" charset="0"/>
              </a:rPr>
              <a:t>Pseudoternary</a:t>
            </a:r>
            <a:r>
              <a:rPr lang="en-US" sz="2800" dirty="0">
                <a:solidFill>
                  <a:schemeClr val="tx1"/>
                </a:solidFill>
                <a:latin typeface="Book Antiqua" panose="02040602050305030304" pitchFamily="18" charset="0"/>
              </a:rPr>
              <a:t> is the reverse of AMI.</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575" y="4397510"/>
            <a:ext cx="8556625" cy="237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0900496"/>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a:latin typeface="Book Antiqua" panose="02040602050305030304" pitchFamily="18" charset="0"/>
              </a:rPr>
              <a:t>ANALOG-TO-DIGITAL CONVERSION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 </a:t>
            </a:r>
            <a:r>
              <a:rPr lang="en-US" sz="2800" dirty="0">
                <a:solidFill>
                  <a:schemeClr val="tx1"/>
                </a:solidFill>
                <a:latin typeface="Book Antiqua" panose="02040602050305030304" pitchFamily="18" charset="0"/>
              </a:rPr>
              <a:t>Some times we have an analog signal such as one created by a microphone or camera</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Digital data has superiority over analog signal, hence need to convert the analog signal to digital signal before transmitting.</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Two techniques are used to convert the analog signal to digital signal and convert the digital signal to digital data for usage purpose:</a:t>
            </a:r>
          </a:p>
          <a:p>
            <a:pPr marL="914400" lvl="1" indent="-457200" algn="l">
              <a:buFont typeface="Arial" panose="020B0604020202020204" pitchFamily="34" charset="0"/>
              <a:buChar char="•"/>
            </a:pPr>
            <a:r>
              <a:rPr lang="en-US" sz="2400" dirty="0" smtClean="0">
                <a:solidFill>
                  <a:srgbClr val="FF0000"/>
                </a:solidFill>
                <a:latin typeface="Book Antiqua" panose="02040602050305030304" pitchFamily="18" charset="0"/>
              </a:rPr>
              <a:t>Pulse code modulation(PCM)</a:t>
            </a:r>
          </a:p>
          <a:p>
            <a:pPr marL="914400" lvl="1" indent="-457200" algn="l">
              <a:buFont typeface="Arial" panose="020B0604020202020204" pitchFamily="34" charset="0"/>
              <a:buChar char="•"/>
            </a:pPr>
            <a:r>
              <a:rPr lang="en-US" sz="2400" dirty="0" smtClean="0">
                <a:solidFill>
                  <a:srgbClr val="FF0000"/>
                </a:solidFill>
                <a:latin typeface="Book Antiqua" panose="02040602050305030304" pitchFamily="18" charset="0"/>
              </a:rPr>
              <a:t>Delta Modulation.</a:t>
            </a:r>
            <a:endParaRPr lang="en-US" sz="2400" dirty="0">
              <a:solidFill>
                <a:srgbClr val="FF0000"/>
              </a:solidFill>
              <a:latin typeface="Book Antiqua" panose="02040602050305030304" pitchFamily="18" charset="0"/>
            </a:endParaRPr>
          </a:p>
        </p:txBody>
      </p:sp>
    </p:spTree>
    <p:extLst>
      <p:ext uri="{BB962C8B-B14F-4D97-AF65-F5344CB8AC3E}">
        <p14:creationId xmlns:p14="http://schemas.microsoft.com/office/powerpoint/2010/main" val="3813538311"/>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Pulse Code Modulation-PCM</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most common technique to change an analog signal to digital data (</a:t>
            </a:r>
            <a:r>
              <a:rPr lang="en-US" sz="2800" dirty="0" smtClean="0">
                <a:solidFill>
                  <a:schemeClr val="tx1"/>
                </a:solidFill>
                <a:latin typeface="Book Antiqua" panose="02040602050305030304" pitchFamily="18" charset="0"/>
              </a:rPr>
              <a:t>digitization) is </a:t>
            </a:r>
            <a:r>
              <a:rPr lang="en-US" sz="2800" dirty="0">
                <a:solidFill>
                  <a:schemeClr val="tx1"/>
                </a:solidFill>
                <a:latin typeface="Book Antiqua" panose="02040602050305030304" pitchFamily="18" charset="0"/>
              </a:rPr>
              <a:t>called pulse code modulation (PCM</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 PCM encoder has three processes, as </a:t>
            </a:r>
            <a:r>
              <a:rPr lang="en-US" sz="2800" dirty="0" smtClean="0">
                <a:solidFill>
                  <a:schemeClr val="tx1"/>
                </a:solidFill>
                <a:latin typeface="Book Antiqua" panose="02040602050305030304" pitchFamily="18" charset="0"/>
              </a:rPr>
              <a:t>shown in </a:t>
            </a:r>
            <a:r>
              <a:rPr lang="en-US" sz="2800" dirty="0">
                <a:solidFill>
                  <a:schemeClr val="tx1"/>
                </a:solidFill>
                <a:latin typeface="Book Antiqua" panose="02040602050305030304" pitchFamily="18" charset="0"/>
              </a:rPr>
              <a:t>Figure</a:t>
            </a: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862" y="2946010"/>
            <a:ext cx="8821737" cy="3887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484660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Sampling</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400" dirty="0">
                <a:solidFill>
                  <a:schemeClr val="tx1"/>
                </a:solidFill>
                <a:latin typeface="Book Antiqua" panose="02040602050305030304" pitchFamily="18" charset="0"/>
              </a:rPr>
              <a:t>The analog signal is sampled every </a:t>
            </a:r>
            <a:r>
              <a:rPr lang="en-US" sz="2400" dirty="0" err="1">
                <a:solidFill>
                  <a:schemeClr val="tx1"/>
                </a:solidFill>
                <a:latin typeface="Book Antiqua" panose="02040602050305030304" pitchFamily="18" charset="0"/>
              </a:rPr>
              <a:t>Ts</a:t>
            </a:r>
            <a:r>
              <a:rPr lang="en-US" sz="2400" dirty="0">
                <a:solidFill>
                  <a:schemeClr val="tx1"/>
                </a:solidFill>
                <a:latin typeface="Book Antiqua" panose="02040602050305030304" pitchFamily="18" charset="0"/>
              </a:rPr>
              <a:t> </a:t>
            </a:r>
            <a:r>
              <a:rPr lang="en-US" sz="2400" dirty="0" smtClean="0">
                <a:solidFill>
                  <a:schemeClr val="tx1"/>
                </a:solidFill>
                <a:latin typeface="Book Antiqua" panose="02040602050305030304" pitchFamily="18" charset="0"/>
              </a:rPr>
              <a:t>s, </a:t>
            </a:r>
            <a:r>
              <a:rPr lang="en-US" sz="2400" dirty="0">
                <a:solidFill>
                  <a:schemeClr val="tx1"/>
                </a:solidFill>
                <a:latin typeface="Book Antiqua" panose="02040602050305030304" pitchFamily="18" charset="0"/>
              </a:rPr>
              <a:t>where </a:t>
            </a:r>
            <a:r>
              <a:rPr lang="en-US" sz="2400" dirty="0" err="1">
                <a:solidFill>
                  <a:schemeClr val="tx1"/>
                </a:solidFill>
                <a:latin typeface="Book Antiqua" panose="02040602050305030304" pitchFamily="18" charset="0"/>
              </a:rPr>
              <a:t>Ts</a:t>
            </a:r>
            <a:r>
              <a:rPr lang="en-US" sz="2400" dirty="0">
                <a:solidFill>
                  <a:schemeClr val="tx1"/>
                </a:solidFill>
                <a:latin typeface="Book Antiqua" panose="02040602050305030304" pitchFamily="18" charset="0"/>
              </a:rPr>
              <a:t> </a:t>
            </a:r>
            <a:r>
              <a:rPr lang="en-US" sz="2400" dirty="0" smtClean="0">
                <a:solidFill>
                  <a:schemeClr val="tx1"/>
                </a:solidFill>
                <a:latin typeface="Book Antiqua" panose="02040602050305030304" pitchFamily="18" charset="0"/>
              </a:rPr>
              <a:t>is the </a:t>
            </a:r>
            <a:r>
              <a:rPr lang="en-US" sz="2400" dirty="0">
                <a:solidFill>
                  <a:schemeClr val="tx1"/>
                </a:solidFill>
                <a:latin typeface="Book Antiqua" panose="02040602050305030304" pitchFamily="18" charset="0"/>
              </a:rPr>
              <a:t>sample interval or period</a:t>
            </a:r>
            <a:r>
              <a:rPr lang="en-US" sz="24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400" dirty="0">
                <a:solidFill>
                  <a:schemeClr val="tx1"/>
                </a:solidFill>
                <a:latin typeface="Book Antiqua" panose="02040602050305030304" pitchFamily="18" charset="0"/>
              </a:rPr>
              <a:t>The sampling process is sometimes referred to as pulse amplitude </a:t>
            </a:r>
            <a:r>
              <a:rPr lang="en-US" sz="2400" dirty="0" smtClean="0">
                <a:solidFill>
                  <a:schemeClr val="tx1"/>
                </a:solidFill>
                <a:latin typeface="Book Antiqua" panose="02040602050305030304" pitchFamily="18" charset="0"/>
              </a:rPr>
              <a:t>modulation (PAM).</a:t>
            </a:r>
          </a:p>
          <a:p>
            <a:pPr marL="457200" indent="-457200" algn="l">
              <a:buFont typeface="Arial" panose="020B0604020202020204" pitchFamily="34" charset="0"/>
              <a:buChar char="•"/>
            </a:pPr>
            <a:r>
              <a:rPr lang="en-US" sz="2400" dirty="0" smtClean="0">
                <a:solidFill>
                  <a:schemeClr val="tx1"/>
                </a:solidFill>
                <a:latin typeface="Book Antiqua" panose="02040602050305030304" pitchFamily="18" charset="0"/>
              </a:rPr>
              <a:t>After </a:t>
            </a:r>
            <a:r>
              <a:rPr lang="en-US" sz="2400" dirty="0">
                <a:solidFill>
                  <a:schemeClr val="tx1"/>
                </a:solidFill>
                <a:latin typeface="Book Antiqua" panose="02040602050305030304" pitchFamily="18" charset="0"/>
              </a:rPr>
              <a:t>the </a:t>
            </a:r>
            <a:r>
              <a:rPr lang="en-US" sz="2400" dirty="0" smtClean="0">
                <a:solidFill>
                  <a:schemeClr val="tx1"/>
                </a:solidFill>
                <a:latin typeface="Book Antiqua" panose="02040602050305030304" pitchFamily="18" charset="0"/>
              </a:rPr>
              <a:t>sampling the result </a:t>
            </a:r>
            <a:r>
              <a:rPr lang="en-US" sz="2400" dirty="0">
                <a:solidFill>
                  <a:schemeClr val="tx1"/>
                </a:solidFill>
                <a:latin typeface="Book Antiqua" panose="02040602050305030304" pitchFamily="18" charset="0"/>
              </a:rPr>
              <a:t>is still an analog signal </a:t>
            </a:r>
            <a:r>
              <a:rPr lang="en-US" sz="2400" dirty="0" smtClean="0">
                <a:solidFill>
                  <a:schemeClr val="tx1"/>
                </a:solidFill>
                <a:latin typeface="Book Antiqua" panose="02040602050305030304" pitchFamily="18" charset="0"/>
              </a:rPr>
              <a:t>with </a:t>
            </a:r>
            <a:r>
              <a:rPr lang="en-US" sz="2400" dirty="0" err="1" smtClean="0">
                <a:solidFill>
                  <a:schemeClr val="tx1"/>
                </a:solidFill>
                <a:latin typeface="Book Antiqua" panose="02040602050305030304" pitchFamily="18" charset="0"/>
              </a:rPr>
              <a:t>nonintegral</a:t>
            </a:r>
            <a:r>
              <a:rPr lang="en-US" sz="2400" dirty="0" smtClean="0">
                <a:solidFill>
                  <a:schemeClr val="tx1"/>
                </a:solidFill>
                <a:latin typeface="Book Antiqua" panose="02040602050305030304" pitchFamily="18" charset="0"/>
              </a:rPr>
              <a:t> </a:t>
            </a:r>
            <a:r>
              <a:rPr lang="en-US" sz="2400" dirty="0">
                <a:solidFill>
                  <a:schemeClr val="tx1"/>
                </a:solidFill>
                <a:latin typeface="Book Antiqua" panose="02040602050305030304" pitchFamily="18" charset="0"/>
              </a:rPr>
              <a:t>values</a:t>
            </a:r>
            <a:r>
              <a:rPr lang="en-US" sz="24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400" dirty="0" smtClean="0">
                <a:solidFill>
                  <a:schemeClr val="tx1"/>
                </a:solidFill>
                <a:latin typeface="Book Antiqua" panose="02040602050305030304" pitchFamily="18" charset="0"/>
              </a:rPr>
              <a:t>3 types </a:t>
            </a:r>
            <a:r>
              <a:rPr lang="en-US" sz="2400" dirty="0">
                <a:solidFill>
                  <a:schemeClr val="tx1"/>
                </a:solidFill>
                <a:latin typeface="Book Antiqua" panose="02040602050305030304" pitchFamily="18" charset="0"/>
              </a:rPr>
              <a:t>of sampling- </a:t>
            </a:r>
            <a:r>
              <a:rPr lang="en-US" sz="2400" dirty="0" smtClean="0">
                <a:solidFill>
                  <a:srgbClr val="FF0000"/>
                </a:solidFill>
                <a:latin typeface="Book Antiqua" panose="02040602050305030304" pitchFamily="18" charset="0"/>
              </a:rPr>
              <a:t>Ideal</a:t>
            </a:r>
            <a:r>
              <a:rPr lang="en-US" sz="2400" dirty="0">
                <a:solidFill>
                  <a:srgbClr val="FF0000"/>
                </a:solidFill>
                <a:latin typeface="Book Antiqua" panose="02040602050305030304" pitchFamily="18" charset="0"/>
              </a:rPr>
              <a:t>, </a:t>
            </a:r>
            <a:r>
              <a:rPr lang="en-US" sz="2400" dirty="0" smtClean="0">
                <a:solidFill>
                  <a:srgbClr val="FF0000"/>
                </a:solidFill>
                <a:latin typeface="Book Antiqua" panose="02040602050305030304" pitchFamily="18" charset="0"/>
              </a:rPr>
              <a:t>Natural</a:t>
            </a:r>
            <a:r>
              <a:rPr lang="en-US" sz="2400" dirty="0">
                <a:solidFill>
                  <a:srgbClr val="FF0000"/>
                </a:solidFill>
                <a:latin typeface="Book Antiqua" panose="02040602050305030304" pitchFamily="18" charset="0"/>
              </a:rPr>
              <a:t>, and </a:t>
            </a:r>
            <a:r>
              <a:rPr lang="en-US" sz="2400" dirty="0" smtClean="0">
                <a:solidFill>
                  <a:srgbClr val="FF0000"/>
                </a:solidFill>
                <a:latin typeface="Book Antiqua" panose="02040602050305030304" pitchFamily="18" charset="0"/>
              </a:rPr>
              <a:t>Flat-top</a:t>
            </a:r>
            <a:endParaRPr lang="en-US" sz="2400" dirty="0">
              <a:solidFill>
                <a:srgbClr val="FF0000"/>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272" y="3505200"/>
            <a:ext cx="82296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2160361"/>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Sampling methods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 ideal sampling, pulses from the analog signal are sampled</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This is an ideal </a:t>
            </a:r>
            <a:r>
              <a:rPr lang="en-US" sz="2800" dirty="0" smtClean="0">
                <a:solidFill>
                  <a:schemeClr val="tx1"/>
                </a:solidFill>
                <a:latin typeface="Book Antiqua" panose="02040602050305030304" pitchFamily="18" charset="0"/>
              </a:rPr>
              <a:t>sampling method </a:t>
            </a:r>
            <a:r>
              <a:rPr lang="en-US" sz="2800" dirty="0">
                <a:solidFill>
                  <a:schemeClr val="tx1"/>
                </a:solidFill>
                <a:latin typeface="Book Antiqua" panose="02040602050305030304" pitchFamily="18" charset="0"/>
              </a:rPr>
              <a:t>and cannot be easily implemented</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 natural sampling, a </a:t>
            </a:r>
            <a:r>
              <a:rPr lang="en-US" sz="2800" dirty="0" smtClean="0">
                <a:solidFill>
                  <a:schemeClr val="tx1"/>
                </a:solidFill>
                <a:latin typeface="Book Antiqua" panose="02040602050305030304" pitchFamily="18" charset="0"/>
              </a:rPr>
              <a:t>high-speed switch </a:t>
            </a:r>
            <a:r>
              <a:rPr lang="en-US" sz="2800" dirty="0">
                <a:solidFill>
                  <a:schemeClr val="tx1"/>
                </a:solidFill>
                <a:latin typeface="Book Antiqua" panose="02040602050305030304" pitchFamily="18" charset="0"/>
              </a:rPr>
              <a:t>is turned on for only the small period of time when the sampling occurs. </a:t>
            </a: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result is a sequence of samples that retains the shape of the analog signal</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a:t>
            </a:r>
            <a:r>
              <a:rPr lang="en-US" sz="2800" dirty="0" smtClean="0">
                <a:solidFill>
                  <a:schemeClr val="tx1"/>
                </a:solidFill>
                <a:latin typeface="Book Antiqua" panose="02040602050305030304" pitchFamily="18" charset="0"/>
              </a:rPr>
              <a:t>most common </a:t>
            </a:r>
            <a:r>
              <a:rPr lang="en-US" sz="2800" dirty="0">
                <a:solidFill>
                  <a:schemeClr val="tx1"/>
                </a:solidFill>
                <a:latin typeface="Book Antiqua" panose="02040602050305030304" pitchFamily="18" charset="0"/>
              </a:rPr>
              <a:t>sampling method, called sample and hold, however, creates flat-top </a:t>
            </a:r>
            <a:r>
              <a:rPr lang="en-US" sz="2800" dirty="0" smtClean="0">
                <a:solidFill>
                  <a:schemeClr val="tx1"/>
                </a:solidFill>
                <a:latin typeface="Book Antiqua" panose="02040602050305030304" pitchFamily="18" charset="0"/>
              </a:rPr>
              <a:t>samples by </a:t>
            </a:r>
            <a:r>
              <a:rPr lang="en-US" sz="2800" dirty="0">
                <a:solidFill>
                  <a:schemeClr val="tx1"/>
                </a:solidFill>
                <a:latin typeface="Book Antiqua" panose="02040602050305030304" pitchFamily="18" charset="0"/>
              </a:rPr>
              <a:t>using a circuit.</a:t>
            </a:r>
            <a:endParaRPr lang="en-US" sz="2800"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30396739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Quantization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result of sampling is a series of pulses with amplitude values between the </a:t>
            </a:r>
            <a:r>
              <a:rPr lang="en-US" sz="2800" dirty="0" smtClean="0">
                <a:solidFill>
                  <a:schemeClr val="tx1"/>
                </a:solidFill>
                <a:latin typeface="Book Antiqua" panose="02040602050305030304" pitchFamily="18" charset="0"/>
              </a:rPr>
              <a:t>maximum and </a:t>
            </a:r>
            <a:r>
              <a:rPr lang="en-US" sz="2800" dirty="0">
                <a:solidFill>
                  <a:schemeClr val="tx1"/>
                </a:solidFill>
                <a:latin typeface="Book Antiqua" panose="02040602050305030304" pitchFamily="18" charset="0"/>
              </a:rPr>
              <a:t>minimum amplitudes of the signal</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set of amplitudes can be infinite </a:t>
            </a:r>
            <a:r>
              <a:rPr lang="en-US" sz="2800" dirty="0" smtClean="0">
                <a:solidFill>
                  <a:schemeClr val="tx1"/>
                </a:solidFill>
                <a:latin typeface="Book Antiqua" panose="02040602050305030304" pitchFamily="18" charset="0"/>
              </a:rPr>
              <a:t>with </a:t>
            </a:r>
            <a:r>
              <a:rPr lang="en-US" sz="2800" dirty="0" err="1" smtClean="0">
                <a:solidFill>
                  <a:schemeClr val="tx1"/>
                </a:solidFill>
                <a:latin typeface="Book Antiqua" panose="02040602050305030304" pitchFamily="18" charset="0"/>
              </a:rPr>
              <a:t>nonintegral</a:t>
            </a:r>
            <a:r>
              <a:rPr lang="en-US" sz="2800" dirty="0" smtClean="0">
                <a:solidFill>
                  <a:schemeClr val="tx1"/>
                </a:solidFill>
                <a:latin typeface="Book Antiqua" panose="02040602050305030304" pitchFamily="18" charset="0"/>
              </a:rPr>
              <a:t> </a:t>
            </a:r>
            <a:r>
              <a:rPr lang="en-US" sz="2800" dirty="0">
                <a:solidFill>
                  <a:schemeClr val="tx1"/>
                </a:solidFill>
                <a:latin typeface="Book Antiqua" panose="02040602050305030304" pitchFamily="18" charset="0"/>
              </a:rPr>
              <a:t>values between the two limits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These values cannot be used in the </a:t>
            </a:r>
            <a:r>
              <a:rPr lang="en-US" sz="2800" dirty="0" smtClean="0">
                <a:solidFill>
                  <a:schemeClr val="tx1"/>
                </a:solidFill>
                <a:latin typeface="Book Antiqua" panose="02040602050305030304" pitchFamily="18" charset="0"/>
              </a:rPr>
              <a:t>encoding process.</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We need to map the infinite amplitude values onto a finite set of known </a:t>
            </a:r>
            <a:r>
              <a:rPr lang="en-US" sz="2800" dirty="0" smtClean="0">
                <a:solidFill>
                  <a:schemeClr val="tx1"/>
                </a:solidFill>
                <a:latin typeface="Book Antiqua" panose="02040602050305030304" pitchFamily="18" charset="0"/>
              </a:rPr>
              <a:t>values.</a:t>
            </a:r>
          </a:p>
          <a:p>
            <a:pPr marL="457200" indent="-457200" algn="l">
              <a:buFont typeface="Arial" panose="020B0604020202020204" pitchFamily="34" charset="0"/>
              <a:buChar char="•"/>
            </a:pPr>
            <a:r>
              <a:rPr lang="en-US" altLang="en-US" sz="2800" dirty="0" smtClean="0">
                <a:solidFill>
                  <a:schemeClr val="tx1"/>
                </a:solidFill>
                <a:latin typeface="Book Antiqua" panose="02040602050305030304" pitchFamily="18" charset="0"/>
              </a:rPr>
              <a:t>This </a:t>
            </a:r>
            <a:r>
              <a:rPr lang="en-US" altLang="en-US" sz="2800" dirty="0">
                <a:solidFill>
                  <a:schemeClr val="tx1"/>
                </a:solidFill>
                <a:latin typeface="Book Antiqua" panose="02040602050305030304" pitchFamily="18" charset="0"/>
              </a:rPr>
              <a:t>is achieved by dividing the distance between min and max into L zones, each of height </a:t>
            </a:r>
            <a:r>
              <a:rPr lang="en-US" altLang="en-US" sz="2800" dirty="0">
                <a:solidFill>
                  <a:schemeClr val="tx1"/>
                </a:solidFill>
                <a:latin typeface="Book Antiqua" panose="02040602050305030304" pitchFamily="18" charset="0"/>
                <a:sym typeface="Symbol" pitchFamily="1" charset="2"/>
              </a:rPr>
              <a:t></a:t>
            </a:r>
          </a:p>
          <a:p>
            <a:pPr>
              <a:lnSpc>
                <a:spcPct val="90000"/>
              </a:lnSpc>
            </a:pPr>
            <a:r>
              <a:rPr lang="en-US" altLang="en-US" sz="2800" dirty="0">
                <a:solidFill>
                  <a:srgbClr val="FF0000"/>
                </a:solidFill>
                <a:latin typeface="Book Antiqua" panose="02040602050305030304" pitchFamily="18" charset="0"/>
                <a:sym typeface="Symbol" pitchFamily="1" charset="2"/>
              </a:rPr>
              <a:t></a:t>
            </a:r>
            <a:r>
              <a:rPr lang="en-US" altLang="en-US" sz="2800" dirty="0">
                <a:solidFill>
                  <a:srgbClr val="FF0000"/>
                </a:solidFill>
                <a:latin typeface="Book Antiqua" panose="02040602050305030304" pitchFamily="18" charset="0"/>
              </a:rPr>
              <a:t> = (max - min)/L</a:t>
            </a:r>
          </a:p>
          <a:p>
            <a:pPr marL="457200" indent="-457200" algn="l">
              <a:buFont typeface="Arial" panose="020B0604020202020204" pitchFamily="34" charset="0"/>
              <a:buChar char="•"/>
            </a:pPr>
            <a:endParaRPr lang="en-US" sz="28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238560713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Steps in quantization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We assume that the original analog signal has instantaneous amplitudes </a:t>
            </a:r>
            <a:r>
              <a:rPr lang="en-US" sz="2800" dirty="0" smtClean="0">
                <a:solidFill>
                  <a:schemeClr val="tx1"/>
                </a:solidFill>
                <a:latin typeface="Book Antiqua" panose="02040602050305030304" pitchFamily="18" charset="0"/>
              </a:rPr>
              <a:t>between </a:t>
            </a:r>
            <a:r>
              <a:rPr lang="en-US" sz="2800" dirty="0" err="1" smtClean="0">
                <a:solidFill>
                  <a:schemeClr val="tx1"/>
                </a:solidFill>
                <a:latin typeface="Book Antiqua" panose="02040602050305030304" pitchFamily="18" charset="0"/>
              </a:rPr>
              <a:t>Vmin</a:t>
            </a:r>
            <a:r>
              <a:rPr lang="en-US" sz="2800" dirty="0" smtClean="0">
                <a:solidFill>
                  <a:schemeClr val="tx1"/>
                </a:solidFill>
                <a:latin typeface="Book Antiqua" panose="02040602050305030304" pitchFamily="18" charset="0"/>
              </a:rPr>
              <a:t> </a:t>
            </a:r>
            <a:r>
              <a:rPr lang="en-US" sz="2800" dirty="0">
                <a:solidFill>
                  <a:schemeClr val="tx1"/>
                </a:solidFill>
                <a:latin typeface="Book Antiqua" panose="02040602050305030304" pitchFamily="18" charset="0"/>
              </a:rPr>
              <a:t>and </a:t>
            </a:r>
            <a:r>
              <a:rPr lang="en-US" sz="2800" dirty="0" smtClean="0">
                <a:solidFill>
                  <a:schemeClr val="tx1"/>
                </a:solidFill>
                <a:latin typeface="Book Antiqua" panose="02040602050305030304" pitchFamily="18" charset="0"/>
              </a:rPr>
              <a:t>Vmax</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We divide the range into L zones, each of </a:t>
            </a:r>
            <a:r>
              <a:rPr lang="en-US" sz="2800" dirty="0" smtClean="0">
                <a:solidFill>
                  <a:schemeClr val="tx1"/>
                </a:solidFill>
                <a:latin typeface="Book Antiqua" panose="02040602050305030304" pitchFamily="18" charset="0"/>
              </a:rPr>
              <a:t>height (delta).</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We assign quantized values of 0 to L - I to the midpoint of each zone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We approximate the value of the sample amplitude to the quantized values.</a:t>
            </a:r>
            <a:endParaRPr lang="en-US" sz="2800"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297128112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Encoding</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After each sample is quantized and the number </a:t>
            </a:r>
            <a:r>
              <a:rPr lang="en-US" sz="2800" dirty="0" smtClean="0">
                <a:solidFill>
                  <a:schemeClr val="tx1"/>
                </a:solidFill>
                <a:latin typeface="Book Antiqua" panose="02040602050305030304" pitchFamily="18" charset="0"/>
              </a:rPr>
              <a:t>of bits </a:t>
            </a:r>
            <a:r>
              <a:rPr lang="en-US" sz="2800" dirty="0">
                <a:solidFill>
                  <a:schemeClr val="tx1"/>
                </a:solidFill>
                <a:latin typeface="Book Antiqua" panose="02040602050305030304" pitchFamily="18" charset="0"/>
              </a:rPr>
              <a:t>per sample is decided, each sample can be changed to an </a:t>
            </a:r>
            <a:r>
              <a:rPr lang="en-US" sz="2800" dirty="0" err="1">
                <a:solidFill>
                  <a:schemeClr val="tx1"/>
                </a:solidFill>
                <a:latin typeface="Book Antiqua" panose="02040602050305030304" pitchFamily="18" charset="0"/>
              </a:rPr>
              <a:t>llb</a:t>
            </a:r>
            <a:r>
              <a:rPr lang="en-US" sz="2800" dirty="0">
                <a:solidFill>
                  <a:schemeClr val="tx1"/>
                </a:solidFill>
                <a:latin typeface="Book Antiqua" panose="02040602050305030304" pitchFamily="18" charset="0"/>
              </a:rPr>
              <a:t>-bit code word</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229" y="2057400"/>
            <a:ext cx="8839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9934198"/>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Transmission Modes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lnSpcReduction="10000"/>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primary concern when we are considering the transmission of data from one </a:t>
            </a:r>
            <a:r>
              <a:rPr lang="en-US" sz="2800" dirty="0" smtClean="0">
                <a:solidFill>
                  <a:schemeClr val="tx1"/>
                </a:solidFill>
                <a:latin typeface="Book Antiqua" panose="02040602050305030304" pitchFamily="18" charset="0"/>
              </a:rPr>
              <a:t>device to </a:t>
            </a:r>
            <a:r>
              <a:rPr lang="en-US" sz="2800" dirty="0">
                <a:solidFill>
                  <a:schemeClr val="tx1"/>
                </a:solidFill>
                <a:latin typeface="Book Antiqua" panose="02040602050305030304" pitchFamily="18" charset="0"/>
              </a:rPr>
              <a:t>another is the </a:t>
            </a:r>
            <a:r>
              <a:rPr lang="en-US" sz="2800" dirty="0" smtClean="0">
                <a:solidFill>
                  <a:schemeClr val="tx1"/>
                </a:solidFill>
                <a:latin typeface="Book Antiqua" panose="02040602050305030304" pitchFamily="18" charset="0"/>
              </a:rPr>
              <a:t>wiring.</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primary concern when we are considering the wiring </a:t>
            </a:r>
            <a:r>
              <a:rPr lang="en-US" sz="2800" dirty="0" smtClean="0">
                <a:solidFill>
                  <a:schemeClr val="tx1"/>
                </a:solidFill>
                <a:latin typeface="Book Antiqua" panose="02040602050305030304" pitchFamily="18" charset="0"/>
              </a:rPr>
              <a:t>is the </a:t>
            </a:r>
            <a:r>
              <a:rPr lang="en-US" sz="2800" dirty="0">
                <a:solidFill>
                  <a:schemeClr val="tx1"/>
                </a:solidFill>
                <a:latin typeface="Book Antiqua" panose="02040602050305030304" pitchFamily="18" charset="0"/>
              </a:rPr>
              <a:t>data stream. Do we send 1 bit at a time; or do we group bits into larger </a:t>
            </a:r>
            <a:r>
              <a:rPr lang="en-US" sz="2800" dirty="0" smtClean="0">
                <a:solidFill>
                  <a:schemeClr val="tx1"/>
                </a:solidFill>
                <a:latin typeface="Book Antiqua" panose="02040602050305030304" pitchFamily="18" charset="0"/>
              </a:rPr>
              <a:t>groups.</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transmission of binary data across a link can be accomplished in </a:t>
            </a:r>
            <a:r>
              <a:rPr lang="en-US" sz="2800" dirty="0" smtClean="0">
                <a:solidFill>
                  <a:schemeClr val="tx1"/>
                </a:solidFill>
                <a:latin typeface="Book Antiqua" panose="02040602050305030304" pitchFamily="18" charset="0"/>
              </a:rPr>
              <a:t>either parallel </a:t>
            </a:r>
            <a:r>
              <a:rPr lang="en-US" sz="2800" dirty="0">
                <a:solidFill>
                  <a:schemeClr val="tx1"/>
                </a:solidFill>
                <a:latin typeface="Book Antiqua" panose="02040602050305030304" pitchFamily="18" charset="0"/>
              </a:rPr>
              <a:t>or serial mode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 parallel mode, multiple bits are sent with each clock </a:t>
            </a:r>
            <a:r>
              <a:rPr lang="en-US" sz="2800" dirty="0" smtClean="0">
                <a:solidFill>
                  <a:schemeClr val="tx1"/>
                </a:solidFill>
                <a:latin typeface="Book Antiqua" panose="02040602050305030304" pitchFamily="18" charset="0"/>
              </a:rPr>
              <a:t>tick. In </a:t>
            </a:r>
            <a:r>
              <a:rPr lang="en-US" sz="2800" dirty="0">
                <a:solidFill>
                  <a:schemeClr val="tx1"/>
                </a:solidFill>
                <a:latin typeface="Book Antiqua" panose="02040602050305030304" pitchFamily="18" charset="0"/>
              </a:rPr>
              <a:t>serial mode, 1 bit is sent with each clock tick</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While there is only one way to </a:t>
            </a:r>
            <a:r>
              <a:rPr lang="en-US" sz="2800" dirty="0" smtClean="0">
                <a:solidFill>
                  <a:schemeClr val="tx1"/>
                </a:solidFill>
                <a:latin typeface="Book Antiqua" panose="02040602050305030304" pitchFamily="18" charset="0"/>
              </a:rPr>
              <a:t>send parallel </a:t>
            </a:r>
            <a:r>
              <a:rPr lang="en-US" sz="2800" dirty="0">
                <a:solidFill>
                  <a:schemeClr val="tx1"/>
                </a:solidFill>
                <a:latin typeface="Book Antiqua" panose="02040602050305030304" pitchFamily="18" charset="0"/>
              </a:rPr>
              <a:t>data, there are three subclasses of serial transmission: </a:t>
            </a:r>
            <a:r>
              <a:rPr lang="en-US" sz="2800" dirty="0">
                <a:solidFill>
                  <a:srgbClr val="FF0000"/>
                </a:solidFill>
                <a:latin typeface="Book Antiqua" panose="02040602050305030304" pitchFamily="18" charset="0"/>
              </a:rPr>
              <a:t>asynchronous, </a:t>
            </a:r>
            <a:r>
              <a:rPr lang="en-US" sz="2800" dirty="0" smtClean="0">
                <a:solidFill>
                  <a:srgbClr val="FF0000"/>
                </a:solidFill>
                <a:latin typeface="Book Antiqua" panose="02040602050305030304" pitchFamily="18" charset="0"/>
              </a:rPr>
              <a:t>synchronous, and </a:t>
            </a:r>
            <a:r>
              <a:rPr lang="en-US" sz="2800" dirty="0">
                <a:solidFill>
                  <a:srgbClr val="FF0000"/>
                </a:solidFill>
                <a:latin typeface="Book Antiqua" panose="02040602050305030304" pitchFamily="18" charset="0"/>
              </a:rPr>
              <a:t>isochronous</a:t>
            </a:r>
            <a:endParaRPr lang="en-US" sz="2800" dirty="0">
              <a:solidFill>
                <a:srgbClr val="FF0000"/>
              </a:solidFill>
              <a:latin typeface="Book Antiqua" panose="02040602050305030304" pitchFamily="18" charset="0"/>
            </a:endParaRPr>
          </a:p>
        </p:txBody>
      </p:sp>
    </p:spTree>
    <p:extLst>
      <p:ext uri="{BB962C8B-B14F-4D97-AF65-F5344CB8AC3E}">
        <p14:creationId xmlns:p14="http://schemas.microsoft.com/office/powerpoint/2010/main" val="205818649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Data Transmission and Modes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425" y="1905000"/>
            <a:ext cx="8410575"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854151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Parallel Transmission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2400" dirty="0">
                <a:solidFill>
                  <a:schemeClr val="tx1"/>
                </a:solidFill>
                <a:latin typeface="Book Antiqua" panose="02040602050305030304" pitchFamily="18" charset="0"/>
              </a:rPr>
              <a:t>Binary data, consisting of Is and </a:t>
            </a:r>
            <a:r>
              <a:rPr lang="en-US" sz="2400" dirty="0" err="1">
                <a:solidFill>
                  <a:schemeClr val="tx1"/>
                </a:solidFill>
                <a:latin typeface="Book Antiqua" panose="02040602050305030304" pitchFamily="18" charset="0"/>
              </a:rPr>
              <a:t>Os</a:t>
            </a:r>
            <a:r>
              <a:rPr lang="en-US" sz="2400" dirty="0">
                <a:solidFill>
                  <a:schemeClr val="tx1"/>
                </a:solidFill>
                <a:latin typeface="Book Antiqua" panose="02040602050305030304" pitchFamily="18" charset="0"/>
              </a:rPr>
              <a:t>, may </a:t>
            </a:r>
            <a:r>
              <a:rPr lang="en-US" sz="2400" dirty="0" smtClean="0">
                <a:solidFill>
                  <a:schemeClr val="tx1"/>
                </a:solidFill>
                <a:latin typeface="Book Antiqua" panose="02040602050305030304" pitchFamily="18" charset="0"/>
              </a:rPr>
              <a:t>be organized </a:t>
            </a:r>
            <a:r>
              <a:rPr lang="en-US" sz="2400" dirty="0">
                <a:solidFill>
                  <a:schemeClr val="tx1"/>
                </a:solidFill>
                <a:latin typeface="Book Antiqua" panose="02040602050305030304" pitchFamily="18" charset="0"/>
              </a:rPr>
              <a:t>into groups of n bits each</a:t>
            </a:r>
            <a:r>
              <a:rPr lang="en-US" sz="24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400" dirty="0">
                <a:solidFill>
                  <a:schemeClr val="tx1"/>
                </a:solidFill>
                <a:latin typeface="Book Antiqua" panose="02040602050305030304" pitchFamily="18" charset="0"/>
              </a:rPr>
              <a:t>The mechanism for parallel transmission is a conceptually simple one: Use n </a:t>
            </a:r>
            <a:r>
              <a:rPr lang="en-US" sz="2400" dirty="0" smtClean="0">
                <a:solidFill>
                  <a:schemeClr val="tx1"/>
                </a:solidFill>
                <a:latin typeface="Book Antiqua" panose="02040602050305030304" pitchFamily="18" charset="0"/>
              </a:rPr>
              <a:t>wires to </a:t>
            </a:r>
            <a:r>
              <a:rPr lang="en-US" sz="2400" dirty="0">
                <a:solidFill>
                  <a:schemeClr val="tx1"/>
                </a:solidFill>
                <a:latin typeface="Book Antiqua" panose="02040602050305030304" pitchFamily="18" charset="0"/>
              </a:rPr>
              <a:t>send n bits at one time</a:t>
            </a:r>
            <a:r>
              <a:rPr lang="en-US" sz="24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400" dirty="0" smtClean="0">
                <a:solidFill>
                  <a:schemeClr val="tx1"/>
                </a:solidFill>
                <a:latin typeface="Book Antiqua" panose="02040602050305030304" pitchFamily="18" charset="0"/>
              </a:rPr>
              <a:t>Each </a:t>
            </a:r>
            <a:r>
              <a:rPr lang="en-US" sz="2400" dirty="0">
                <a:solidFill>
                  <a:schemeClr val="tx1"/>
                </a:solidFill>
                <a:latin typeface="Book Antiqua" panose="02040602050305030304" pitchFamily="18" charset="0"/>
              </a:rPr>
              <a:t>bit has its own wire, and all n bits of </a:t>
            </a:r>
            <a:r>
              <a:rPr lang="en-US" sz="2400" dirty="0" smtClean="0">
                <a:solidFill>
                  <a:schemeClr val="tx1"/>
                </a:solidFill>
                <a:latin typeface="Book Antiqua" panose="02040602050305030304" pitchFamily="18" charset="0"/>
              </a:rPr>
              <a:t>one group </a:t>
            </a:r>
            <a:r>
              <a:rPr lang="en-US" sz="2400" dirty="0">
                <a:solidFill>
                  <a:schemeClr val="tx1"/>
                </a:solidFill>
                <a:latin typeface="Book Antiqua" panose="02040602050305030304" pitchFamily="18" charset="0"/>
              </a:rPr>
              <a:t>can be transmitted with each clock tick from one device to another</a:t>
            </a:r>
            <a:r>
              <a:rPr lang="en-US" sz="24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400" dirty="0">
                <a:solidFill>
                  <a:schemeClr val="tx1"/>
                </a:solidFill>
                <a:latin typeface="Book Antiqua" panose="02040602050305030304" pitchFamily="18" charset="0"/>
              </a:rPr>
              <a:t>Typically, the eight wires are </a:t>
            </a:r>
            <a:r>
              <a:rPr lang="en-US" sz="2400" dirty="0" smtClean="0">
                <a:solidFill>
                  <a:schemeClr val="tx1"/>
                </a:solidFill>
                <a:latin typeface="Book Antiqua" panose="02040602050305030304" pitchFamily="18" charset="0"/>
              </a:rPr>
              <a:t>bundled in </a:t>
            </a:r>
            <a:r>
              <a:rPr lang="en-US" sz="2400" dirty="0">
                <a:solidFill>
                  <a:schemeClr val="tx1"/>
                </a:solidFill>
                <a:latin typeface="Book Antiqua" panose="02040602050305030304" pitchFamily="18" charset="0"/>
              </a:rPr>
              <a:t>a cable with a connector at each end.</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608" y="4038600"/>
            <a:ext cx="7086600" cy="281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855807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Serial Transmission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 serial transmission one bit follows another, so we need only one </a:t>
            </a:r>
            <a:r>
              <a:rPr lang="en-US" sz="2800" dirty="0" smtClean="0">
                <a:solidFill>
                  <a:schemeClr val="tx1"/>
                </a:solidFill>
                <a:latin typeface="Book Antiqua" panose="02040602050305030304" pitchFamily="18" charset="0"/>
              </a:rPr>
              <a:t>communication channel </a:t>
            </a:r>
            <a:r>
              <a:rPr lang="en-US" sz="2800" dirty="0">
                <a:solidFill>
                  <a:schemeClr val="tx1"/>
                </a:solidFill>
                <a:latin typeface="Book Antiqua" panose="02040602050305030304" pitchFamily="18" charset="0"/>
              </a:rPr>
              <a:t>rather than n to transmit data between two communicating </a:t>
            </a:r>
            <a:r>
              <a:rPr lang="en-US" sz="2800" dirty="0" smtClean="0">
                <a:solidFill>
                  <a:schemeClr val="tx1"/>
                </a:solidFill>
                <a:latin typeface="Book Antiqua" panose="02040602050305030304" pitchFamily="18" charset="0"/>
              </a:rPr>
              <a:t>devices</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advantage of serial over parallel transmission is that with only one </a:t>
            </a:r>
            <a:r>
              <a:rPr lang="en-US" sz="2800" dirty="0" smtClean="0">
                <a:solidFill>
                  <a:schemeClr val="tx1"/>
                </a:solidFill>
                <a:latin typeface="Book Antiqua" panose="02040602050305030304" pitchFamily="18" charset="0"/>
              </a:rPr>
              <a:t>communication channel</a:t>
            </a:r>
            <a:r>
              <a:rPr lang="en-US" sz="2800" dirty="0">
                <a:solidFill>
                  <a:schemeClr val="tx1"/>
                </a:solidFill>
                <a:latin typeface="Book Antiqua" panose="02040602050305030304" pitchFamily="18" charset="0"/>
              </a:rPr>
              <a:t>, serial transmission reduces the cost of </a:t>
            </a:r>
            <a:r>
              <a:rPr lang="en-US" sz="2800" dirty="0" smtClean="0">
                <a:solidFill>
                  <a:schemeClr val="tx1"/>
                </a:solidFill>
                <a:latin typeface="Book Antiqua" panose="02040602050305030304" pitchFamily="18" charset="0"/>
              </a:rPr>
              <a:t>transmission.</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448929"/>
            <a:ext cx="79248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0973523"/>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err="1" smtClean="0">
                <a:latin typeface="Book Antiqua" panose="02040602050305030304" pitchFamily="18" charset="0"/>
              </a:rPr>
              <a:t>AsynchronousTransmission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pic>
        <p:nvPicPr>
          <p:cNvPr id="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265" y="3657600"/>
            <a:ext cx="8046207" cy="304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11"/>
          <p:cNvSpPr>
            <a:spLocks noChangeArrowheads="1"/>
          </p:cNvSpPr>
          <p:nvPr/>
        </p:nvSpPr>
        <p:spPr bwMode="auto">
          <a:xfrm>
            <a:off x="152400" y="762000"/>
            <a:ext cx="8839200" cy="2677656"/>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800" baseline="0" dirty="0">
                <a:latin typeface="Book Antiqua" panose="02040602050305030304" pitchFamily="18" charset="0"/>
              </a:rPr>
              <a:t>In asynchronous transmission, we send 1 start bit (0) at the beginning and 1 or more stop bits (1s) at the end of each byte. There may be a gap between </a:t>
            </a:r>
            <a:r>
              <a:rPr lang="en-US" altLang="en-US" sz="2800" baseline="0" dirty="0" smtClean="0">
                <a:latin typeface="Book Antiqua" panose="02040602050305030304" pitchFamily="18" charset="0"/>
              </a:rPr>
              <a:t>each </a:t>
            </a:r>
            <a:r>
              <a:rPr lang="en-US" altLang="en-US" sz="2800" baseline="0" dirty="0">
                <a:latin typeface="Book Antiqua" panose="02040602050305030304" pitchFamily="18" charset="0"/>
              </a:rPr>
              <a:t>byte</a:t>
            </a:r>
            <a:r>
              <a:rPr lang="en-US" altLang="en-US" sz="2800" baseline="0" dirty="0" smtClean="0">
                <a:latin typeface="Book Antiqua" panose="02040602050305030304" pitchFamily="18" charset="0"/>
              </a:rPr>
              <a:t>.</a:t>
            </a:r>
          </a:p>
          <a:p>
            <a:pPr algn="just"/>
            <a:r>
              <a:rPr lang="en-US" altLang="en-US" sz="2800" dirty="0">
                <a:latin typeface="Book Antiqua" panose="02040602050305030304" pitchFamily="18" charset="0"/>
              </a:rPr>
              <a:t>Asynchronous here means “asynchronous at the byte level</a:t>
            </a:r>
            <a:r>
              <a:rPr lang="en-US" altLang="en-US" sz="2800" dirty="0" smtClean="0">
                <a:latin typeface="Book Antiqua" panose="02040602050305030304" pitchFamily="18" charset="0"/>
              </a:rPr>
              <a:t>,” but </a:t>
            </a:r>
            <a:r>
              <a:rPr lang="en-US" altLang="en-US" sz="2800" dirty="0">
                <a:latin typeface="Book Antiqua" panose="02040602050305030304" pitchFamily="18" charset="0"/>
              </a:rPr>
              <a:t>the bits are still synchronized; </a:t>
            </a:r>
            <a:br>
              <a:rPr lang="en-US" altLang="en-US" sz="2800" dirty="0">
                <a:latin typeface="Book Antiqua" panose="02040602050305030304" pitchFamily="18" charset="0"/>
              </a:rPr>
            </a:br>
            <a:r>
              <a:rPr lang="en-US" altLang="en-US" sz="2800" dirty="0">
                <a:latin typeface="Book Antiqua" panose="02040602050305030304" pitchFamily="18" charset="0"/>
              </a:rPr>
              <a:t>their durations are the same</a:t>
            </a:r>
            <a:r>
              <a:rPr lang="en-US" altLang="en-US" sz="2800" dirty="0" smtClean="0">
                <a:latin typeface="Book Antiqua" panose="02040602050305030304" pitchFamily="18" charset="0"/>
              </a:rPr>
              <a:t>.</a:t>
            </a:r>
            <a:endParaRPr lang="en-US" altLang="en-US" sz="2800" dirty="0">
              <a:latin typeface="Book Antiqua" panose="02040602050305030304" pitchFamily="18" charset="0"/>
            </a:endParaRPr>
          </a:p>
        </p:txBody>
      </p:sp>
    </p:spTree>
    <p:extLst>
      <p:ext uri="{BB962C8B-B14F-4D97-AF65-F5344CB8AC3E}">
        <p14:creationId xmlns:p14="http://schemas.microsoft.com/office/powerpoint/2010/main" val="3635901185"/>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Synchronous transmission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p:txBody>
      </p:sp>
      <p:sp>
        <p:nvSpPr>
          <p:cNvPr id="4" name="Rectangle 11"/>
          <p:cNvSpPr>
            <a:spLocks noChangeArrowheads="1"/>
          </p:cNvSpPr>
          <p:nvPr/>
        </p:nvSpPr>
        <p:spPr bwMode="auto">
          <a:xfrm>
            <a:off x="152400" y="838200"/>
            <a:ext cx="8839199" cy="2677656"/>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800" baseline="0" dirty="0">
                <a:latin typeface="Book Antiqua" panose="02040602050305030304" pitchFamily="18" charset="0"/>
              </a:rPr>
              <a:t>In synchronous transmission, we send bits one after another without start or stop bits or gaps. It is the responsibility of the receiver to group the bits. The bits are usually sent as bytes and many bytes are grouped in a frame. A frame is identified with a start and an end byte.</a:t>
            </a:r>
          </a:p>
        </p:txBody>
      </p:sp>
      <p:pic>
        <p:nvPicPr>
          <p:cNvPr id="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191" y="3852204"/>
            <a:ext cx="8301712"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0468658"/>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096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US" sz="3600" b="1" dirty="0" smtClean="0">
                <a:latin typeface="Book Antiqua" panose="02040602050305030304" pitchFamily="18" charset="0"/>
              </a:rPr>
              <a:t>Isochronous transmission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09600"/>
            <a:ext cx="9144000" cy="62484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 real-time audio and video, in which uneven delays between frames are not </a:t>
            </a:r>
            <a:r>
              <a:rPr lang="en-US" sz="2800" dirty="0" smtClean="0">
                <a:solidFill>
                  <a:schemeClr val="tx1"/>
                </a:solidFill>
                <a:latin typeface="Book Antiqua" panose="02040602050305030304" pitchFamily="18" charset="0"/>
              </a:rPr>
              <a:t>acceptable, synchronous </a:t>
            </a:r>
            <a:r>
              <a:rPr lang="en-US" sz="2800" dirty="0">
                <a:solidFill>
                  <a:schemeClr val="tx1"/>
                </a:solidFill>
                <a:latin typeface="Book Antiqua" panose="02040602050305030304" pitchFamily="18" charset="0"/>
              </a:rPr>
              <a:t>transmission fails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For example, TV images are broadcast at the </a:t>
            </a:r>
            <a:r>
              <a:rPr lang="en-US" sz="2800" dirty="0" smtClean="0">
                <a:solidFill>
                  <a:schemeClr val="tx1"/>
                </a:solidFill>
                <a:latin typeface="Book Antiqua" panose="02040602050305030304" pitchFamily="18" charset="0"/>
              </a:rPr>
              <a:t>rate of </a:t>
            </a:r>
            <a:r>
              <a:rPr lang="en-US" sz="2800" dirty="0">
                <a:solidFill>
                  <a:schemeClr val="tx1"/>
                </a:solidFill>
                <a:latin typeface="Book Antiqua" panose="02040602050305030304" pitchFamily="18" charset="0"/>
              </a:rPr>
              <a:t>30 images per second; they must be viewed at the same rate</a:t>
            </a:r>
            <a:r>
              <a:rPr lang="en-US" sz="2800" dirty="0" smtClean="0">
                <a:solidFill>
                  <a:schemeClr val="tx1"/>
                </a:solidFill>
                <a:latin typeface="Book Antiqua" panose="02040602050305030304" pitchFamily="18" charset="0"/>
              </a:rPr>
              <a:t>.</a:t>
            </a:r>
            <a:endParaRPr lang="en-US" sz="2400" dirty="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If each image is </a:t>
            </a:r>
            <a:r>
              <a:rPr lang="en-US" sz="2800" dirty="0" smtClean="0">
                <a:solidFill>
                  <a:schemeClr val="tx1"/>
                </a:solidFill>
                <a:latin typeface="Book Antiqua" panose="02040602050305030304" pitchFamily="18" charset="0"/>
              </a:rPr>
              <a:t>sent by </a:t>
            </a:r>
            <a:r>
              <a:rPr lang="en-US" sz="2800" dirty="0">
                <a:solidFill>
                  <a:schemeClr val="tx1"/>
                </a:solidFill>
                <a:latin typeface="Book Antiqua" panose="02040602050305030304" pitchFamily="18" charset="0"/>
              </a:rPr>
              <a:t>using one or more frames, there should be no delays between frames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For this </a:t>
            </a:r>
            <a:r>
              <a:rPr lang="en-US" sz="2800" dirty="0" smtClean="0">
                <a:solidFill>
                  <a:schemeClr val="tx1"/>
                </a:solidFill>
                <a:latin typeface="Book Antiqua" panose="02040602050305030304" pitchFamily="18" charset="0"/>
              </a:rPr>
              <a:t>type of </a:t>
            </a:r>
            <a:r>
              <a:rPr lang="en-US" sz="2800" dirty="0">
                <a:solidFill>
                  <a:schemeClr val="tx1"/>
                </a:solidFill>
                <a:latin typeface="Book Antiqua" panose="02040602050305030304" pitchFamily="18" charset="0"/>
              </a:rPr>
              <a:t>application, synchronization between characters is not enough; the entire stream </a:t>
            </a:r>
            <a:r>
              <a:rPr lang="en-US" sz="2800" dirty="0" smtClean="0">
                <a:solidFill>
                  <a:schemeClr val="tx1"/>
                </a:solidFill>
                <a:latin typeface="Book Antiqua" panose="02040602050305030304" pitchFamily="18" charset="0"/>
              </a:rPr>
              <a:t>of bits </a:t>
            </a:r>
            <a:r>
              <a:rPr lang="en-US" sz="2800" dirty="0">
                <a:solidFill>
                  <a:schemeClr val="tx1"/>
                </a:solidFill>
                <a:latin typeface="Book Antiqua" panose="02040602050305030304" pitchFamily="18" charset="0"/>
              </a:rPr>
              <a:t>must be synchronized</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isochronous transmission guarantees that the </a:t>
            </a:r>
            <a:r>
              <a:rPr lang="en-US" sz="2800" dirty="0" smtClean="0">
                <a:solidFill>
                  <a:schemeClr val="tx1"/>
                </a:solidFill>
                <a:latin typeface="Book Antiqua" panose="02040602050305030304" pitchFamily="18" charset="0"/>
              </a:rPr>
              <a:t>data arrive </a:t>
            </a:r>
            <a:r>
              <a:rPr lang="en-US" sz="2800" dirty="0">
                <a:solidFill>
                  <a:schemeClr val="tx1"/>
                </a:solidFill>
                <a:latin typeface="Book Antiqua" panose="02040602050305030304" pitchFamily="18" charset="0"/>
              </a:rPr>
              <a:t>at a fixed rate.</a:t>
            </a:r>
          </a:p>
        </p:txBody>
      </p:sp>
    </p:spTree>
    <p:extLst>
      <p:ext uri="{BB962C8B-B14F-4D97-AF65-F5344CB8AC3E}">
        <p14:creationId xmlns:p14="http://schemas.microsoft.com/office/powerpoint/2010/main" val="149078652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3274</TotalTime>
  <Words>5228</Words>
  <Application>Microsoft Office PowerPoint</Application>
  <PresentationFormat>On-screen Show (4:3)</PresentationFormat>
  <Paragraphs>448</Paragraphs>
  <Slides>104</Slides>
  <Notes>0</Notes>
  <HiddenSlides>0</HiddenSlides>
  <MMClips>0</MMClips>
  <ScaleCrop>false</ScaleCrop>
  <HeadingPairs>
    <vt:vector size="4" baseType="variant">
      <vt:variant>
        <vt:lpstr>Theme</vt:lpstr>
      </vt:variant>
      <vt:variant>
        <vt:i4>1</vt:i4>
      </vt:variant>
      <vt:variant>
        <vt:lpstr>Slide Titles</vt:lpstr>
      </vt:variant>
      <vt:variant>
        <vt:i4>104</vt:i4>
      </vt:variant>
    </vt:vector>
  </HeadingPairs>
  <TitlesOfParts>
    <vt:vector size="105" baseType="lpstr">
      <vt:lpstr>Office Theme</vt:lpstr>
      <vt:lpstr>Unit-02: Physical Layer</vt:lpstr>
      <vt:lpstr>Physical Layer</vt:lpstr>
      <vt:lpstr>Data and Signals</vt:lpstr>
      <vt:lpstr>Analog and digital data</vt:lpstr>
      <vt:lpstr>Cont..</vt:lpstr>
      <vt:lpstr>Analog and digital signals</vt:lpstr>
      <vt:lpstr>Analog VS Digital Signals</vt:lpstr>
      <vt:lpstr>Periodic and Non periodic signals</vt:lpstr>
      <vt:lpstr>Periodic analog signals</vt:lpstr>
      <vt:lpstr>Two signals with the same phase and frequency, but different amplitudes</vt:lpstr>
      <vt:lpstr>Two signals with the same amplitude and phase, but different frequencies</vt:lpstr>
      <vt:lpstr>Units of period and frequency</vt:lpstr>
      <vt:lpstr>Example-01</vt:lpstr>
      <vt:lpstr>Example-02</vt:lpstr>
      <vt:lpstr>Digital Signals</vt:lpstr>
      <vt:lpstr>Two digital signals: one with two signal levels and the other with four signal levels</vt:lpstr>
      <vt:lpstr>Example</vt:lpstr>
      <vt:lpstr>Example</vt:lpstr>
      <vt:lpstr>Bit Rate</vt:lpstr>
      <vt:lpstr>Example</vt:lpstr>
      <vt:lpstr>PowerPoint Presentation</vt:lpstr>
      <vt:lpstr>Example</vt:lpstr>
      <vt:lpstr>Bit Length</vt:lpstr>
      <vt:lpstr>Transmission of Digital Signals</vt:lpstr>
      <vt:lpstr>Baseband Transmission</vt:lpstr>
      <vt:lpstr>Baseband Transmission- Cont..</vt:lpstr>
      <vt:lpstr>Case 1: Low-Pass Channel with Wide Bandwidth</vt:lpstr>
      <vt:lpstr>Baseband transmission using a dedicated medium</vt:lpstr>
      <vt:lpstr>Baseband transmission using a dedicated medium</vt:lpstr>
      <vt:lpstr>Case-2: Low-Pass Channel with Limited Bandwidth</vt:lpstr>
      <vt:lpstr>Cont..</vt:lpstr>
      <vt:lpstr>Rough approximation of a digital signal using the first harmonic for worst case</vt:lpstr>
      <vt:lpstr>Example-01</vt:lpstr>
      <vt:lpstr>Example-02</vt:lpstr>
      <vt:lpstr>Broadband Transmission (Using Modulation)</vt:lpstr>
      <vt:lpstr>Broadband Transmission</vt:lpstr>
      <vt:lpstr>Transmission Impairment</vt:lpstr>
      <vt:lpstr>Attenuation</vt:lpstr>
      <vt:lpstr>Attenuation</vt:lpstr>
      <vt:lpstr>Attenuation- Measurement </vt:lpstr>
      <vt:lpstr>Example-01</vt:lpstr>
      <vt:lpstr>Example-02</vt:lpstr>
      <vt:lpstr>Example-03</vt:lpstr>
      <vt:lpstr>Example-04</vt:lpstr>
      <vt:lpstr>Example-05</vt:lpstr>
      <vt:lpstr>Distortion</vt:lpstr>
      <vt:lpstr>Distortion</vt:lpstr>
      <vt:lpstr>Noise</vt:lpstr>
      <vt:lpstr>Noise</vt:lpstr>
      <vt:lpstr>Signal to Noise Ratio (SNR)</vt:lpstr>
      <vt:lpstr>2 cases- High SNR and Low SNR</vt:lpstr>
      <vt:lpstr>Noiseless scenario </vt:lpstr>
      <vt:lpstr>Example-01</vt:lpstr>
      <vt:lpstr>Data Rate Limits</vt:lpstr>
      <vt:lpstr>Noiseless Channel: Nyquist Bit Rate</vt:lpstr>
      <vt:lpstr>Example-01</vt:lpstr>
      <vt:lpstr>Example-02</vt:lpstr>
      <vt:lpstr>Noisy Channel: Shannon Capacity</vt:lpstr>
      <vt:lpstr>Example-01</vt:lpstr>
      <vt:lpstr>Example-02</vt:lpstr>
      <vt:lpstr>Example-03</vt:lpstr>
      <vt:lpstr>Performance</vt:lpstr>
      <vt:lpstr>Relationship</vt:lpstr>
      <vt:lpstr>Throughput</vt:lpstr>
      <vt:lpstr>PowerPoint Presentation</vt:lpstr>
      <vt:lpstr>Latency (Delay)</vt:lpstr>
      <vt:lpstr>Example-1</vt:lpstr>
      <vt:lpstr>Transmission Time</vt:lpstr>
      <vt:lpstr>Example-02</vt:lpstr>
      <vt:lpstr>Example-03</vt:lpstr>
      <vt:lpstr>Queuing Time</vt:lpstr>
      <vt:lpstr>Bandwidth-Delay Product</vt:lpstr>
      <vt:lpstr>Case-2: Filling the link with bits case2 </vt:lpstr>
      <vt:lpstr>Digital Transmission </vt:lpstr>
      <vt:lpstr>Digital to digital conversion</vt:lpstr>
      <vt:lpstr>Line Coding</vt:lpstr>
      <vt:lpstr>Line coding and decoding</vt:lpstr>
      <vt:lpstr>Signal elements versus data elements</vt:lpstr>
      <vt:lpstr>Signal element versus data element</vt:lpstr>
      <vt:lpstr>Data rate versus signal rate</vt:lpstr>
      <vt:lpstr>Relationship</vt:lpstr>
      <vt:lpstr>Data rate vs signal rate</vt:lpstr>
      <vt:lpstr>Line coding schemes </vt:lpstr>
      <vt:lpstr>Unipolar scheme</vt:lpstr>
      <vt:lpstr>Polar- NRZ scheme</vt:lpstr>
      <vt:lpstr>NRZ-L and NRZ-I scheme</vt:lpstr>
      <vt:lpstr>Polar- RZ scheme</vt:lpstr>
      <vt:lpstr>Polar Biphase- Manchester and Differential Manchester</vt:lpstr>
      <vt:lpstr>Biphase: Manchester and differential Manchester schemes</vt:lpstr>
      <vt:lpstr>Bipolar - AMI and Pseudoternary</vt:lpstr>
      <vt:lpstr>ANALOG-TO-DIGITAL CONVERSION</vt:lpstr>
      <vt:lpstr>Pulse Code Modulation-PCM</vt:lpstr>
      <vt:lpstr>Sampling</vt:lpstr>
      <vt:lpstr>Sampling methods</vt:lpstr>
      <vt:lpstr>Quantization</vt:lpstr>
      <vt:lpstr>Steps in quantization</vt:lpstr>
      <vt:lpstr>Encoding</vt:lpstr>
      <vt:lpstr>Transmission Modes</vt:lpstr>
      <vt:lpstr>Data Transmission and Modes</vt:lpstr>
      <vt:lpstr>Parallel Transmission</vt:lpstr>
      <vt:lpstr>Serial Transmission</vt:lpstr>
      <vt:lpstr>AsynchronousTransmission</vt:lpstr>
      <vt:lpstr>Synchronous transmission</vt:lpstr>
      <vt:lpstr>Isochronous transmission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Unit-02: Physical Layer</dc:title>
  <dc:creator>Prajna</dc:creator>
  <cp:lastModifiedBy>Prajna</cp:lastModifiedBy>
  <cp:revision>71</cp:revision>
  <dcterms:created xsi:type="dcterms:W3CDTF">2006-08-16T00:00:00Z</dcterms:created>
  <dcterms:modified xsi:type="dcterms:W3CDTF">2021-05-15T08:04:32Z</dcterms:modified>
</cp:coreProperties>
</file>